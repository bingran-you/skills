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387" r:id="rId7"/>
    <p:sldId id="389" r:id="rId8"/>
    <p:sldId id="388" r:id="rId9"/>
    <p:sldId id="390" r:id="rId10"/>
    <p:sldId id="263" r:id="rId11"/>
    <p:sldId id="265" r:id="rId12"/>
    <p:sldId id="267" r:id="rId13"/>
    <p:sldId id="391" r:id="rId14"/>
    <p:sldId id="392" r:id="rId15"/>
    <p:sldId id="280" r:id="rId16"/>
    <p:sldId id="393" r:id="rId17"/>
    <p:sldId id="394" r:id="rId18"/>
    <p:sldId id="395" r:id="rId19"/>
    <p:sldId id="396" r:id="rId20"/>
    <p:sldId id="39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29" d="100"/>
          <a:sy n="129" d="100"/>
        </p:scale>
        <p:origin x="135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47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B2A2-A687-B15D-D2A9-34BC0197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90795-2B65-7C79-2600-90ABC21C5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DA6A0-6DFF-EDCC-C71D-D8ED1E2D4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11075-D18A-9B40-1FCB-B635D6C69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88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1238-BF02-6152-7FD7-B3C319A5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AFE0D-DD85-F915-C3D8-47F86FA34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7AF64-1A84-4E87-2978-4657D0253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A3486-BCA6-0C20-32A8-0F95FA76F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04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87DA-9DA4-9EF0-59F6-2983B459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A38DA-8D22-7FF3-AD6B-7EA97EF79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2F93B-C5B3-03C1-B624-4E6D24F15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18C47-9009-304C-D588-00930C185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77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4E2C-E965-ACB4-857B-A2745507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CB2BA-67ED-C8BB-9A56-2C9970F79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4B9CE-A5F4-82CE-7009-B3A4CC99C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61CBD-47AF-F1FB-CC5B-E9CD1271A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45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F22C-D33C-16D4-482B-100E02BD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6564A-D926-BEFF-0158-5A604DB66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BA523-B254-1499-C32B-61C3F4ABF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13D70-CFA0-70AF-CE1F-3A59E73D6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17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58C2-F4E7-BAA5-6EA5-14A8A8CA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4ACA9-DB85-C6F8-81D4-D1E970F89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5DEB7-B561-8C54-5279-39267CF79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EAD7-EDDA-DF01-3FD6-A43B47AFC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35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693A-4ACB-0CCC-64B2-5F68175D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970C-8877-C27C-1125-A0C682AB3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CD102-AA2C-4E80-92C4-B783B17BF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89997-6C70-8709-B0F6-AE819AF5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60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0A09-4410-DF5A-133C-A5BCBEAE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6FDD5-21EE-B783-F7C7-4BC200E9A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43BD9-E450-948D-EA4E-C5202499D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1C22-A13F-FC9A-89A5-4A8B2365E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1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50BA-1D74-82D9-11BC-9307DDD1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BD79F-A824-3E6C-B475-F65376B0A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77110-5377-A3D0-A312-D9478E03E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1468-A64D-1746-73E5-3E11AB2EBB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55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72E47-A15F-17FD-8E8D-CF15251D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4D5DE-1D73-364A-A4FD-85FAAC133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EC343-7CD1-2103-3228-33DDDE214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0E3D5-15C1-207A-0AE3-78506BAA8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65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C545-39FB-59B4-97B1-975EB7BC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C505C-E84E-2A2D-5503-103173C41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4AF25-F03A-B607-5B47-9F435768E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C3C4D-6409-90FD-821F-07E337EB5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1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ingran_you/Documents/GitHub_MacBook/skills/workspace/mhc_ppt/assets_full_integrated/deepseek_ba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10" y="31849"/>
            <a:ext cx="6861779" cy="2539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39901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2844701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mHC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5971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Manifold-Constrained Hyper-Connections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200376"/>
            <a:ext cx="8394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1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梁文锋署名，DeepSeek元旦新论文开启架构新篇章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62025"/>
            <a:ext cx="839419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新年第一天， DeepSeek 发布了一篇新论文，提出了一种名为 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（流形约束超连接）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的新架构。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1027"/>
            <a:ext cx="839419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该研究旨在解决传统超连接在大规模模型训练中的不稳定性问题，同时保持其显著的性能增益 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0029"/>
            <a:ext cx="8394192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简单来说，DeepSeek 提出的 mHC 通过将传统 Transformer 的单一残差流扩展为多流并行架构，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并利用 Sinkhorn-Knopp 算法将连接矩阵约束在双拟随机矩阵流形上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，成功解决了超连接（HC）在大规模训练中因破坏恒等映射属性而导致的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数值不稳定和信号爆炸问题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梁文锋署名，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元旦新论文开启架构新篇章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9325" y="962025"/>
            <a:ext cx="8045351" cy="376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Users/bingran_you/Documents/GitHub_MacBook/skills/workspace/mhc_ppt/assets_full_integrated/img_45fb48e382f51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86" y="1338616"/>
            <a:ext cx="5461028" cy="2466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梁文锋署名，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元旦新论文开启架构新篇章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62025"/>
            <a:ext cx="839419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论文标题：mHC: Manifold-Constrained Hyper-Connections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1027"/>
            <a:ext cx="839419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论文地址：https://arxiv.org/pdf/2512.24880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0029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这篇论文的第一作者有三位：Zhenda Xie（解振达）、Yixuan Wei（韦毅轩）、Huanqi Cao。值得注意的是， DeepSeek 创始人 &amp; CEO 梁文锋也在作者名单中。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56532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传统的残差连接（即 Transformer 中的 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F (x)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结构）凭借「恒等映射」保证了信号无损传输和训练稳定性。但它的瓶颈在于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信息通道的宽度受限于隐藏层维度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基本研究背景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962025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近期，以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字节跳动Seed团队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提出的 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Hyper-Connections (HC)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为代表的研究，通过扩展残差流宽度和多样化连接模式，拓展了过去十年中广泛应用的残差连接范式。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23915"/>
            <a:ext cx="8394192" cy="2419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三个矩阵控制着信息的流动方式：</a:t>
            </a: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H_res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信息流在残差路径中如何混合（红色的交叉部分）</a:t>
            </a: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H_pre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信息流在进入层之前如何组合</a:t>
            </a: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H_post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层的输出如何分配回各个流中</a:t>
            </a: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超连接表达能力更强。参数更多，但计算开销几乎可以忽略不计。理论上性能更好。</a:t>
            </a:r>
            <a:endParaRPr lang="en-US" sz="13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363F0D91-14FF-DFC3-1325-6BB1B79E2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001" y="1685627"/>
            <a:ext cx="5189997" cy="141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006B1-8A55-83D0-636C-905BB461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D4733F-3CB8-D21F-0480-C0FBB67A3656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77EEFB-5372-93C6-EE7B-10C428452B13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DAF5B1-CD2F-76A4-AC35-5EB732310818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基本研究背景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048FE1-379B-FC44-8D19-4C159F0EE470}"/>
              </a:ext>
            </a:extLst>
          </p:cNvPr>
          <p:cNvSpPr/>
          <p:nvPr/>
        </p:nvSpPr>
        <p:spPr>
          <a:xfrm>
            <a:off x="457200" y="962025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近期，以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字节跳动Seed团队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提出的 </a:t>
            </a: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Hyper-Connections (HC)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为代表的研究，通过扩展残差流宽度和多样化连接模式，拓展了过去十年中广泛应用的残差连接范式。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728D10-19EB-3975-95D9-647273432D7A}"/>
              </a:ext>
            </a:extLst>
          </p:cNvPr>
          <p:cNvSpPr/>
          <p:nvPr/>
        </p:nvSpPr>
        <p:spPr>
          <a:xfrm>
            <a:off x="457200" y="3364631"/>
            <a:ext cx="839419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虽然这些方法带来了显著的性能提升，但但也带来了两个严重问题：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24A8F3-FC0B-785E-B918-6BA0FB15EDF7}"/>
              </a:ext>
            </a:extLst>
          </p:cNvPr>
          <p:cNvSpPr/>
          <p:nvPr/>
        </p:nvSpPr>
        <p:spPr>
          <a:xfrm>
            <a:off x="457200" y="3713633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数值不稳定性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 原始的 HC 中，连接矩阵是自由学习的，没有约束。这导致信号在经过多层传播后，数值会「爆炸」或「消失」，破坏了恒等映射的特性，模型越深越难训练。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157FAF-B1BE-0934-B5DF-013B7218E2D1}"/>
              </a:ext>
            </a:extLst>
          </p:cNvPr>
          <p:cNvSpPr/>
          <p:nvPr/>
        </p:nvSpPr>
        <p:spPr>
          <a:xfrm>
            <a:off x="457200" y="4310136"/>
            <a:ext cx="839419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系统开销大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 通道变宽意味着显存读写 (I/O) 和通信成本成倍增加，也就是所谓的「显存墙」问题。</a:t>
            </a:r>
            <a:endParaRPr lang="en-US" sz="1300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CBE79B69-0C3D-6D88-42A2-EDF303BCC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001" y="1685627"/>
            <a:ext cx="5189997" cy="141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18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1ACF9-C194-D2EE-757C-E8285872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AF0490-A414-A2AD-A82D-CA4586DBF151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F549224-0F03-EBF5-9A25-656F14A9FB35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A3F2D2-048C-A522-D1C5-374C566AD841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基本研究背景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6A2AB5D-1198-6EF6-5971-8A7383964199}"/>
              </a:ext>
            </a:extLst>
          </p:cNvPr>
          <p:cNvSpPr/>
          <p:nvPr/>
        </p:nvSpPr>
        <p:spPr>
          <a:xfrm>
            <a:off x="374903" y="1171725"/>
            <a:ext cx="8394192" cy="221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数值不稳定性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： 原始的 HC 中，连接矩阵是自由学习的，没有约束。这导致信号在经过多层传播后，数值会「爆炸」或「消失」，</a:t>
            </a:r>
            <a:r>
              <a:rPr lang="en-US" sz="1300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破坏了恒等映射的特性，模型越深越难训练。如下是</a:t>
            </a:r>
            <a:r>
              <a:rPr lang="zh-CN" alt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工程师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Taylor Kolasinski </a:t>
            </a:r>
            <a:r>
              <a:rPr lang="en-US" sz="1300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复现的mHC实验结果</a:t>
            </a:r>
            <a:r>
              <a:rPr lang="zh-CN" alt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：</a:t>
            </a:r>
            <a:endParaRPr lang="en-US" altLang="zh-CN" sz="1300" dirty="0">
              <a:solidFill>
                <a:srgbClr val="333333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超连接（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HC）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的信号放大达到了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倍，随后最终崩溃。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Amax（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行和列绝对值的最大值）衡量了一个矩阵能将信号放大多少。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A7273328-E4DE-B216-CDF5-9CE0B1A97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21" y="2280483"/>
            <a:ext cx="5724556" cy="248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34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FF006-FCBA-C2FE-E051-62F41202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AF6885-C4FE-BFAF-3FA8-382D432E3383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416061-0293-1B36-FFEE-D915FFD14F19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954832-7921-94C0-1BAA-FE6623DEA7FB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基本研究背景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E41CA5EC-C358-C97E-946D-D456F0FDE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29" y="2350635"/>
            <a:ext cx="6182139" cy="208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1D5D12D-B9F8-00F2-7669-EEE8B55CFF39}"/>
              </a:ext>
            </a:extLst>
          </p:cNvPr>
          <p:cNvSpPr/>
          <p:nvPr/>
        </p:nvSpPr>
        <p:spPr>
          <a:xfrm>
            <a:off x="374903" y="1171725"/>
            <a:ext cx="8394192" cy="221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数值不稳定性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： 原始的 HC 中，连接矩阵是自由学习的，没有约束。这导致信号在经过多层传播后，数值会「爆炸」或「消失」，</a:t>
            </a:r>
            <a:r>
              <a:rPr lang="en-US" sz="1300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破坏了恒等映射的特性，模型越深越难训练。如下是</a:t>
            </a:r>
            <a:r>
              <a:rPr lang="zh-CN" alt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工程师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Taylor Kolasinski </a:t>
            </a:r>
            <a:r>
              <a:rPr lang="en-US" sz="1300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复现的mHC实验结果</a:t>
            </a:r>
            <a:r>
              <a:rPr lang="zh-CN" alt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：</a:t>
            </a:r>
            <a:endParaRPr lang="en-US" altLang="zh-CN" sz="1300" dirty="0">
              <a:solidFill>
                <a:srgbClr val="333333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超连接（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HC）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的信号放大达到了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倍，随后最终崩溃。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Amax（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行和列绝对值的最大值）衡量了一个矩阵能将信号放大多少。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08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8E740-9DF7-1374-0256-20022ECF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8D67F0-11B0-743E-A0A4-6A06640E94B8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15A0A1-4B6B-6501-C5D6-D8269E5992E0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E8258E-C215-6A6D-41CA-230A6DFDAFD8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基本研究背景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FA223E0-20E8-AC98-A5D1-D313B8CAD22F}"/>
              </a:ext>
            </a:extLst>
          </p:cNvPr>
          <p:cNvSpPr/>
          <p:nvPr/>
        </p:nvSpPr>
        <p:spPr>
          <a:xfrm>
            <a:off x="374903" y="1171725"/>
            <a:ext cx="8394192" cy="221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数值不稳定性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： 原始的 HC 中，连接矩阵是自由学习的，没有约束。这导致信号在经过多层传播后，数值会「爆炸」或「消失」，</a:t>
            </a:r>
            <a:r>
              <a:rPr lang="en-US" sz="1300" dirty="0" err="1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破坏了恒等映射的特性，模型越深越难训练。如下是mHC原文的实验结果</a:t>
            </a:r>
            <a:r>
              <a:rPr lang="zh-CN" alt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：</a:t>
            </a:r>
            <a:endParaRPr lang="en-US" altLang="zh-CN" sz="1300" dirty="0">
              <a:solidFill>
                <a:srgbClr val="333333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Amax（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行和列绝对值的最大值）衡量了一个矩阵能将信号放大多少。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 descr="mHC 在不牺牲训练目标的前提下，比 HC 显著更稳定。">
            <a:extLst>
              <a:ext uri="{FF2B5EF4-FFF2-40B4-BE49-F238E27FC236}">
                <a16:creationId xmlns:a16="http://schemas.microsoft.com/office/drawing/2014/main" id="{4C345177-42A9-0487-2C05-51C6ABA66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527" y="2328343"/>
            <a:ext cx="6770943" cy="212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7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的核心创新：给连接矩阵加“数学护栏”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962025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HC从根本上破坏了残差连接固有的恒等映射属性，导致了严重的训练不稳定性和受限的可扩展性，并额外增加了显著的内存访问开销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8528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为了解决这些挑战，DeepSeek 的研究团队提出了 Manifold-Constrained Hyper-Connections (mHC，流形约束超连接) 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55031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这是一个通用框架，它将 HC 的残差连接空间投影到一个特定的流形上，以恢复恒等映射属性，同时结合严格的基础设施优化以确保效率。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51534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它的核心目的是：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在保留「加宽残差流」带来的性能提升的同时，解决其导致的训练不稳定和显存消耗过大的问题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的核心创新：给连接矩阵加“数学护栏”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C9C513-67CB-8B04-201A-3F68F7993DDE}"/>
              </a:ext>
            </a:extLst>
          </p:cNvPr>
          <p:cNvGrpSpPr/>
          <p:nvPr/>
        </p:nvGrpSpPr>
        <p:grpSpPr>
          <a:xfrm>
            <a:off x="1580322" y="1061415"/>
            <a:ext cx="5645426" cy="3003688"/>
            <a:chOff x="1143000" y="962025"/>
            <a:chExt cx="6838122" cy="3649732"/>
          </a:xfrm>
        </p:grpSpPr>
        <p:sp>
          <p:nvSpPr>
            <p:cNvPr id="5" name="Text 3"/>
            <p:cNvSpPr/>
            <p:nvPr/>
          </p:nvSpPr>
          <p:spPr>
            <a:xfrm>
              <a:off x="1143000" y="962025"/>
              <a:ext cx="6838122" cy="36497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6" name="Image 0" descr="/Users/bingran_you/Documents/GitHub_MacBook/skills/workspace/mhc_ppt/assets_full_integrated/img_add8940d87c5b3f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8374" y="962025"/>
              <a:ext cx="6627251" cy="3555950"/>
            </a:xfrm>
            <a:prstGeom prst="rect">
              <a:avLst/>
            </a:prstGeom>
          </p:spPr>
        </p:pic>
      </p:grpSp>
      <p:sp>
        <p:nvSpPr>
          <p:cNvPr id="8" name="Text 3">
            <a:extLst>
              <a:ext uri="{FF2B5EF4-FFF2-40B4-BE49-F238E27FC236}">
                <a16:creationId xmlns:a16="http://schemas.microsoft.com/office/drawing/2014/main" id="{CA552BAD-1168-A054-4D15-75E24F8188E3}"/>
              </a:ext>
            </a:extLst>
          </p:cNvPr>
          <p:cNvSpPr/>
          <p:nvPr/>
        </p:nvSpPr>
        <p:spPr>
          <a:xfrm>
            <a:off x="457200" y="4167483"/>
            <a:ext cx="839419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1：残差连接范式示意图。本图对比了以下三种结构设计： (a) 标准残差连接（Residual Connection）；(b) Hyper-Connections (HC)；(c)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DeepSeek提出的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Manifold-Constrained Hyper-Connections (mHC)。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的核心创新：给连接矩阵加“数学护栏”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62024"/>
            <a:ext cx="8394192" cy="180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</a:t>
            </a: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的修复方案很干净：将混合矩阵约束为双重随机（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 stochastic）。</a:t>
            </a:r>
          </a:p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一个双重随机矩阵具有以下特性：</a:t>
            </a:r>
          </a:p>
          <a:p>
            <a:pPr marL="285750" indent="-285750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所有条目非负</a:t>
            </a:r>
          </a:p>
          <a:p>
            <a:pPr marL="285750" indent="-285750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行之和为 </a:t>
            </a:r>
            <a:r>
              <a:rPr lang="en-US" altLang="zh-CN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  <a:p>
            <a:pPr marL="285750" indent="-285750">
              <a:lnSpc>
                <a:spcPts val="195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列之和为 </a:t>
            </a:r>
            <a:r>
              <a:rPr lang="en-US" altLang="zh-CN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pic>
        <p:nvPicPr>
          <p:cNvPr id="8194" name="Picture 2" descr="Image">
            <a:extLst>
              <a:ext uri="{FF2B5EF4-FFF2-40B4-BE49-F238E27FC236}">
                <a16:creationId xmlns:a16="http://schemas.microsoft.com/office/drawing/2014/main" id="{CAA92E86-B67E-5A58-2DE1-FEB2E0EEA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230" y="2104893"/>
            <a:ext cx="4937539" cy="254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BB047-30BC-781B-B735-BBE81ADD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C43896-1B4E-8A1A-246A-AC1B4E13184F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9772E7-4322-895A-A552-BC81D00A6AD1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92ED55-A7A3-5223-561D-E61DCD31E8FE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的核心创新：给连接矩阵加“数学护栏”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354646-B308-071B-303D-E627CC820450}"/>
              </a:ext>
            </a:extLst>
          </p:cNvPr>
          <p:cNvSpPr/>
          <p:nvPr/>
        </p:nvSpPr>
        <p:spPr>
          <a:xfrm>
            <a:off x="457200" y="962024"/>
            <a:ext cx="8394192" cy="180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这意味着混合操作只能对流进行加权平均。它可以路由信息，混洗它，融合它。但它不能放大。</a:t>
            </a:r>
            <a:endParaRPr lang="en-US" altLang="zh-CN" sz="1300" dirty="0">
              <a:solidFill>
                <a:srgbClr val="333333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pic>
        <p:nvPicPr>
          <p:cNvPr id="8194" name="Picture 2" descr="Image">
            <a:extLst>
              <a:ext uri="{FF2B5EF4-FFF2-40B4-BE49-F238E27FC236}">
                <a16:creationId xmlns:a16="http://schemas.microsoft.com/office/drawing/2014/main" id="{7CC92C00-C88A-1393-97C3-7528AD86D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230" y="2104893"/>
            <a:ext cx="4937539" cy="254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235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696DC-CD96-3964-AFBA-5620A1DB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218953-3E45-AD25-025A-395CD668827B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DBD8C6-4288-8C6C-EF2C-30703445FB80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B964CB-96DA-0F4B-1813-884C112E470E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</a:t>
            </a:r>
            <a:r>
              <a:rPr lang="zh-CN" alt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的核心创新：给连接矩阵加“数学护栏”</a:t>
            </a: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zh-CN" alt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0E9753-A8E8-EFC9-29E9-4E7E6019EAFE}"/>
              </a:ext>
            </a:extLst>
          </p:cNvPr>
          <p:cNvSpPr/>
          <p:nvPr/>
        </p:nvSpPr>
        <p:spPr>
          <a:xfrm>
            <a:off x="457200" y="962024"/>
            <a:ext cx="8229600" cy="399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dirty="0"/>
              <a:t>如何将</a:t>
            </a:r>
            <a:r>
              <a:rPr lang="en-US" altLang="zh-CN" dirty="0"/>
              <a:t>HC</a:t>
            </a:r>
            <a:r>
              <a:rPr lang="zh-CN" altLang="en-US" dirty="0"/>
              <a:t>中的混合矩阵转化为双重随机 ？使用 </a:t>
            </a:r>
            <a:r>
              <a:rPr lang="en-US" dirty="0"/>
              <a:t>Sinkhorn-Knopp </a:t>
            </a:r>
            <a:r>
              <a:rPr lang="zh-CN" altLang="en-US" dirty="0"/>
              <a:t>算法</a:t>
            </a:r>
            <a:endParaRPr lang="en-US" altLang="zh-CN" dirty="0"/>
          </a:p>
          <a:p>
            <a:pPr>
              <a:lnSpc>
                <a:spcPts val="1950"/>
              </a:lnSpc>
              <a:spcAft>
                <a:spcPts val="800"/>
              </a:spcAft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从任意矩阵（原始学习到的权重）开始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取指数使所有条目变为正数：</a:t>
            </a:r>
            <a:r>
              <a:rPr lang="en-US" dirty="0"/>
              <a:t>P = </a:t>
            </a:r>
            <a:r>
              <a:rPr lang="en-US" dirty="0" err="1"/>
              <a:t>e^H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归一化行，使每一行之和为 </a:t>
            </a:r>
            <a:r>
              <a:rPr lang="en-US" altLang="zh-CN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归一化列，使每一列之和为 </a:t>
            </a:r>
            <a:r>
              <a:rPr lang="en-US" altLang="zh-CN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重复 </a:t>
            </a:r>
            <a:r>
              <a:rPr lang="en-US" altLang="zh-CN" dirty="0"/>
              <a:t>3-4 </a:t>
            </a:r>
            <a:r>
              <a:rPr lang="zh-CN" altLang="en-US" dirty="0"/>
              <a:t>个步骤，直到收敛</a:t>
            </a:r>
          </a:p>
          <a:p>
            <a:br>
              <a:rPr lang="zh-CN" altLang="en-US" dirty="0"/>
            </a:br>
            <a:r>
              <a:rPr lang="zh-CN" altLang="en-US" dirty="0"/>
              <a:t>交替进行行和列的归一化</a:t>
            </a:r>
            <a:endParaRPr lang="en-US" altLang="zh-CN" dirty="0"/>
          </a:p>
          <a:p>
            <a:r>
              <a:rPr lang="zh-CN" altLang="en-US" dirty="0"/>
              <a:t>实验中采用</a:t>
            </a:r>
            <a:r>
              <a:rPr lang="en-US" altLang="zh-CN" dirty="0"/>
              <a:t>20</a:t>
            </a:r>
            <a:r>
              <a:rPr lang="zh-CN" altLang="en-US" dirty="0"/>
              <a:t>次迭代</a:t>
            </a:r>
            <a:endParaRPr lang="en-US" altLang="zh-CN" dirty="0"/>
          </a:p>
        </p:txBody>
      </p:sp>
      <p:pic>
        <p:nvPicPr>
          <p:cNvPr id="10242" name="Picture 2" descr="Image">
            <a:extLst>
              <a:ext uri="{FF2B5EF4-FFF2-40B4-BE49-F238E27FC236}">
                <a16:creationId xmlns:a16="http://schemas.microsoft.com/office/drawing/2014/main" id="{C5E94391-E44D-1073-21EE-5A70F2F9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707" y="1443038"/>
            <a:ext cx="3205093" cy="306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01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mHC的主要实验结果</a:t>
            </a:r>
            <a:endParaRPr lang="en-US" sz="1800" dirty="0"/>
          </a:p>
        </p:txBody>
      </p:sp>
      <p:pic>
        <p:nvPicPr>
          <p:cNvPr id="11268" name="Picture 4" descr="Image">
            <a:extLst>
              <a:ext uri="{FF2B5EF4-FFF2-40B4-BE49-F238E27FC236}">
                <a16:creationId xmlns:a16="http://schemas.microsoft.com/office/drawing/2014/main" id="{5CE3A846-72CA-D6D8-2E11-88CD84C11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69" y="1090406"/>
            <a:ext cx="7991061" cy="244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F890B90-0B35-605D-EBDB-1E3800AD8E35}"/>
              </a:ext>
            </a:extLst>
          </p:cNvPr>
          <p:cNvSpPr/>
          <p:nvPr/>
        </p:nvSpPr>
        <p:spPr>
          <a:xfrm>
            <a:off x="576469" y="3894649"/>
            <a:ext cx="8229600" cy="91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流形约束超连接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的训练稳定性。 该图展示了：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(a)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和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HC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相对于基线模型的训练损失绝对差值；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(b)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三种方法在训练过程中的梯度范数。所有实验均基于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27B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参数规模的模型。实验结果表明，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在损失函数和梯度范数两方面均表现出更优的稳定性。</a:t>
            </a:r>
            <a:endParaRPr lang="en-US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AECFB-7454-C667-8E26-2069B104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6667B1-6F3B-1BD6-7230-891DF082C0B0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B65A0A-4338-107A-4703-EC844E836C7E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C75546-9070-551B-AA0E-539D417AECF5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mHC的主要实验结果</a:t>
            </a:r>
            <a:endParaRPr lang="en-US" sz="1800" dirty="0"/>
          </a:p>
        </p:txBody>
      </p:sp>
      <p:pic>
        <p:nvPicPr>
          <p:cNvPr id="11268" name="Picture 4" descr="Image">
            <a:extLst>
              <a:ext uri="{FF2B5EF4-FFF2-40B4-BE49-F238E27FC236}">
                <a16:creationId xmlns:a16="http://schemas.microsoft.com/office/drawing/2014/main" id="{1B0D7E5D-BAF2-3C81-51D0-47EF56859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69" y="1090406"/>
            <a:ext cx="7991061" cy="244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0301E23-D837-331E-B667-A6DC8A4B7313}"/>
              </a:ext>
            </a:extLst>
          </p:cNvPr>
          <p:cNvSpPr/>
          <p:nvPr/>
        </p:nvSpPr>
        <p:spPr>
          <a:xfrm>
            <a:off x="576469" y="3894649"/>
            <a:ext cx="8229600" cy="91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27B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模型的训练稳定性和收敛性：如图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5 (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所示，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有效缓解了在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中观察到的训练不稳定问题，与基线模型相比，最终损失降低了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0.021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。图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5 (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中的梯度范数分析进一步证实了这种稳定性的提升：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表现出明显优于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的行为，保持了与基线模型相当的稳定轮廓。</a:t>
            </a:r>
            <a:endParaRPr lang="en-US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147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613E9-7D3D-25FC-D2C8-D68CAE51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6AD773-3C3B-B0E0-0BDA-70C01BFD6EB3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C2A567-7586-980A-0EF6-B2CF5E2B1DFC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851EC8-AFEB-45F6-5EB0-AD44C60452A3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mHC的主要实验结果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7C97C5E-D5B9-4EAD-4A6F-4350D20A477A}"/>
              </a:ext>
            </a:extLst>
          </p:cNvPr>
          <p:cNvSpPr/>
          <p:nvPr/>
        </p:nvSpPr>
        <p:spPr>
          <a:xfrm>
            <a:off x="576469" y="3894649"/>
            <a:ext cx="8229600" cy="91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27B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模型在系统级基准测试上的结果。 本表对比了基线模型、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以及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在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个不同的下游基准测试中的零样本和少样本性能表现。结果显示，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始终优于基线模型，并在大多数基准测试中超越了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HC，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证明了其在大规模预训练中的有效性。</a:t>
            </a:r>
            <a:endParaRPr lang="en-US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Image">
            <a:extLst>
              <a:ext uri="{FF2B5EF4-FFF2-40B4-BE49-F238E27FC236}">
                <a16:creationId xmlns:a16="http://schemas.microsoft.com/office/drawing/2014/main" id="{46C25365-89A0-48BB-9863-49C02719C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3" y="1654738"/>
            <a:ext cx="7384774" cy="153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362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11629-E73B-0CDF-DF52-0DBE0544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2B66B8-66DD-3888-B464-7131721A8F52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0C6DFD-583E-7868-72C4-AE6FF32CC3EE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1CFB29-C14B-AAFD-8DEF-12E17A364077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mHC的主要实验结果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8B58699-AFB8-FE93-C034-8CF984301C85}"/>
              </a:ext>
            </a:extLst>
          </p:cNvPr>
          <p:cNvSpPr/>
          <p:nvPr/>
        </p:nvSpPr>
        <p:spPr>
          <a:xfrm>
            <a:off x="576469" y="3894649"/>
            <a:ext cx="8229600" cy="91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在多种下游基准测试中的性能表现：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带来了全面的提升，一致性地优于基线模型，并在大多数任务上超过了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HC。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值得注意的是，与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HC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相比，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进一步增强了模型的推理能力，在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BBH  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和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DROP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任务上分别实现了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2.1%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和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2.3%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的性能增益。</a:t>
            </a:r>
            <a:endParaRPr lang="en-US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Image">
            <a:extLst>
              <a:ext uri="{FF2B5EF4-FFF2-40B4-BE49-F238E27FC236}">
                <a16:creationId xmlns:a16="http://schemas.microsoft.com/office/drawing/2014/main" id="{AB064F4A-2E49-43E7-5C4F-26E09E726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3" y="1654738"/>
            <a:ext cx="7384774" cy="153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796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E3675-79F4-0835-6684-89F934C5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CBD89C-06BB-8159-8D9C-7360016F24F6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012D31-A624-1785-0896-872D48078140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9B2E03-5059-B1CE-6EF9-F4F437C386FD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mHC的主要实验结果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7FCD020-451A-E0A9-439D-7DE71B1419D3}"/>
              </a:ext>
            </a:extLst>
          </p:cNvPr>
          <p:cNvSpPr/>
          <p:nvPr/>
        </p:nvSpPr>
        <p:spPr>
          <a:xfrm>
            <a:off x="576469" y="3894649"/>
            <a:ext cx="8229600" cy="91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mHC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与基线模型的扩展特性对比。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(a)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计算扩展曲线：实线描绘了在不同计算预算下的性能差距。每个点代表模型大小与数据集大小的最优计算配置，涵盖了从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3B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9B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到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27B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参数规模的规模扩展过程。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(b) Token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扩展曲线：展示了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3B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模型在训练过程中的轨迹。每个点代表模型在不同训练 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Token </a:t>
            </a:r>
            <a:r>
              <a:rPr lang="zh-CN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数量下的性能表现。</a:t>
            </a:r>
          </a:p>
        </p:txBody>
      </p:sp>
      <p:pic>
        <p:nvPicPr>
          <p:cNvPr id="15364" name="Picture 4" descr="Image">
            <a:extLst>
              <a:ext uri="{FF2B5EF4-FFF2-40B4-BE49-F238E27FC236}">
                <a16:creationId xmlns:a16="http://schemas.microsoft.com/office/drawing/2014/main" id="{A1942CEA-59BA-2C2D-6CAB-49F1DE0EE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2" y="1377874"/>
            <a:ext cx="6917635" cy="187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403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B5624-B6EC-371E-E672-9696DF31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20181-34FD-2051-AD59-A9DE5978F4B0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64FF98A-6135-CE62-D97A-3879A1974FCB}"/>
              </a:ext>
            </a:extLst>
          </p:cNvPr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28F671-5317-B0C9-14D1-F4A6ACE2A156}"/>
              </a:ext>
            </a:extLst>
          </p:cNvPr>
          <p:cNvSpPr/>
          <p:nvPr/>
        </p:nvSpPr>
        <p:spPr>
          <a:xfrm>
            <a:off x="457200" y="185738"/>
            <a:ext cx="624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mHC的主要实验结果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4BD5DF2-ACE2-5824-987C-3AF08B063F12}"/>
              </a:ext>
            </a:extLst>
          </p:cNvPr>
          <p:cNvSpPr/>
          <p:nvPr/>
        </p:nvSpPr>
        <p:spPr>
          <a:xfrm>
            <a:off x="576469" y="3894649"/>
            <a:ext cx="8229600" cy="91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  <a:spcAft>
                <a:spcPts val="800"/>
              </a:spcAft>
            </a:pPr>
            <a:r>
              <a:rPr lang="zh-CN" altLang="en-US" sz="1300" dirty="0"/>
              <a:t>涵盖 </a:t>
            </a:r>
            <a:r>
              <a:rPr lang="en-US" altLang="zh-CN" sz="1300" dirty="0"/>
              <a:t>3</a:t>
            </a:r>
            <a:r>
              <a:rPr lang="en-US" sz="1300" dirty="0"/>
              <a:t>B、9B </a:t>
            </a:r>
            <a:r>
              <a:rPr lang="zh-CN" altLang="en-US" sz="1300" dirty="0"/>
              <a:t>和 </a:t>
            </a:r>
            <a:r>
              <a:rPr lang="en-US" altLang="zh-CN" sz="1300" dirty="0"/>
              <a:t>27</a:t>
            </a:r>
            <a:r>
              <a:rPr lang="en-US" sz="1300" dirty="0"/>
              <a:t>B </a:t>
            </a:r>
            <a:r>
              <a:rPr lang="zh-CN" altLang="en-US" sz="1300" dirty="0"/>
              <a:t>参数规模的计算规模扩展曲线：其轨迹表明，即使在更高的计算预算下，性能优势依然稳健地得以保持，仅表现出轻微的衰减。</a:t>
            </a:r>
            <a:endParaRPr lang="en-US" altLang="zh-CN" sz="1300" dirty="0"/>
          </a:p>
          <a:p>
            <a:pPr>
              <a:lnSpc>
                <a:spcPts val="1950"/>
              </a:lnSpc>
              <a:spcAft>
                <a:spcPts val="800"/>
              </a:spcAft>
            </a:pPr>
            <a:endParaRPr lang="zh-CN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4" name="Picture 4" descr="Image">
            <a:extLst>
              <a:ext uri="{FF2B5EF4-FFF2-40B4-BE49-F238E27FC236}">
                <a16:creationId xmlns:a16="http://schemas.microsoft.com/office/drawing/2014/main" id="{33F09380-B80C-FFB7-E898-A2D901D83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2" y="1377874"/>
            <a:ext cx="6917635" cy="187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28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1237</Words>
  <Application>Microsoft Macintosh PowerPoint</Application>
  <PresentationFormat>On-screen Show (16:9)</PresentationFormat>
  <Paragraphs>91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mHC 全量整合版</dc:title>
  <dc:subject>PptxGenJS Presentation</dc:subject>
  <dc:creator>Codex</dc:creator>
  <cp:lastModifiedBy>You, Bingran</cp:lastModifiedBy>
  <cp:revision>3</cp:revision>
  <dcterms:created xsi:type="dcterms:W3CDTF">2026-02-09T02:36:49Z</dcterms:created>
  <dcterms:modified xsi:type="dcterms:W3CDTF">2026-02-09T04:52:39Z</dcterms:modified>
</cp:coreProperties>
</file>