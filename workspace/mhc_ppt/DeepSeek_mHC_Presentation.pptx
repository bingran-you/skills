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81B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B165F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1720803" y="1373237"/>
            <a:ext cx="5702543" cy="619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2814"/>
              </a:spcBef>
              <a:spcAft>
                <a:spcPts val="1500"/>
              </a:spcAft>
              <a:buNone/>
            </a:pPr>
            <a:r>
              <a:rPr lang="en-US" sz="4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DeepSeek mHC</a:t>
            </a:r>
            <a:endParaRPr lang="en-US" sz="4200" dirty="0"/>
          </a:p>
        </p:txBody>
      </p:sp>
      <p:sp>
        <p:nvSpPr>
          <p:cNvPr id="4" name="Text 2"/>
          <p:cNvSpPr/>
          <p:nvPr/>
        </p:nvSpPr>
        <p:spPr>
          <a:xfrm>
            <a:off x="1720803" y="2297162"/>
            <a:ext cx="5702543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2400"/>
              </a:spcBef>
              <a:spcAft>
                <a:spcPts val="1500"/>
              </a:spcAft>
              <a:buNone/>
            </a:pPr>
            <a:r>
              <a:rPr lang="en-US" sz="2400" dirty="0">
                <a:solidFill>
                  <a:srgbClr val="B165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Manifold-Constrained Hyper-Connections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1720803" y="2903488"/>
            <a:ext cx="5702543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2000"/>
              </a:spcBef>
              <a:spcAft>
                <a:spcPts val="2500"/>
              </a:spcAft>
              <a:buNone/>
            </a:pPr>
            <a:r>
              <a:rPr lang="en-US" sz="2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流形约束超连接：开启Transformer架构新篇章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720803" y="3573363"/>
            <a:ext cx="5702543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1400"/>
              </a:spcBef>
              <a:spcAft>
                <a:spcPts val="2000"/>
              </a:spcAft>
              <a:buNone/>
            </a:pPr>
            <a:r>
              <a:rPr lang="en-US" sz="14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梁文锋署名 | 2026年元旦发布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3893195" y="4074914"/>
            <a:ext cx="1357610" cy="412552"/>
          </a:xfrm>
          <a:prstGeom prst="roundRect">
            <a:avLst>
              <a:gd name="adj" fmla="val 12314"/>
            </a:avLst>
          </a:prstGeom>
          <a:solidFill>
            <a:srgbClr val="40695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4138598" y="4176415"/>
            <a:ext cx="866805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DeepSeek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76200"/>
          </a:xfrm>
          <a:prstGeom prst="rect">
            <a:avLst/>
          </a:prstGeom>
          <a:solidFill>
            <a:srgbClr val="B165F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546050" y="317450"/>
            <a:ext cx="0" cy="390525"/>
          </a:xfrm>
          <a:prstGeom prst="line">
            <a:avLst/>
          </a:prstGeom>
          <a:noFill/>
          <a:ln w="76200">
            <a:solidFill>
              <a:srgbClr val="B165F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74650" y="317450"/>
            <a:ext cx="8018627" cy="390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81B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论文概览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507950" y="860375"/>
            <a:ext cx="8128099" cy="1091952"/>
          </a:xfrm>
          <a:prstGeom prst="roundRect">
            <a:avLst>
              <a:gd name="adj" fmla="val 6978"/>
            </a:avLst>
          </a:prstGeom>
          <a:solidFill>
            <a:srgbClr val="F5F5F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660350" y="1114276"/>
            <a:ext cx="7979765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000"/>
              </a:spcBef>
              <a:spcAft>
                <a:spcPts val="200"/>
              </a:spcAft>
              <a:buNone/>
            </a:pPr>
            <a:r>
              <a:rPr lang="en-US" sz="10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论文标题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660350" y="1460302"/>
            <a:ext cx="7979765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300"/>
              </a:spcBef>
              <a:spcAft>
                <a:spcPts val="1300"/>
              </a:spcAft>
              <a:buNone/>
            </a:pPr>
            <a:r>
              <a:rPr lang="en-US" sz="1300" b="1" dirty="0">
                <a:solidFill>
                  <a:srgbClr val="181B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mHC: Manifold-Constrained Hyper-Connections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07950" y="2053828"/>
            <a:ext cx="8128099" cy="993428"/>
          </a:xfrm>
          <a:prstGeom prst="roundRect">
            <a:avLst>
              <a:gd name="adj" fmla="val 7670"/>
            </a:avLst>
          </a:prstGeom>
          <a:solidFill>
            <a:srgbClr val="F5F5F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660350" y="2307729"/>
            <a:ext cx="7979765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000"/>
              </a:spcBef>
              <a:spcAft>
                <a:spcPts val="200"/>
              </a:spcAft>
              <a:buNone/>
            </a:pPr>
            <a:r>
              <a:rPr lang="en-US" sz="10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论文地址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660350" y="2628305"/>
            <a:ext cx="797976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100"/>
              </a:spcBef>
              <a:spcAft>
                <a:spcPts val="1100"/>
              </a:spcAft>
              <a:buNone/>
            </a:pPr>
            <a:r>
              <a:rPr lang="en-US" sz="1100" b="1" dirty="0">
                <a:solidFill>
                  <a:srgbClr val="181B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https://arxiv.org/pdf/2512.24880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07950" y="3148757"/>
            <a:ext cx="8128099" cy="1076176"/>
          </a:xfrm>
          <a:prstGeom prst="roundRect">
            <a:avLst>
              <a:gd name="adj" fmla="val 7081"/>
            </a:avLst>
          </a:prstGeom>
          <a:solidFill>
            <a:srgbClr val="F5F5F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660350" y="3402657"/>
            <a:ext cx="7979765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000"/>
              </a:spcBef>
              <a:spcAft>
                <a:spcPts val="200"/>
              </a:spcAft>
              <a:buNone/>
            </a:pPr>
            <a:r>
              <a:rPr lang="en-US" sz="10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第一作者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660350" y="3736032"/>
            <a:ext cx="7979765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1200" b="1" dirty="0">
                <a:solidFill>
                  <a:srgbClr val="181B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Zhenda Xie (解振达)、Yixuan Wei (韦毅轩)、Huanqi Cao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07950" y="4326434"/>
            <a:ext cx="8128099" cy="463451"/>
          </a:xfrm>
          <a:prstGeom prst="roundRect">
            <a:avLst>
              <a:gd name="adj" fmla="val 16442"/>
            </a:avLst>
          </a:prstGeom>
          <a:solidFill>
            <a:srgbClr val="181B2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660350" y="4453384"/>
            <a:ext cx="7979765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B165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DeepSeek创始人 &amp; CEO 梁文锋</a:t>
            </a:r>
            <a:pPr algn="l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也在作者名单中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76200"/>
          </a:xfrm>
          <a:prstGeom prst="rect">
            <a:avLst/>
          </a:prstGeom>
          <a:solidFill>
            <a:srgbClr val="B165F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546050" y="381000"/>
            <a:ext cx="0" cy="428625"/>
          </a:xfrm>
          <a:prstGeom prst="line">
            <a:avLst/>
          </a:prstGeom>
          <a:noFill/>
          <a:ln w="76200">
            <a:solidFill>
              <a:srgbClr val="B165F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74650" y="381000"/>
            <a:ext cx="8018627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81B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背景：残差连接的局限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07950" y="1000125"/>
            <a:ext cx="8290661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spcBef>
                <a:spcPts val="1400"/>
              </a:spcBef>
              <a:spcAft>
                <a:spcPts val="1000"/>
              </a:spcAft>
              <a:buNone/>
            </a:pPr>
            <a:r>
              <a:rPr lang="en-US" sz="14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传统的残差连接（即 Transformer 中的结构）凭借「恒等映射」保证了信号无损传输和训练稳定性。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07950" y="1419225"/>
            <a:ext cx="8128099" cy="1501676"/>
          </a:xfrm>
          <a:prstGeom prst="roundRect">
            <a:avLst>
              <a:gd name="adj" fmla="val 6766"/>
            </a:avLst>
          </a:prstGeom>
          <a:solidFill>
            <a:srgbClr val="181B2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750469" y="1965275"/>
            <a:ext cx="7643062" cy="409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2800"/>
              </a:spcBef>
              <a:spcAft>
                <a:spcPts val="2800"/>
              </a:spcAft>
              <a:buNone/>
            </a:pPr>
            <a:r>
              <a:rPr lang="en-US" sz="2800" b="1" dirty="0">
                <a:solidFill>
                  <a:srgbClr val="B165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 + F(x)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507950" y="3098602"/>
            <a:ext cx="8290661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spcBef>
                <a:spcPts val="1400"/>
              </a:spcBef>
              <a:spcAft>
                <a:spcPts val="1000"/>
              </a:spcAft>
              <a:buNone/>
            </a:pPr>
            <a:r>
              <a:rPr lang="en-US" sz="14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但它的瓶颈在于：</a:t>
            </a:r>
            <a:pPr algn="l" indent="0" marL="0">
              <a:lnSpc>
                <a:spcPts val="2100"/>
              </a:lnSpc>
              <a:spcBef>
                <a:spcPts val="1400"/>
              </a:spcBef>
              <a:spcAft>
                <a:spcPts val="1000"/>
              </a:spcAft>
              <a:buNone/>
            </a:pPr>
            <a:r>
              <a:rPr lang="en-US" sz="14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信息通道的宽度受限于隐藏层维度 C</a:t>
            </a:r>
            <a:pPr algn="l" indent="0" marL="0">
              <a:lnSpc>
                <a:spcPts val="2100"/>
              </a:lnSpc>
              <a:spcBef>
                <a:spcPts val="1400"/>
              </a:spcBef>
              <a:spcAft>
                <a:spcPts val="1000"/>
              </a:spcAft>
              <a:buNone/>
            </a:pPr>
            <a:r>
              <a:rPr lang="en-US" sz="14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。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07950" y="3517702"/>
            <a:ext cx="8128099" cy="1543050"/>
          </a:xfrm>
          <a:prstGeom prst="rect">
            <a:avLst/>
          </a:prstGeom>
          <a:solidFill>
            <a:srgbClr val="F5F5F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Shape 8"/>
          <p:cNvSpPr/>
          <p:nvPr/>
        </p:nvSpPr>
        <p:spPr>
          <a:xfrm>
            <a:off x="531763" y="3517702"/>
            <a:ext cx="0" cy="1543050"/>
          </a:xfrm>
          <a:prstGeom prst="line">
            <a:avLst/>
          </a:prstGeom>
          <a:noFill/>
          <a:ln w="47625">
            <a:solidFill>
              <a:srgbClr val="40695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07975" y="3822502"/>
            <a:ext cx="7931188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1200" i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GPT、Claude、Llama、Gemini...在底层，它们做的事情都是一样的：x + F(x)。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707975" y="4184452"/>
            <a:ext cx="7931188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1200" i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信息流只有一条，穿过网络，每一层都向其中添加内容。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707975" y="4546402"/>
            <a:ext cx="7931188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800"/>
              </a:spcBef>
              <a:spcAft>
                <a:spcPts val="1200"/>
              </a:spcAft>
              <a:buNone/>
            </a:pPr>
            <a:r>
              <a:rPr lang="en-US" sz="1200" b="1" i="1" dirty="0">
                <a:solidFill>
                  <a:srgbClr val="4069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这是何恺明2015年提出的方法，十年未曾改变。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76200"/>
          </a:xfrm>
          <a:prstGeom prst="rect">
            <a:avLst/>
          </a:prstGeom>
          <a:solidFill>
            <a:srgbClr val="B165F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546050" y="317450"/>
            <a:ext cx="0" cy="352425"/>
          </a:xfrm>
          <a:prstGeom prst="line">
            <a:avLst/>
          </a:prstGeom>
          <a:noFill/>
          <a:ln w="76200">
            <a:solidFill>
              <a:srgbClr val="B165F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74650" y="317450"/>
            <a:ext cx="8018627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81B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字节Hyper-Connections的突破与问题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507950" y="809476"/>
            <a:ext cx="8290661" cy="3631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30"/>
              </a:lnSpc>
              <a:spcBef>
                <a:spcPts val="1100"/>
              </a:spcBef>
              <a:spcAft>
                <a:spcPts val="800"/>
              </a:spcAft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近期，字节跳动Seed团队提出的 </a:t>
            </a:r>
            <a:pPr algn="l" indent="0" marL="0">
              <a:lnSpc>
                <a:spcPts val="1430"/>
              </a:lnSpc>
              <a:spcBef>
                <a:spcPts val="1100"/>
              </a:spcBef>
              <a:spcAft>
                <a:spcPts val="800"/>
              </a:spcAft>
              <a:buNone/>
            </a:pPr>
            <a:r>
              <a:rPr lang="en-US" sz="11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Hyper-Connections (HC)</a:t>
            </a:r>
            <a:pPr algn="l" indent="0" marL="0">
              <a:lnSpc>
                <a:spcPts val="1430"/>
              </a:lnSpc>
              <a:spcBef>
                <a:spcPts val="1100"/>
              </a:spcBef>
              <a:spcAft>
                <a:spcPts val="800"/>
              </a:spcAft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通过扩展残差流宽度和多样化连接模式，拓展了残差连接范式。虽然带来了显著的性能提升，但也带来了</a:t>
            </a:r>
            <a:pPr algn="l" indent="0" marL="0">
              <a:lnSpc>
                <a:spcPts val="1430"/>
              </a:lnSpc>
              <a:spcBef>
                <a:spcPts val="1100"/>
              </a:spcBef>
              <a:spcAft>
                <a:spcPts val="800"/>
              </a:spcAft>
              <a:buNone/>
            </a:pPr>
            <a:r>
              <a:rPr lang="en-US" sz="11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两个严重问题</a:t>
            </a:r>
            <a:pPr algn="l" indent="0" marL="0">
              <a:lnSpc>
                <a:spcPts val="1430"/>
              </a:lnSpc>
              <a:spcBef>
                <a:spcPts val="1100"/>
              </a:spcBef>
              <a:spcAft>
                <a:spcPts val="800"/>
              </a:spcAft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：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07950" y="1274118"/>
            <a:ext cx="8128099" cy="1238994"/>
          </a:xfrm>
          <a:prstGeom prst="rect">
            <a:avLst/>
          </a:prstGeom>
          <a:solidFill>
            <a:srgbClr val="FFF5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Shape 5"/>
          <p:cNvSpPr/>
          <p:nvPr/>
        </p:nvSpPr>
        <p:spPr>
          <a:xfrm>
            <a:off x="531763" y="1274118"/>
            <a:ext cx="0" cy="1238994"/>
          </a:xfrm>
          <a:prstGeom prst="line">
            <a:avLst/>
          </a:prstGeom>
          <a:noFill/>
          <a:ln w="47625">
            <a:solidFill>
              <a:srgbClr val="E74C3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82526" y="1540669"/>
            <a:ext cx="798310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300"/>
              </a:spcBef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E74C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数值不稳定性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82526" y="1908870"/>
            <a:ext cx="7983105" cy="3631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30"/>
              </a:lnSpc>
              <a:spcBef>
                <a:spcPts val="1100"/>
              </a:spcBef>
              <a:spcAft>
                <a:spcPts val="1100"/>
              </a:spcAft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原始的 HC 中，连接矩阵是自由学习的，没有约束。这导致信号在经过多层传播后，数值会「爆炸」或「消失」，破坏了恒等映射的特性。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07950" y="2589312"/>
            <a:ext cx="8128099" cy="1057424"/>
          </a:xfrm>
          <a:prstGeom prst="rect">
            <a:avLst/>
          </a:prstGeom>
          <a:solidFill>
            <a:srgbClr val="FFF5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Shape 9"/>
          <p:cNvSpPr/>
          <p:nvPr/>
        </p:nvSpPr>
        <p:spPr>
          <a:xfrm>
            <a:off x="531763" y="2589312"/>
            <a:ext cx="0" cy="1057424"/>
          </a:xfrm>
          <a:prstGeom prst="line">
            <a:avLst/>
          </a:prstGeom>
          <a:noFill/>
          <a:ln w="47625">
            <a:solidFill>
              <a:srgbClr val="E74C3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82526" y="2855863"/>
            <a:ext cx="798310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300"/>
              </a:spcBef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E74C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系统开销大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82526" y="3224064"/>
            <a:ext cx="7983105" cy="1815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30"/>
              </a:lnSpc>
              <a:spcBef>
                <a:spcPts val="1100"/>
              </a:spcBef>
              <a:spcAft>
                <a:spcPts val="1100"/>
              </a:spcAft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通道变宽意味着显存读写 (I/O) 和通信成本成倍增加，也就是所谓的「显存墙」问题。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07950" y="3748236"/>
            <a:ext cx="8128099" cy="896243"/>
          </a:xfrm>
          <a:prstGeom prst="roundRect">
            <a:avLst>
              <a:gd name="adj" fmla="val 8502"/>
            </a:avLst>
          </a:prstGeom>
          <a:solidFill>
            <a:srgbClr val="181B2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634901" y="4014788"/>
            <a:ext cx="8031682" cy="3631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30"/>
              </a:lnSpc>
              <a:spcBef>
                <a:spcPts val="1100"/>
              </a:spcBef>
              <a:spcAft>
                <a:spcPts val="1100"/>
              </a:spcAft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从根本上破坏了残差连接固有的恒等映射属性，导致了严重的训练不稳定性和受限的可扩展性，并额外增加了显著的内存访问开销。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76200"/>
          </a:xfrm>
          <a:prstGeom prst="rect">
            <a:avLst/>
          </a:prstGeom>
          <a:solidFill>
            <a:srgbClr val="B165F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546050" y="381000"/>
            <a:ext cx="0" cy="428625"/>
          </a:xfrm>
          <a:prstGeom prst="line">
            <a:avLst/>
          </a:prstGeom>
          <a:noFill/>
          <a:ln w="76200">
            <a:solidFill>
              <a:srgbClr val="B165F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74650" y="381000"/>
            <a:ext cx="8018627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81B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mHC核心思想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07950" y="974675"/>
            <a:ext cx="8290661" cy="4619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20"/>
              </a:lnSpc>
              <a:spcBef>
                <a:spcPts val="1300"/>
              </a:spcBef>
              <a:spcAft>
                <a:spcPts val="1000"/>
              </a:spcAft>
              <a:buNone/>
            </a:pPr>
            <a:r>
              <a:rPr lang="en-US" sz="13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为了解决这些挑战，DeepSeek 的研究团队提出了 </a:t>
            </a:r>
            <a:pPr algn="l" indent="0" marL="0">
              <a:lnSpc>
                <a:spcPts val="1820"/>
              </a:lnSpc>
              <a:spcBef>
                <a:spcPts val="1300"/>
              </a:spcBef>
              <a:spcAft>
                <a:spcPts val="1000"/>
              </a:spcAft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Manifold-Constrained Hyper-Connections (mHC，流形约束超连接)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07950" y="1601688"/>
            <a:ext cx="8290661" cy="4619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20"/>
              </a:lnSpc>
              <a:spcBef>
                <a:spcPts val="1300"/>
              </a:spcBef>
              <a:spcAft>
                <a:spcPts val="1000"/>
              </a:spcAft>
              <a:buNone/>
            </a:pPr>
            <a:r>
              <a:rPr lang="en-US" sz="13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这是一个通用框架，它将 HC 的残差连接空间投影到一个特定的流形上，以恢复恒等映射属性，同时结合严格的基础设施优化以确保效率。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07950" y="2216051"/>
            <a:ext cx="8128099" cy="1396752"/>
          </a:xfrm>
          <a:prstGeom prst="roundRect">
            <a:avLst>
              <a:gd name="adj" fmla="val 7274"/>
            </a:avLst>
          </a:prstGeom>
          <a:solidFill>
            <a:srgbClr val="181B2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698450" y="2571601"/>
            <a:ext cx="790204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300"/>
              </a:spcBef>
              <a:spcAft>
                <a:spcPts val="800"/>
              </a:spcAft>
              <a:buNone/>
            </a:pPr>
            <a:r>
              <a:rPr lang="en-US" sz="1300" dirty="0">
                <a:solidFill>
                  <a:srgbClr val="B165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核心目的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98450" y="2977902"/>
            <a:ext cx="7902041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spcBef>
                <a:spcPts val="1400"/>
              </a:spcBef>
              <a:spcAft>
                <a:spcPts val="1400"/>
              </a:spcAft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在保留「加宽残差流」带来的性能提升的同时，解决其导致的训练不稳定和显存消耗过大的问题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07950" y="3765203"/>
            <a:ext cx="8128099" cy="792063"/>
          </a:xfrm>
          <a:prstGeom prst="rect">
            <a:avLst/>
          </a:prstGeom>
          <a:noFill/>
          <a:ln/>
        </p:spPr>
        <p:txBody>
          <a:bodyPr wrap="square" lIns="127000" tIns="0" rIns="0" bIns="0" rtlCol="0" anchor="t"/>
          <a:lstStyle/>
          <a:p>
            <a:pPr algn="l" marL="127000" indent="-127000">
              <a:lnSpc>
                <a:spcPts val="208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将 HC 的残差连接空间投影到特定流形</a:t>
            </a:r>
            <a:endParaRPr lang="en-US" sz="1300" dirty="0"/>
          </a:p>
          <a:p>
            <a:pPr algn="l" marL="127000" indent="-127000">
              <a:lnSpc>
                <a:spcPts val="208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恢复恒等映射属性，保持跨层信号传播的稳定性</a:t>
            </a:r>
            <a:endParaRPr lang="en-US" sz="1300" dirty="0"/>
          </a:p>
          <a:p>
            <a:pPr algn="l" marL="127000" indent="-127000">
              <a:lnSpc>
                <a:spcPts val="208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促进残差流之间的相互作用，保持模型的表达能力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76200"/>
          </a:xfrm>
          <a:prstGeom prst="rect">
            <a:avLst/>
          </a:prstGeom>
          <a:solidFill>
            <a:srgbClr val="B165F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546050" y="317450"/>
            <a:ext cx="0" cy="390525"/>
          </a:xfrm>
          <a:prstGeom prst="line">
            <a:avLst/>
          </a:prstGeom>
          <a:noFill/>
          <a:ln w="76200">
            <a:solidFill>
              <a:srgbClr val="B165F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74650" y="317450"/>
            <a:ext cx="8018627" cy="390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81B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mHC技术实现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507950" y="834926"/>
            <a:ext cx="8128099" cy="1076474"/>
          </a:xfrm>
          <a:prstGeom prst="roundRect">
            <a:avLst>
              <a:gd name="adj" fmla="val 7079"/>
            </a:avLst>
          </a:prstGeom>
          <a:solidFill>
            <a:srgbClr val="F8F9FA"/>
          </a:solidFill>
          <a:ln w="9525">
            <a:solidFill>
              <a:srgbClr val="E0E0E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644426" y="1111002"/>
            <a:ext cx="801225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300"/>
              </a:spcBef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B165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Sinkhorn-Knopp 算法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44426" y="1479203"/>
            <a:ext cx="8012251" cy="1815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30"/>
              </a:lnSpc>
              <a:spcBef>
                <a:spcPts val="1100"/>
              </a:spcBef>
              <a:spcAft>
                <a:spcPts val="1100"/>
              </a:spcAft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利用 </a:t>
            </a:r>
            <a:pPr algn="l" indent="0" marL="0">
              <a:lnSpc>
                <a:spcPts val="1430"/>
              </a:lnSpc>
              <a:spcBef>
                <a:spcPts val="1100"/>
              </a:spcBef>
              <a:spcAft>
                <a:spcPts val="1100"/>
              </a:spcAft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Sinkhorn-Knopp 算法</a:t>
            </a:r>
            <a:pPr algn="l" indent="0" marL="0">
              <a:lnSpc>
                <a:spcPts val="1430"/>
              </a:lnSpc>
              <a:spcBef>
                <a:spcPts val="1100"/>
              </a:spcBef>
              <a:spcAft>
                <a:spcPts val="1100"/>
              </a:spcAft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将残差连接矩阵投影到 Birkhoff 多胞形（双拟随机矩阵）上。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07950" y="1987600"/>
            <a:ext cx="8128099" cy="1076474"/>
          </a:xfrm>
          <a:prstGeom prst="roundRect">
            <a:avLst>
              <a:gd name="adj" fmla="val 7079"/>
            </a:avLst>
          </a:prstGeom>
          <a:solidFill>
            <a:srgbClr val="F8F9FA"/>
          </a:solidFill>
          <a:ln w="9525">
            <a:solidFill>
              <a:srgbClr val="E0E0E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644426" y="2263676"/>
            <a:ext cx="801225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300"/>
              </a:spcBef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B165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双拟随机矩阵约束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44426" y="2631877"/>
            <a:ext cx="8012251" cy="1815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30"/>
              </a:lnSpc>
              <a:spcBef>
                <a:spcPts val="1100"/>
              </a:spcBef>
              <a:spcAft>
                <a:spcPts val="1100"/>
              </a:spcAft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将残差映射限制为</a:t>
            </a:r>
            <a:pPr algn="l" indent="0" marL="0">
              <a:lnSpc>
                <a:spcPts val="1430"/>
              </a:lnSpc>
              <a:spcBef>
                <a:spcPts val="1100"/>
              </a:spcBef>
              <a:spcAft>
                <a:spcPts val="1100"/>
              </a:spcAft>
              <a:buNone/>
            </a:pPr>
            <a:r>
              <a:rPr lang="en-US" sz="11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双拟随机矩阵</a:t>
            </a:r>
            <a:pPr algn="l" indent="0" marL="0">
              <a:lnSpc>
                <a:spcPts val="1430"/>
              </a:lnSpc>
              <a:spcBef>
                <a:spcPts val="1100"/>
              </a:spcBef>
              <a:spcAft>
                <a:spcPts val="1100"/>
              </a:spcAft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，即具有非负项且行和与列和均为 1 的矩阵。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07950" y="3140273"/>
            <a:ext cx="8128099" cy="1076474"/>
          </a:xfrm>
          <a:prstGeom prst="roundRect">
            <a:avLst>
              <a:gd name="adj" fmla="val 7079"/>
            </a:avLst>
          </a:prstGeom>
          <a:solidFill>
            <a:srgbClr val="F8F9FA"/>
          </a:solidFill>
          <a:ln w="9525">
            <a:solidFill>
              <a:srgbClr val="E0E0E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644426" y="3416350"/>
            <a:ext cx="801225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300"/>
              </a:spcBef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B165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信号稳定性保证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44426" y="3784550"/>
            <a:ext cx="8012251" cy="1815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30"/>
              </a:lnSpc>
              <a:spcBef>
                <a:spcPts val="1100"/>
              </a:spcBef>
              <a:spcAft>
                <a:spcPts val="1100"/>
              </a:spcAft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信号传播变为特征的「凸组合」，从数学上严格保证了信号范数的稳定性（能量守恒）。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07950" y="4318248"/>
            <a:ext cx="8128099" cy="663773"/>
          </a:xfrm>
          <a:prstGeom prst="roundRect">
            <a:avLst>
              <a:gd name="adj" fmla="val 11480"/>
            </a:avLst>
          </a:prstGeom>
          <a:solidFill>
            <a:srgbClr val="40695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634901" y="4559350"/>
            <a:ext cx="8031682" cy="1815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30"/>
              </a:lnSpc>
              <a:spcBef>
                <a:spcPts val="1100"/>
              </a:spcBef>
              <a:spcAft>
                <a:spcPts val="1100"/>
              </a:spcAft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mHC 的核心前提是将残差映射约束在一个特定的流形上，既能保持跨层信号传播的稳定性，又能促进残差流之间的相互作用。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76200"/>
          </a:xfrm>
          <a:prstGeom prst="rect">
            <a:avLst/>
          </a:prstGeom>
          <a:solidFill>
            <a:srgbClr val="B165F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546050" y="381000"/>
            <a:ext cx="0" cy="390525"/>
          </a:xfrm>
          <a:prstGeom prst="line">
            <a:avLst/>
          </a:prstGeom>
          <a:noFill/>
          <a:ln w="76200">
            <a:solidFill>
              <a:srgbClr val="B165F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74650" y="381000"/>
            <a:ext cx="8018627" cy="390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81B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架构对比：残差连接 vs HC vs mHC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507950" y="923925"/>
            <a:ext cx="7873901" cy="3301901"/>
          </a:xfrm>
          <a:prstGeom prst="rect">
            <a:avLst/>
          </a:prstGeom>
          <a:solidFill>
            <a:srgbClr val="F5F5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426669" y="4378226"/>
            <a:ext cx="8290661" cy="4947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300"/>
              </a:lnSpc>
              <a:spcBef>
                <a:spcPts val="800"/>
              </a:spcBef>
              <a:spcAft>
                <a:spcPts val="1000"/>
              </a:spcAft>
              <a:buNone/>
            </a:pPr>
            <a:r>
              <a:rPr lang="en-US" sz="1000" i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图：残差连接范式示意图。本图对比了以下三种结构设计：(a) 标准残差连接（Residual Connection）；(b) Hyper-Connections (HC)；(c) 我们提出的 Manifold-Constrained Hyper-Connections (mHC)。与无约束的 HC 不同，mHC 专注于优化残差连接空间，通过将矩阵投影到受约束的流形上，以确保稳定性。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76200"/>
          </a:xfrm>
          <a:prstGeom prst="rect">
            <a:avLst/>
          </a:prstGeom>
          <a:solidFill>
            <a:srgbClr val="B165F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546050" y="381000"/>
            <a:ext cx="0" cy="428625"/>
          </a:xfrm>
          <a:prstGeom prst="line">
            <a:avLst/>
          </a:prstGeom>
          <a:noFill/>
          <a:ln w="76200">
            <a:solidFill>
              <a:srgbClr val="B165F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74650" y="381000"/>
            <a:ext cx="8018627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81B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工程优化策略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07950" y="974675"/>
            <a:ext cx="8290661" cy="2309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20"/>
              </a:lnSpc>
              <a:spcBef>
                <a:spcPts val="1300"/>
              </a:spcBef>
              <a:spcAft>
                <a:spcPts val="1500"/>
              </a:spcAft>
              <a:buNone/>
            </a:pPr>
            <a:r>
              <a:rPr lang="en-US" sz="13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为了抵消加宽通道带来的开销，团队实施了一系列严格的基础设施优化：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07950" y="1396157"/>
            <a:ext cx="2607766" cy="2287488"/>
          </a:xfrm>
          <a:prstGeom prst="roundRect">
            <a:avLst>
              <a:gd name="adj" fmla="val 4442"/>
            </a:avLst>
          </a:prstGeom>
          <a:solidFill>
            <a:srgbClr val="181B2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676183" y="1891457"/>
            <a:ext cx="2271302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2400"/>
              </a:spcBef>
              <a:spcAft>
                <a:spcPts val="800"/>
              </a:spcAft>
              <a:buNone/>
            </a:pPr>
            <a:r>
              <a:rPr lang="en-US" sz="2400" dirty="0">
                <a:solidFill>
                  <a:srgbClr val="B165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676183" y="2421582"/>
            <a:ext cx="2271302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1400"/>
              </a:spcBef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B165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内核融合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76183" y="2808833"/>
            <a:ext cx="2271302" cy="5447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430"/>
              </a:lnSpc>
              <a:spcBef>
                <a:spcPts val="1100"/>
              </a:spcBef>
              <a:spcAft>
                <a:spcPts val="1100"/>
              </a:spcAft>
              <a:buNone/>
            </a:pPr>
            <a:r>
              <a:rPr lang="en-US" sz="11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Kernel Fusion</a:t>
            </a:r>
            <a:endParaRPr lang="en-US" sz="1100" dirty="0"/>
          </a:p>
          <a:p>
            <a:pPr algn="ctr" indent="0" marL="0">
              <a:lnSpc>
                <a:spcPts val="1430"/>
              </a:lnSpc>
              <a:spcBef>
                <a:spcPts val="1100"/>
              </a:spcBef>
              <a:spcAft>
                <a:spcPts val="1100"/>
              </a:spcAft>
              <a:buNone/>
            </a:pPr>
            <a:r>
              <a:rPr lang="en-US" sz="11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减少GPU内核启动开销，提升计算效率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268117" y="1396157"/>
            <a:ext cx="2607766" cy="2287488"/>
          </a:xfrm>
          <a:prstGeom prst="roundRect">
            <a:avLst>
              <a:gd name="adj" fmla="val 4442"/>
            </a:avLst>
          </a:prstGeom>
          <a:solidFill>
            <a:srgbClr val="181B2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3436349" y="1891457"/>
            <a:ext cx="2271302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2400"/>
              </a:spcBef>
              <a:spcAft>
                <a:spcPts val="800"/>
              </a:spcAft>
              <a:buNone/>
            </a:pPr>
            <a:r>
              <a:rPr lang="en-US" sz="2400" dirty="0">
                <a:solidFill>
                  <a:srgbClr val="B165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3436349" y="2421582"/>
            <a:ext cx="2271302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1400"/>
              </a:spcBef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B165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选择性重计算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436349" y="2808833"/>
            <a:ext cx="2271302" cy="3631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430"/>
              </a:lnSpc>
              <a:spcBef>
                <a:spcPts val="1100"/>
              </a:spcBef>
              <a:spcAft>
                <a:spcPts val="1100"/>
              </a:spcAft>
              <a:buNone/>
            </a:pPr>
            <a:r>
              <a:rPr lang="en-US" sz="11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Selective Recomputation</a:t>
            </a:r>
            <a:endParaRPr lang="en-US" sz="1100" dirty="0"/>
          </a:p>
          <a:p>
            <a:pPr algn="ctr" indent="0" marL="0">
              <a:lnSpc>
                <a:spcPts val="1430"/>
              </a:lnSpc>
              <a:spcBef>
                <a:spcPts val="1100"/>
              </a:spcBef>
              <a:spcAft>
                <a:spcPts val="1100"/>
              </a:spcAft>
              <a:buNone/>
            </a:pPr>
            <a:r>
              <a:rPr lang="en-US" sz="11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优化显存使用，平衡计算与存储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028283" y="1396157"/>
            <a:ext cx="2607766" cy="2287488"/>
          </a:xfrm>
          <a:prstGeom prst="roundRect">
            <a:avLst>
              <a:gd name="adj" fmla="val 4442"/>
            </a:avLst>
          </a:prstGeom>
          <a:solidFill>
            <a:srgbClr val="181B2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6196516" y="1891457"/>
            <a:ext cx="2271302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2400"/>
              </a:spcBef>
              <a:spcAft>
                <a:spcPts val="800"/>
              </a:spcAft>
              <a:buNone/>
            </a:pPr>
            <a:r>
              <a:rPr lang="en-US" sz="2400" dirty="0">
                <a:solidFill>
                  <a:srgbClr val="B165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6196516" y="2421582"/>
            <a:ext cx="2271302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1400"/>
              </a:spcBef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B165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DualPipe扩展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196516" y="2808833"/>
            <a:ext cx="2271302" cy="3631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430"/>
              </a:lnSpc>
              <a:spcBef>
                <a:spcPts val="1100"/>
              </a:spcBef>
              <a:spcAft>
                <a:spcPts val="1100"/>
              </a:spcAft>
              <a:buNone/>
            </a:pPr>
            <a:r>
              <a:rPr lang="en-US" sz="11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Extended DualPipe</a:t>
            </a:r>
            <a:endParaRPr lang="en-US" sz="1100" dirty="0"/>
          </a:p>
          <a:p>
            <a:pPr algn="ctr" indent="0" marL="0">
              <a:lnSpc>
                <a:spcPts val="1430"/>
              </a:lnSpc>
              <a:spcBef>
                <a:spcPts val="1100"/>
              </a:spcBef>
              <a:spcAft>
                <a:spcPts val="1100"/>
              </a:spcAft>
              <a:buNone/>
            </a:pPr>
            <a:r>
              <a:rPr lang="en-US" sz="11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通信计算重叠策略，提升并行效率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76200"/>
          </a:xfrm>
          <a:prstGeom prst="rect">
            <a:avLst/>
          </a:prstGeom>
          <a:solidFill>
            <a:srgbClr val="B165F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546050" y="381000"/>
            <a:ext cx="0" cy="428625"/>
          </a:xfrm>
          <a:prstGeom prst="line">
            <a:avLst/>
          </a:prstGeom>
          <a:noFill/>
          <a:ln w="76200">
            <a:solidFill>
              <a:srgbClr val="B165F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74650" y="381000"/>
            <a:ext cx="8018627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81B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实验结果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07950" y="1000125"/>
            <a:ext cx="2582317" cy="2663577"/>
          </a:xfrm>
          <a:prstGeom prst="roundRect">
            <a:avLst>
              <a:gd name="adj" fmla="val 3934"/>
            </a:avLst>
          </a:prstGeom>
          <a:solidFill>
            <a:srgbClr val="F8F9FA"/>
          </a:solidFill>
          <a:ln w="19050">
            <a:solidFill>
              <a:srgbClr val="E0E0E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695868" y="1615976"/>
            <a:ext cx="2206481" cy="466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3200"/>
              </a:spcBef>
              <a:spcAft>
                <a:spcPts val="3200"/>
              </a:spcAft>
              <a:buNone/>
            </a:pPr>
            <a:r>
              <a:rPr lang="en-US" sz="3200" b="1" dirty="0">
                <a:solidFill>
                  <a:srgbClr val="B165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n=4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695868" y="2489002"/>
            <a:ext cx="220648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1300"/>
              </a:spcBef>
              <a:spcAft>
                <a:spcPts val="1300"/>
              </a:spcAft>
              <a:buNone/>
            </a:pPr>
            <a:r>
              <a:rPr lang="en-US" sz="13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扩展倍率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95868" y="2882652"/>
            <a:ext cx="2206481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800"/>
              </a:spcBef>
              <a:spcAft>
                <a:spcPts val="1200"/>
              </a:spcAft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残差流宽度扩展为原来的4倍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280767" y="1000125"/>
            <a:ext cx="2582466" cy="2663577"/>
          </a:xfrm>
          <a:prstGeom prst="roundRect">
            <a:avLst>
              <a:gd name="adj" fmla="val 3934"/>
            </a:avLst>
          </a:prstGeom>
          <a:solidFill>
            <a:srgbClr val="F8F9FA"/>
          </a:solidFill>
          <a:ln w="19050">
            <a:solidFill>
              <a:srgbClr val="E0E0E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3468684" y="1615976"/>
            <a:ext cx="2206633" cy="466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3200"/>
              </a:spcBef>
              <a:spcAft>
                <a:spcPts val="3200"/>
              </a:spcAft>
              <a:buNone/>
            </a:pPr>
            <a:r>
              <a:rPr lang="en-US" sz="3200" b="1" dirty="0">
                <a:solidFill>
                  <a:srgbClr val="B165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6.7%</a:t>
            </a:r>
            <a:endParaRPr lang="en-US" sz="3200" dirty="0"/>
          </a:p>
        </p:txBody>
      </p:sp>
      <p:sp>
        <p:nvSpPr>
          <p:cNvPr id="11" name="Text 9"/>
          <p:cNvSpPr/>
          <p:nvPr/>
        </p:nvSpPr>
        <p:spPr>
          <a:xfrm>
            <a:off x="3468684" y="2489002"/>
            <a:ext cx="220663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1300"/>
              </a:spcBef>
              <a:spcAft>
                <a:spcPts val="1300"/>
              </a:spcAft>
              <a:buNone/>
            </a:pPr>
            <a:r>
              <a:rPr lang="en-US" sz="13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额外开销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468684" y="2882652"/>
            <a:ext cx="2206633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800"/>
              </a:spcBef>
              <a:spcAft>
                <a:spcPts val="1200"/>
              </a:spcAft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仅增加6.7%的训练时间开销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053733" y="1000125"/>
            <a:ext cx="2582317" cy="2663577"/>
          </a:xfrm>
          <a:prstGeom prst="roundRect">
            <a:avLst>
              <a:gd name="adj" fmla="val 3934"/>
            </a:avLst>
          </a:prstGeom>
          <a:solidFill>
            <a:srgbClr val="F8F9FA"/>
          </a:solidFill>
          <a:ln w="19050">
            <a:solidFill>
              <a:srgbClr val="E0E0E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6241651" y="1615976"/>
            <a:ext cx="2206481" cy="466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3200"/>
              </a:spcBef>
              <a:spcAft>
                <a:spcPts val="3200"/>
              </a:spcAft>
              <a:buNone/>
            </a:pPr>
            <a:r>
              <a:rPr lang="en-US" sz="3200" b="1" dirty="0">
                <a:solidFill>
                  <a:srgbClr val="B165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27B</a:t>
            </a:r>
            <a:endParaRPr lang="en-US" sz="3200" dirty="0"/>
          </a:p>
        </p:txBody>
      </p:sp>
      <p:sp>
        <p:nvSpPr>
          <p:cNvPr id="15" name="Text 13"/>
          <p:cNvSpPr/>
          <p:nvPr/>
        </p:nvSpPr>
        <p:spPr>
          <a:xfrm>
            <a:off x="6241651" y="2489002"/>
            <a:ext cx="220648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1300"/>
              </a:spcBef>
              <a:spcAft>
                <a:spcPts val="1300"/>
              </a:spcAft>
              <a:buNone/>
            </a:pPr>
            <a:r>
              <a:rPr lang="en-US" sz="13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模型规模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241651" y="2882652"/>
            <a:ext cx="2206481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800"/>
              </a:spcBef>
              <a:spcAft>
                <a:spcPts val="1200"/>
              </a:spcAft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在大规模训练中表现出卓越的可扩展性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07950" y="3854202"/>
            <a:ext cx="8128099" cy="1092101"/>
          </a:xfrm>
          <a:prstGeom prst="roundRect">
            <a:avLst>
              <a:gd name="adj" fmla="val 9303"/>
            </a:avLst>
          </a:prstGeom>
          <a:solidFill>
            <a:srgbClr val="40695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620979" y="4171652"/>
            <a:ext cx="790204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1300"/>
              </a:spcBef>
              <a:spcAft>
                <a:spcPts val="1300"/>
              </a:spcAft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实证表明，mHC 不仅解决了稳定性问题，且在大规模训练中表现出卓越的可扩展性，换来了显著的性能提升。mHC 为基础模型的拓扑架构演进指明了方向。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76200"/>
          </a:xfrm>
          <a:prstGeom prst="rect">
            <a:avLst/>
          </a:prstGeom>
          <a:solidFill>
            <a:srgbClr val="B165F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546050" y="317450"/>
            <a:ext cx="0" cy="352425"/>
          </a:xfrm>
          <a:prstGeom prst="line">
            <a:avLst/>
          </a:prstGeom>
          <a:noFill/>
          <a:ln w="76200">
            <a:solidFill>
              <a:srgbClr val="B165F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74650" y="317450"/>
            <a:ext cx="8018627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81B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独立复现验证：结果比官方更炸裂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507950" y="822275"/>
            <a:ext cx="8290661" cy="1980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60"/>
              </a:lnSpc>
              <a:spcBef>
                <a:spcPts val="1200"/>
              </a:spcBef>
              <a:spcAft>
                <a:spcPts val="800"/>
              </a:spcAft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元旦期间，DeepSeek 发布的 mHC 震撼了整个 AI 社区。更硬核的是：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07950" y="1121866"/>
            <a:ext cx="8128099" cy="787301"/>
          </a:xfrm>
          <a:prstGeom prst="roundRect">
            <a:avLst>
              <a:gd name="adj" fmla="val 9679"/>
            </a:avLst>
          </a:prstGeom>
          <a:solidFill>
            <a:srgbClr val="181B2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634901" y="1401217"/>
            <a:ext cx="803168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1300" b="1" dirty="0">
                <a:solidFill>
                  <a:srgbClr val="B165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FlowMode 工程师 Taylor Kolasinski</a:t>
            </a:r>
            <a:pPr algn="l" indent="0" mar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宣布成功复现了 mHC，并且取得了比 DeepSeek 原始论文更好的成绩！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07950" y="2010668"/>
            <a:ext cx="8290661" cy="1980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60"/>
              </a:lnSpc>
              <a:spcBef>
                <a:spcPts val="800"/>
              </a:spcBef>
              <a:spcAft>
                <a:spcPts val="800"/>
              </a:spcAft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使用 </a:t>
            </a:r>
            <a:pPr algn="l" indent="0" marL="0">
              <a:lnSpc>
                <a:spcPts val="1560"/>
              </a:lnSpc>
              <a:spcBef>
                <a:spcPts val="800"/>
              </a:spcBef>
              <a:spcAft>
                <a:spcPts val="800"/>
              </a:spcAft>
              <a:buNone/>
            </a:pPr>
            <a:r>
              <a:rPr lang="en-US" sz="12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8张 H100</a:t>
            </a:r>
            <a:pPr algn="l" indent="0" marL="0">
              <a:lnSpc>
                <a:spcPts val="1560"/>
              </a:lnSpc>
              <a:spcBef>
                <a:spcPts val="800"/>
              </a:spcBef>
              <a:spcAft>
                <a:spcPts val="800"/>
              </a:spcAft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进行实验，信号放大倍数对比：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07950" y="2335709"/>
            <a:ext cx="3987850" cy="1561951"/>
          </a:xfrm>
          <a:prstGeom prst="roundRect">
            <a:avLst>
              <a:gd name="adj" fmla="val 4879"/>
            </a:avLst>
          </a:prstGeom>
          <a:solidFill>
            <a:srgbClr val="F5F5F5"/>
          </a:solidFill>
          <a:ln w="19050">
            <a:solidFill>
              <a:srgbClr val="999999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616992" y="2786509"/>
            <a:ext cx="3769766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2400"/>
              </a:spcBef>
              <a:spcAft>
                <a:spcPts val="2400"/>
              </a:spcAft>
              <a:buNone/>
            </a:pPr>
            <a:r>
              <a:rPr lang="en-US" sz="2400" b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3,000x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616992" y="3443734"/>
            <a:ext cx="3769766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400"/>
              </a:spcBef>
              <a:spcAft>
                <a:spcPts val="1000"/>
              </a:spcAft>
              <a:buNone/>
            </a:pPr>
            <a:r>
              <a:rPr lang="en-US" sz="10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DeepSeek 官方报告 Amax 峰值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648200" y="2335709"/>
            <a:ext cx="3987850" cy="1561951"/>
          </a:xfrm>
          <a:prstGeom prst="roundRect">
            <a:avLst>
              <a:gd name="adj" fmla="val 4879"/>
            </a:avLst>
          </a:prstGeom>
          <a:solidFill>
            <a:srgbClr val="F0FFF0"/>
          </a:solidFill>
          <a:ln w="19050">
            <a:solidFill>
              <a:srgbClr val="40695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4757242" y="2786509"/>
            <a:ext cx="3769766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2400"/>
              </a:spcBef>
              <a:spcAft>
                <a:spcPts val="2400"/>
              </a:spcAft>
              <a:buNone/>
            </a:pPr>
            <a:r>
              <a:rPr lang="en-US" sz="2400" b="1" dirty="0">
                <a:solidFill>
                  <a:srgbClr val="4069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10,924x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4757242" y="3443734"/>
            <a:ext cx="3769766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400"/>
              </a:spcBef>
              <a:spcAft>
                <a:spcPts val="1000"/>
              </a:spcAft>
              <a:buNone/>
            </a:pPr>
            <a:r>
              <a:rPr lang="en-US" sz="10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Taylor 复现结果 信号放大倍数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26669" y="4024610"/>
            <a:ext cx="8290661" cy="1980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560"/>
              </a:lnSpc>
              <a:spcBef>
                <a:spcPts val="800"/>
              </a:spcBef>
              <a:spcAft>
                <a:spcPts val="800"/>
              </a:spcAft>
              <a:buNone/>
            </a:pPr>
            <a:r>
              <a:rPr lang="en-US" sz="1200" b="1" dirty="0">
                <a:solidFill>
                  <a:srgbClr val="4069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远远超过 DeepSeek 论文中的 3000 倍！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76200"/>
          </a:xfrm>
          <a:prstGeom prst="rect">
            <a:avLst/>
          </a:prstGeom>
          <a:solidFill>
            <a:srgbClr val="B165F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546050" y="381000"/>
            <a:ext cx="0" cy="390525"/>
          </a:xfrm>
          <a:prstGeom prst="line">
            <a:avLst/>
          </a:prstGeom>
          <a:noFill/>
          <a:ln w="76200">
            <a:solidFill>
              <a:srgbClr val="B165F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74650" y="381000"/>
            <a:ext cx="8018627" cy="390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81B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复现实验细节：HC爆炸 vs mHC稳定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507950" y="923925"/>
            <a:ext cx="3968800" cy="3354586"/>
          </a:xfrm>
          <a:prstGeom prst="roundRect">
            <a:avLst>
              <a:gd name="adj" fmla="val 3029"/>
            </a:avLst>
          </a:prstGeom>
          <a:solidFill>
            <a:srgbClr val="FFF5F5"/>
          </a:solidFill>
          <a:ln w="19050">
            <a:solidFill>
              <a:srgbClr val="E74C3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679400" y="1273076"/>
            <a:ext cx="3698418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400"/>
              </a:spcBef>
              <a:spcAft>
                <a:spcPts val="800"/>
              </a:spcAft>
              <a:buNone/>
            </a:pPr>
            <a:r>
              <a:rPr lang="en-US" sz="1400" b="1" dirty="0">
                <a:solidFill>
                  <a:srgbClr val="E74C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HC: 信号爆炸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79400" y="1673126"/>
            <a:ext cx="3698418" cy="4265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在激进的学习率下，作者的复现实验中超连接（HC）的信号放大达到了 </a:t>
            </a:r>
            <a:pPr algn="l" indent="0" marL="0">
              <a:lnSpc>
                <a:spcPts val="168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12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 倍</a:t>
            </a:r>
            <a:pPr algn="l" indent="0" marL="0">
              <a:lnSpc>
                <a:spcPts val="168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，随后最终崩溃。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79400" y="2252067"/>
            <a:ext cx="3698418" cy="4265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800"/>
              </a:spcBef>
              <a:spcAft>
                <a:spcPts val="1200"/>
              </a:spcAft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Amax（行和列绝对值的最大值）衡量了一个矩阵能将信号放大多少。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79400" y="2831009"/>
            <a:ext cx="3625900" cy="933152"/>
          </a:xfrm>
          <a:prstGeom prst="roundRect">
            <a:avLst>
              <a:gd name="adj" fmla="val 8166"/>
            </a:avLst>
          </a:prstGeom>
          <a:solidFill>
            <a:srgbClr val="F5F5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Shape 8"/>
          <p:cNvSpPr/>
          <p:nvPr/>
        </p:nvSpPr>
        <p:spPr>
          <a:xfrm>
            <a:off x="703213" y="2831009"/>
            <a:ext cx="0" cy="933152"/>
          </a:xfrm>
          <a:prstGeom prst="line">
            <a:avLst/>
          </a:prstGeom>
          <a:noFill/>
          <a:ln w="47625">
            <a:solidFill>
              <a:srgbClr val="99999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53976" y="3097560"/>
            <a:ext cx="3390861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100"/>
              </a:spcBef>
              <a:spcAft>
                <a:spcPts val="1100"/>
              </a:spcAft>
              <a:buNone/>
            </a:pPr>
            <a:r>
              <a:rPr lang="en-US" sz="1100" i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「Amax 增益幅度产生了极值，峰值达到 3000」— DeepSeek 在 27B 参数下观察到的情况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667250" y="923925"/>
            <a:ext cx="3968800" cy="3354586"/>
          </a:xfrm>
          <a:prstGeom prst="roundRect">
            <a:avLst>
              <a:gd name="adj" fmla="val 3029"/>
            </a:avLst>
          </a:prstGeom>
          <a:solidFill>
            <a:srgbClr val="F0FFF0"/>
          </a:solidFill>
          <a:ln w="19050">
            <a:solidFill>
              <a:srgbClr val="40695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4838700" y="1273076"/>
            <a:ext cx="3698418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400"/>
              </a:spcBef>
              <a:spcAft>
                <a:spcPts val="800"/>
              </a:spcAft>
              <a:buNone/>
            </a:pPr>
            <a:r>
              <a:rPr lang="en-US" sz="1400" b="1" dirty="0">
                <a:solidFill>
                  <a:srgbClr val="4069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mHC: 保持稳定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838700" y="1673126"/>
            <a:ext cx="3698418" cy="4265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mHC 通过将连接矩阵约束在双拟随机矩阵流形上，从数学上保证了信号的稳定传播。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838700" y="2252067"/>
            <a:ext cx="3698418" cy="4265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800"/>
              </a:spcBef>
              <a:spcAft>
                <a:spcPts val="1200"/>
              </a:spcAft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即使在极端条件下（10924倍信号放大），mHC 依然保持训练稳定。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838700" y="2831009"/>
            <a:ext cx="3625900" cy="933152"/>
          </a:xfrm>
          <a:prstGeom prst="roundRect">
            <a:avLst>
              <a:gd name="adj" fmla="val 8166"/>
            </a:avLst>
          </a:prstGeom>
          <a:solidFill>
            <a:srgbClr val="F5F5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Shape 15"/>
          <p:cNvSpPr/>
          <p:nvPr/>
        </p:nvSpPr>
        <p:spPr>
          <a:xfrm>
            <a:off x="4862513" y="2831009"/>
            <a:ext cx="0" cy="933152"/>
          </a:xfrm>
          <a:prstGeom prst="line">
            <a:avLst/>
          </a:prstGeom>
          <a:noFill/>
          <a:ln w="47625">
            <a:solidFill>
              <a:srgbClr val="40695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013275" y="3097560"/>
            <a:ext cx="3390861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100"/>
              </a:spcBef>
              <a:spcAft>
                <a:spcPts val="1100"/>
              </a:spcAft>
              <a:buNone/>
            </a:pPr>
            <a:r>
              <a:rPr lang="en-US" sz="1100" i="1" dirty="0">
                <a:solidFill>
                  <a:srgbClr val="4069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「这就是为什么 Transformer 可以深达数百层：梯度有一条干净的向后路径。简单。稳定。」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76200"/>
          </a:xfrm>
          <a:prstGeom prst="rect">
            <a:avLst/>
          </a:prstGeom>
          <a:solidFill>
            <a:srgbClr val="B165F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546050" y="381000"/>
            <a:ext cx="0" cy="428625"/>
          </a:xfrm>
          <a:prstGeom prst="line">
            <a:avLst/>
          </a:prstGeom>
          <a:noFill/>
          <a:ln w="76200">
            <a:solidFill>
              <a:srgbClr val="B165F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74650" y="381000"/>
            <a:ext cx="8018627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81B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总结与展望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07950" y="962025"/>
            <a:ext cx="279350" cy="279350"/>
          </a:xfrm>
          <a:prstGeom prst="roundRect">
            <a:avLst>
              <a:gd name="adj" fmla="val 327331"/>
            </a:avLst>
          </a:prstGeom>
          <a:solidFill>
            <a:srgbClr val="40695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608707" y="1025426"/>
            <a:ext cx="79242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914251" y="1127075"/>
            <a:ext cx="6332836" cy="2309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20"/>
              </a:lnSpc>
              <a:spcBef>
                <a:spcPts val="1300"/>
              </a:spcBef>
              <a:spcAft>
                <a:spcPts val="1300"/>
              </a:spcAft>
              <a:buNone/>
            </a:pPr>
            <a:r>
              <a:rPr lang="en-US" sz="1300" b="1" dirty="0">
                <a:solidFill>
                  <a:srgbClr val="B165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mHC</a:t>
            </a:r>
            <a:pPr algn="l" indent="0" marL="0">
              <a:lnSpc>
                <a:spcPts val="1820"/>
              </a:lnSpc>
              <a:spcBef>
                <a:spcPts val="1300"/>
              </a:spcBef>
              <a:spcAft>
                <a:spcPts val="1300"/>
              </a:spcAft>
              <a:buNone/>
            </a:pPr>
            <a:r>
              <a:rPr lang="en-US" sz="13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为基础模型的拓扑架构演进指明了方向，是对残差连接十年来最重要的改进之一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07950" y="1650057"/>
            <a:ext cx="279350" cy="279350"/>
          </a:xfrm>
          <a:prstGeom prst="roundRect">
            <a:avLst>
              <a:gd name="adj" fmla="val 327331"/>
            </a:avLst>
          </a:prstGeom>
          <a:solidFill>
            <a:srgbClr val="40695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608707" y="1713458"/>
            <a:ext cx="79242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914251" y="1815108"/>
            <a:ext cx="6424223" cy="2309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20"/>
              </a:lnSpc>
              <a:spcBef>
                <a:spcPts val="1300"/>
              </a:spcBef>
              <a:spcAft>
                <a:spcPts val="1300"/>
              </a:spcAft>
              <a:buNone/>
            </a:pPr>
            <a:r>
              <a:rPr lang="en-US" sz="13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通过</a:t>
            </a:r>
            <a:pPr algn="l" indent="0" marL="0">
              <a:lnSpc>
                <a:spcPts val="1820"/>
              </a:lnSpc>
              <a:spcBef>
                <a:spcPts val="1300"/>
              </a:spcBef>
              <a:spcAft>
                <a:spcPts val="1300"/>
              </a:spcAft>
              <a:buNone/>
            </a:pPr>
            <a:r>
              <a:rPr lang="en-US" sz="1300" b="1" dirty="0">
                <a:solidFill>
                  <a:srgbClr val="B165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流形约束</a:t>
            </a:r>
            <a:pPr algn="l" indent="0" marL="0">
              <a:lnSpc>
                <a:spcPts val="1820"/>
              </a:lnSpc>
              <a:spcBef>
                <a:spcPts val="1300"/>
              </a:spcBef>
              <a:spcAft>
                <a:spcPts val="1300"/>
              </a:spcAft>
              <a:buNone/>
            </a:pPr>
            <a:r>
              <a:rPr lang="en-US" sz="13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解决了HC的数值不稳定性问题，同时保留了"加宽残差流"带来的性能提升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07950" y="2338090"/>
            <a:ext cx="279350" cy="279350"/>
          </a:xfrm>
          <a:prstGeom prst="roundRect">
            <a:avLst>
              <a:gd name="adj" fmla="val 327331"/>
            </a:avLst>
          </a:prstGeom>
          <a:solidFill>
            <a:srgbClr val="40695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608707" y="2401491"/>
            <a:ext cx="79242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914251" y="2503140"/>
            <a:ext cx="4565526" cy="2309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20"/>
              </a:lnSpc>
              <a:spcBef>
                <a:spcPts val="1300"/>
              </a:spcBef>
              <a:spcAft>
                <a:spcPts val="1300"/>
              </a:spcAft>
              <a:buNone/>
            </a:pPr>
            <a:r>
              <a:rPr lang="en-US" sz="13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在</a:t>
            </a:r>
            <a:pPr algn="l" indent="0" marL="0">
              <a:lnSpc>
                <a:spcPts val="1820"/>
              </a:lnSpc>
              <a:spcBef>
                <a:spcPts val="1300"/>
              </a:spcBef>
              <a:spcAft>
                <a:spcPts val="1300"/>
              </a:spcAft>
              <a:buNone/>
            </a:pPr>
            <a:r>
              <a:rPr lang="en-US" sz="1300" b="1" dirty="0">
                <a:solidFill>
                  <a:srgbClr val="B165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27B参数</a:t>
            </a:r>
            <a:pPr algn="l" indent="0" marL="0">
              <a:lnSpc>
                <a:spcPts val="1820"/>
              </a:lnSpc>
              <a:spcBef>
                <a:spcPts val="1300"/>
              </a:spcBef>
              <a:spcAft>
                <a:spcPts val="1300"/>
              </a:spcAft>
              <a:buNone/>
            </a:pPr>
            <a:r>
              <a:rPr lang="en-US" sz="13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规模下验证了可扩展性，仅增加</a:t>
            </a:r>
            <a:pPr algn="l" indent="0" marL="0">
              <a:lnSpc>
                <a:spcPts val="1820"/>
              </a:lnSpc>
              <a:spcBef>
                <a:spcPts val="1300"/>
              </a:spcBef>
              <a:spcAft>
                <a:spcPts val="1300"/>
              </a:spcAft>
              <a:buNone/>
            </a:pPr>
            <a:r>
              <a:rPr lang="en-US" sz="1300" b="1" dirty="0">
                <a:solidFill>
                  <a:srgbClr val="B165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6.7%</a:t>
            </a:r>
            <a:pPr algn="l" indent="0" marL="0">
              <a:lnSpc>
                <a:spcPts val="1820"/>
              </a:lnSpc>
              <a:spcBef>
                <a:spcPts val="1300"/>
              </a:spcBef>
              <a:spcAft>
                <a:spcPts val="1300"/>
              </a:spcAft>
              <a:buNone/>
            </a:pPr>
            <a:r>
              <a:rPr lang="en-US" sz="13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训练时间开销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07950" y="3026122"/>
            <a:ext cx="279350" cy="279350"/>
          </a:xfrm>
          <a:prstGeom prst="roundRect">
            <a:avLst>
              <a:gd name="adj" fmla="val 327331"/>
            </a:avLst>
          </a:prstGeom>
          <a:solidFill>
            <a:srgbClr val="40695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608707" y="3089523"/>
            <a:ext cx="79242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914251" y="3191173"/>
            <a:ext cx="5397871" cy="2309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20"/>
              </a:lnSpc>
              <a:spcBef>
                <a:spcPts val="1300"/>
              </a:spcBef>
              <a:spcAft>
                <a:spcPts val="1300"/>
              </a:spcAft>
              <a:buNone/>
            </a:pPr>
            <a:r>
              <a:rPr lang="en-US" sz="13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独立复现验证了mHC的有效性：在</a:t>
            </a:r>
            <a:pPr algn="l" indent="0" marL="0">
              <a:lnSpc>
                <a:spcPts val="1820"/>
              </a:lnSpc>
              <a:spcBef>
                <a:spcPts val="1300"/>
              </a:spcBef>
              <a:spcAft>
                <a:spcPts val="1300"/>
              </a:spcAft>
              <a:buNone/>
            </a:pPr>
            <a:r>
              <a:rPr lang="en-US" sz="1300" b="1" dirty="0">
                <a:solidFill>
                  <a:srgbClr val="B165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10924倍信号放大</a:t>
            </a:r>
            <a:pPr algn="l" indent="0" marL="0">
              <a:lnSpc>
                <a:spcPts val="1820"/>
              </a:lnSpc>
              <a:spcBef>
                <a:spcPts val="1300"/>
              </a:spcBef>
              <a:spcAft>
                <a:spcPts val="1300"/>
              </a:spcAft>
              <a:buNone/>
            </a:pPr>
            <a:r>
              <a:rPr lang="en-US" sz="13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下依然保持训练稳定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507950" y="3739604"/>
            <a:ext cx="8128099" cy="1177677"/>
          </a:xfrm>
          <a:prstGeom prst="roundRect">
            <a:avLst>
              <a:gd name="adj" fmla="val 8627"/>
            </a:avLst>
          </a:prstGeom>
          <a:solidFill>
            <a:srgbClr val="181B2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620979" y="4057055"/>
            <a:ext cx="790204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1300"/>
              </a:spcBef>
              <a:spcAft>
                <a:spcPts val="800"/>
              </a:spcAft>
              <a:buNone/>
            </a:pPr>
            <a:r>
              <a:rPr lang="en-US" sz="13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「接棒何恺明残差连接，稳固AI的"地基"」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20979" y="4425255"/>
            <a:ext cx="7902041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1100"/>
              </a:spcBef>
              <a:spcAft>
                <a:spcPts val="1100"/>
              </a:spcAft>
              <a:buNone/>
            </a:pPr>
            <a:r>
              <a:rPr lang="en-US" sz="1100" dirty="0">
                <a:solidFill>
                  <a:srgbClr val="B165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论文地址: https://arxiv.org/pdf/2512.24880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DeepSeek mHC: 流形约束超连接</dc:title>
  <dc:subject>Manifold-Constrained Hyper-Connections 技术介绍</dc:subject>
  <dc:creator>DeepSeek</dc:creator>
  <cp:lastModifiedBy>DeepSeek</cp:lastModifiedBy>
  <cp:revision>1</cp:revision>
  <dcterms:created xsi:type="dcterms:W3CDTF">2026-02-08T23:22:59Z</dcterms:created>
  <dcterms:modified xsi:type="dcterms:W3CDTF">2026-02-08T23:22:59Z</dcterms:modified>
</cp:coreProperties>
</file>