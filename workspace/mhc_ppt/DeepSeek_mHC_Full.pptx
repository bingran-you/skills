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B24"/>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B165FB"/>
          </a:solidFill>
          <a:ln/>
        </p:spPr>
        <p:txBody>
          <a:bodyPr wrap="square" rtlCol="0" anchor="ctr"/>
          <a:lstStyle/>
          <a:p>
            <a:pPr indent="0" marL="0">
              <a:buNone/>
            </a:pPr>
            <a:endParaRPr lang="en-US" dirty="0"/>
          </a:p>
        </p:txBody>
      </p:sp>
      <p:sp>
        <p:nvSpPr>
          <p:cNvPr id="3" name="Text 1"/>
          <p:cNvSpPr/>
          <p:nvPr/>
        </p:nvSpPr>
        <p:spPr>
          <a:xfrm>
            <a:off x="2192764" y="1212205"/>
            <a:ext cx="4758622" cy="561975"/>
          </a:xfrm>
          <a:prstGeom prst="rect">
            <a:avLst/>
          </a:prstGeom>
          <a:noFill/>
          <a:ln/>
        </p:spPr>
        <p:txBody>
          <a:bodyPr wrap="square" lIns="0" tIns="0" rIns="0" bIns="0" rtlCol="0" anchor="t"/>
          <a:lstStyle/>
          <a:p>
            <a:pPr algn="ctr" indent="0" marL="0">
              <a:spcBef>
                <a:spcPts val="2546"/>
              </a:spcBef>
              <a:spcAft>
                <a:spcPts val="1200"/>
              </a:spcAft>
              <a:buNone/>
            </a:pPr>
            <a:r>
              <a:rPr lang="en-US" sz="3800" b="1" dirty="0">
                <a:solidFill>
                  <a:srgbClr val="FFFFFF"/>
                </a:solidFill>
                <a:latin typeface="Arial" pitchFamily="34" charset="0"/>
                <a:ea typeface="Arial" pitchFamily="34" charset="-122"/>
                <a:cs typeface="Arial" pitchFamily="34" charset="-120"/>
              </a:rPr>
              <a:t>DeepSeek mHC</a:t>
            </a:r>
            <a:endParaRPr lang="en-US" sz="3800" dirty="0"/>
          </a:p>
        </p:txBody>
      </p:sp>
      <p:sp>
        <p:nvSpPr>
          <p:cNvPr id="4" name="Text 2"/>
          <p:cNvSpPr/>
          <p:nvPr/>
        </p:nvSpPr>
        <p:spPr>
          <a:xfrm>
            <a:off x="2192764" y="2028081"/>
            <a:ext cx="4758622" cy="295275"/>
          </a:xfrm>
          <a:prstGeom prst="rect">
            <a:avLst/>
          </a:prstGeom>
          <a:noFill/>
          <a:ln/>
        </p:spPr>
        <p:txBody>
          <a:bodyPr wrap="square" lIns="0" tIns="0" rIns="0" bIns="0" rtlCol="0" anchor="t"/>
          <a:lstStyle/>
          <a:p>
            <a:pPr algn="ctr" indent="0" marL="0">
              <a:spcBef>
                <a:spcPts val="2000"/>
              </a:spcBef>
              <a:spcAft>
                <a:spcPts val="1200"/>
              </a:spcAft>
              <a:buNone/>
            </a:pPr>
            <a:r>
              <a:rPr lang="en-US" sz="2000" dirty="0">
                <a:solidFill>
                  <a:srgbClr val="B165FB"/>
                </a:solidFill>
                <a:latin typeface="Arial" pitchFamily="34" charset="0"/>
                <a:ea typeface="Arial" pitchFamily="34" charset="-122"/>
                <a:cs typeface="Arial" pitchFamily="34" charset="-120"/>
              </a:rPr>
              <a:t>Manifold-Constrained Hyper-Connections</a:t>
            </a:r>
            <a:endParaRPr lang="en-US" sz="2000" dirty="0"/>
          </a:p>
        </p:txBody>
      </p:sp>
      <p:sp>
        <p:nvSpPr>
          <p:cNvPr id="5" name="Text 3"/>
          <p:cNvSpPr/>
          <p:nvPr/>
        </p:nvSpPr>
        <p:spPr>
          <a:xfrm>
            <a:off x="2192764" y="2551956"/>
            <a:ext cx="4758622" cy="314325"/>
          </a:xfrm>
          <a:prstGeom prst="rect">
            <a:avLst/>
          </a:prstGeom>
          <a:noFill/>
          <a:ln/>
        </p:spPr>
        <p:txBody>
          <a:bodyPr wrap="square" lIns="0" tIns="0" rIns="0" bIns="0" rtlCol="0" anchor="t"/>
          <a:lstStyle/>
          <a:p>
            <a:pPr algn="ctr" indent="0" marL="0">
              <a:spcBef>
                <a:spcPts val="1800"/>
              </a:spcBef>
              <a:spcAft>
                <a:spcPts val="2000"/>
              </a:spcAft>
              <a:buNone/>
            </a:pPr>
            <a:r>
              <a:rPr lang="en-US" sz="1800" dirty="0">
                <a:solidFill>
                  <a:srgbClr val="FFFFFF"/>
                </a:solidFill>
                <a:latin typeface="Arial" pitchFamily="34" charset="0"/>
                <a:ea typeface="Arial" pitchFamily="34" charset="-122"/>
                <a:cs typeface="Arial" pitchFamily="34" charset="-120"/>
              </a:rPr>
              <a:t>流形约束超连接：开启Transformer架构新篇章</a:t>
            </a:r>
            <a:endParaRPr lang="en-US" sz="1800" dirty="0"/>
          </a:p>
        </p:txBody>
      </p:sp>
      <p:sp>
        <p:nvSpPr>
          <p:cNvPr id="6" name="Text 4"/>
          <p:cNvSpPr/>
          <p:nvPr/>
        </p:nvSpPr>
        <p:spPr>
          <a:xfrm>
            <a:off x="2192764" y="3120182"/>
            <a:ext cx="4758622" cy="209550"/>
          </a:xfrm>
          <a:prstGeom prst="rect">
            <a:avLst/>
          </a:prstGeom>
          <a:noFill/>
          <a:ln/>
        </p:spPr>
        <p:txBody>
          <a:bodyPr wrap="square" lIns="0" tIns="0" rIns="0" bIns="0" rtlCol="0" anchor="t"/>
          <a:lstStyle/>
          <a:p>
            <a:pPr algn="ctr" indent="0" marL="0">
              <a:spcBef>
                <a:spcPts val="1200"/>
              </a:spcBef>
              <a:spcAft>
                <a:spcPts val="1500"/>
              </a:spcAft>
              <a:buNone/>
            </a:pPr>
            <a:r>
              <a:rPr lang="en-US" sz="1200" dirty="0">
                <a:solidFill>
                  <a:srgbClr val="888888"/>
                </a:solidFill>
                <a:latin typeface="Arial" pitchFamily="34" charset="0"/>
                <a:ea typeface="Arial" pitchFamily="34" charset="-122"/>
                <a:cs typeface="Arial" pitchFamily="34" charset="-120"/>
              </a:rPr>
              <a:t>梁文锋署名 | 2026年元旦发布</a:t>
            </a:r>
            <a:endParaRPr lang="en-US" sz="1200" dirty="0"/>
          </a:p>
        </p:txBody>
      </p:sp>
      <p:sp>
        <p:nvSpPr>
          <p:cNvPr id="7" name="Text 5"/>
          <p:cNvSpPr/>
          <p:nvPr/>
        </p:nvSpPr>
        <p:spPr>
          <a:xfrm>
            <a:off x="2192764" y="3520232"/>
            <a:ext cx="4758622" cy="142875"/>
          </a:xfrm>
          <a:prstGeom prst="rect">
            <a:avLst/>
          </a:prstGeom>
          <a:noFill/>
          <a:ln/>
        </p:spPr>
        <p:txBody>
          <a:bodyPr wrap="square" lIns="0" tIns="0" rIns="0" bIns="0" rtlCol="0" anchor="t"/>
          <a:lstStyle/>
          <a:p>
            <a:pPr algn="ctr" indent="0" marL="0">
              <a:spcBef>
                <a:spcPts val="1000"/>
              </a:spcBef>
              <a:spcAft>
                <a:spcPts val="1000"/>
              </a:spcAft>
              <a:buNone/>
            </a:pPr>
            <a:r>
              <a:rPr lang="en-US" sz="1000" dirty="0">
                <a:solidFill>
                  <a:srgbClr val="B165FB"/>
                </a:solidFill>
                <a:latin typeface="Arial" pitchFamily="34" charset="0"/>
                <a:ea typeface="Arial" pitchFamily="34" charset="-122"/>
                <a:cs typeface="Arial" pitchFamily="34" charset="-120"/>
              </a:rPr>
              <a:t>https://arxiv.org/pdf/2512.24880</a:t>
            </a:r>
            <a:endParaRPr lang="en-US" sz="1000" dirty="0"/>
          </a:p>
        </p:txBody>
      </p:sp>
      <p:sp>
        <p:nvSpPr>
          <p:cNvPr id="8" name="Text 6"/>
          <p:cNvSpPr/>
          <p:nvPr/>
        </p:nvSpPr>
        <p:spPr>
          <a:xfrm>
            <a:off x="3915668" y="3980557"/>
            <a:ext cx="1312813" cy="323850"/>
          </a:xfrm>
          <a:prstGeom prst="roundRect">
            <a:avLst>
              <a:gd name="adj" fmla="val 15686"/>
            </a:avLst>
          </a:prstGeom>
          <a:solidFill>
            <a:srgbClr val="40695B"/>
          </a:solidFill>
          <a:ln/>
        </p:spPr>
        <p:txBody>
          <a:bodyPr wrap="square" rtlCol="0" anchor="ctr"/>
          <a:lstStyle/>
          <a:p>
            <a:pPr indent="0" marL="0">
              <a:buNone/>
            </a:pPr>
            <a:endParaRPr lang="en-US" dirty="0"/>
          </a:p>
        </p:txBody>
      </p:sp>
      <p:sp>
        <p:nvSpPr>
          <p:cNvPr id="9" name="Text 7"/>
          <p:cNvSpPr/>
          <p:nvPr/>
        </p:nvSpPr>
        <p:spPr>
          <a:xfrm>
            <a:off x="4096850" y="4056757"/>
            <a:ext cx="950449" cy="171450"/>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DeepSeek-AI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B165FB"/>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论文概览</a:t>
            </a:r>
            <a:endParaRPr lang="en-US" sz="2200" dirty="0"/>
          </a:p>
        </p:txBody>
      </p:sp>
      <p:sp>
        <p:nvSpPr>
          <p:cNvPr id="5" name="Text 3"/>
          <p:cNvSpPr/>
          <p:nvPr/>
        </p:nvSpPr>
        <p:spPr>
          <a:xfrm>
            <a:off x="507950" y="860375"/>
            <a:ext cx="8128099" cy="949226"/>
          </a:xfrm>
          <a:prstGeom prst="roundRect">
            <a:avLst>
              <a:gd name="adj" fmla="val 8028"/>
            </a:avLst>
          </a:prstGeom>
          <a:solidFill>
            <a:srgbClr val="181B24"/>
          </a:solidFill>
          <a:ln/>
        </p:spPr>
        <p:txBody>
          <a:bodyPr wrap="square" rtlCol="0" anchor="ctr"/>
          <a:lstStyle/>
          <a:p>
            <a:pPr indent="0" marL="0">
              <a:buNone/>
            </a:pPr>
            <a:endParaRPr lang="en-US" dirty="0"/>
          </a:p>
        </p:txBody>
      </p:sp>
      <p:sp>
        <p:nvSpPr>
          <p:cNvPr id="6" name="Text 4"/>
          <p:cNvSpPr/>
          <p:nvPr/>
        </p:nvSpPr>
        <p:spPr>
          <a:xfrm>
            <a:off x="698450" y="1215926"/>
            <a:ext cx="7902041" cy="238125"/>
          </a:xfrm>
          <a:prstGeom prst="rect">
            <a:avLst/>
          </a:prstGeom>
          <a:noFill/>
          <a:ln/>
        </p:spPr>
        <p:txBody>
          <a:bodyPr wrap="square" lIns="0" tIns="0" rIns="0" bIns="0" rtlCol="0" anchor="t"/>
          <a:lstStyle/>
          <a:p>
            <a:pPr algn="l" indent="0" marL="0">
              <a:spcBef>
                <a:spcPts val="1600"/>
              </a:spcBef>
              <a:spcAft>
                <a:spcPts val="1600"/>
              </a:spcAft>
              <a:buNone/>
            </a:pPr>
            <a:r>
              <a:rPr lang="en-US" sz="1600" b="1" i="1" dirty="0">
                <a:solidFill>
                  <a:srgbClr val="B165FB"/>
                </a:solidFill>
                <a:latin typeface="Arial" pitchFamily="34" charset="0"/>
                <a:ea typeface="Arial" pitchFamily="34" charset="-122"/>
                <a:cs typeface="Arial" pitchFamily="34" charset="-120"/>
              </a:rPr>
              <a:t>mHC: Manifold-Constrained Hyper-Connections</a:t>
            </a:r>
            <a:endParaRPr lang="en-US" sz="1600" dirty="0"/>
          </a:p>
        </p:txBody>
      </p:sp>
      <p:sp>
        <p:nvSpPr>
          <p:cNvPr id="7" name="Text 5"/>
          <p:cNvSpPr/>
          <p:nvPr/>
        </p:nvSpPr>
        <p:spPr>
          <a:xfrm>
            <a:off x="507950" y="1936552"/>
            <a:ext cx="3968800" cy="1041053"/>
          </a:xfrm>
          <a:prstGeom prst="roundRect">
            <a:avLst>
              <a:gd name="adj" fmla="val 7320"/>
            </a:avLst>
          </a:prstGeom>
          <a:solidFill>
            <a:srgbClr val="F5F5F7"/>
          </a:solidFill>
          <a:ln/>
        </p:spPr>
        <p:txBody>
          <a:bodyPr wrap="square" rtlCol="0" anchor="ctr"/>
          <a:lstStyle/>
          <a:p>
            <a:pPr indent="0" marL="0">
              <a:buNone/>
            </a:pPr>
            <a:endParaRPr lang="en-US" dirty="0"/>
          </a:p>
        </p:txBody>
      </p:sp>
      <p:sp>
        <p:nvSpPr>
          <p:cNvPr id="8" name="Text 6"/>
          <p:cNvSpPr/>
          <p:nvPr/>
        </p:nvSpPr>
        <p:spPr>
          <a:xfrm>
            <a:off x="634901" y="2190452"/>
            <a:ext cx="3789197" cy="180975"/>
          </a:xfrm>
          <a:prstGeom prst="rect">
            <a:avLst/>
          </a:prstGeom>
          <a:noFill/>
          <a:ln/>
        </p:spPr>
        <p:txBody>
          <a:bodyPr wrap="square" lIns="0" tIns="0" rIns="0" bIns="0" rtlCol="0" anchor="t"/>
          <a:lstStyle/>
          <a:p>
            <a:pPr algn="l" indent="0" marL="0">
              <a:spcBef>
                <a:spcPts val="1000"/>
              </a:spcBef>
              <a:spcAft>
                <a:spcPts val="300"/>
              </a:spcAft>
              <a:buNone/>
            </a:pPr>
            <a:r>
              <a:rPr lang="en-US" sz="1000" dirty="0">
                <a:solidFill>
                  <a:srgbClr val="666666"/>
                </a:solidFill>
                <a:latin typeface="Arial" pitchFamily="34" charset="0"/>
                <a:ea typeface="Arial" pitchFamily="34" charset="-122"/>
                <a:cs typeface="Arial" pitchFamily="34" charset="-120"/>
              </a:rPr>
              <a:t>论文地址</a:t>
            </a:r>
            <a:endParaRPr lang="en-US" sz="1000" dirty="0"/>
          </a:p>
        </p:txBody>
      </p:sp>
      <p:sp>
        <p:nvSpPr>
          <p:cNvPr id="9" name="Text 7"/>
          <p:cNvSpPr/>
          <p:nvPr/>
        </p:nvSpPr>
        <p:spPr>
          <a:xfrm>
            <a:off x="634901" y="2511028"/>
            <a:ext cx="3789197" cy="152400"/>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181B24"/>
                </a:solidFill>
                <a:latin typeface="Arial" pitchFamily="34" charset="0"/>
                <a:ea typeface="Arial" pitchFamily="34" charset="-122"/>
                <a:cs typeface="Arial" pitchFamily="34" charset="-120"/>
              </a:rPr>
              <a:t>https://arxiv.org/pdf/2512.24880</a:t>
            </a:r>
            <a:endParaRPr lang="en-US" sz="1100" dirty="0"/>
          </a:p>
        </p:txBody>
      </p:sp>
      <p:sp>
        <p:nvSpPr>
          <p:cNvPr id="10" name="Text 8"/>
          <p:cNvSpPr/>
          <p:nvPr/>
        </p:nvSpPr>
        <p:spPr>
          <a:xfrm>
            <a:off x="4667250" y="1936552"/>
            <a:ext cx="3968800" cy="1041053"/>
          </a:xfrm>
          <a:prstGeom prst="roundRect">
            <a:avLst>
              <a:gd name="adj" fmla="val 7320"/>
            </a:avLst>
          </a:prstGeom>
          <a:solidFill>
            <a:srgbClr val="F5F5F7"/>
          </a:solidFill>
          <a:ln/>
        </p:spPr>
        <p:txBody>
          <a:bodyPr wrap="square" rtlCol="0" anchor="ctr"/>
          <a:lstStyle/>
          <a:p>
            <a:pPr indent="0" marL="0">
              <a:buNone/>
            </a:pPr>
            <a:endParaRPr lang="en-US" dirty="0"/>
          </a:p>
        </p:txBody>
      </p:sp>
      <p:sp>
        <p:nvSpPr>
          <p:cNvPr id="11" name="Text 9"/>
          <p:cNvSpPr/>
          <p:nvPr/>
        </p:nvSpPr>
        <p:spPr>
          <a:xfrm>
            <a:off x="4794200" y="2190452"/>
            <a:ext cx="3789197" cy="180975"/>
          </a:xfrm>
          <a:prstGeom prst="rect">
            <a:avLst/>
          </a:prstGeom>
          <a:noFill/>
          <a:ln/>
        </p:spPr>
        <p:txBody>
          <a:bodyPr wrap="square" lIns="0" tIns="0" rIns="0" bIns="0" rtlCol="0" anchor="t"/>
          <a:lstStyle/>
          <a:p>
            <a:pPr algn="l" indent="0" marL="0">
              <a:spcBef>
                <a:spcPts val="1000"/>
              </a:spcBef>
              <a:spcAft>
                <a:spcPts val="300"/>
              </a:spcAft>
              <a:buNone/>
            </a:pPr>
            <a:r>
              <a:rPr lang="en-US" sz="1000" dirty="0">
                <a:solidFill>
                  <a:srgbClr val="666666"/>
                </a:solidFill>
                <a:latin typeface="Arial" pitchFamily="34" charset="0"/>
                <a:ea typeface="Arial" pitchFamily="34" charset="-122"/>
                <a:cs typeface="Arial" pitchFamily="34" charset="-120"/>
              </a:rPr>
              <a:t>发布时间</a:t>
            </a:r>
            <a:endParaRPr lang="en-US" sz="1000" dirty="0"/>
          </a:p>
        </p:txBody>
      </p:sp>
      <p:sp>
        <p:nvSpPr>
          <p:cNvPr id="12" name="Text 10"/>
          <p:cNvSpPr/>
          <p:nvPr/>
        </p:nvSpPr>
        <p:spPr>
          <a:xfrm>
            <a:off x="4794200" y="2511028"/>
            <a:ext cx="3789197" cy="200025"/>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181B24"/>
                </a:solidFill>
                <a:latin typeface="Arial" pitchFamily="34" charset="0"/>
                <a:ea typeface="Arial" pitchFamily="34" charset="-122"/>
                <a:cs typeface="Arial" pitchFamily="34" charset="-120"/>
              </a:rPr>
              <a:t>2026年1月1日</a:t>
            </a:r>
            <a:endParaRPr lang="en-US" sz="1100" dirty="0"/>
          </a:p>
        </p:txBody>
      </p:sp>
      <p:sp>
        <p:nvSpPr>
          <p:cNvPr id="13" name="Text 11"/>
          <p:cNvSpPr/>
          <p:nvPr/>
        </p:nvSpPr>
        <p:spPr>
          <a:xfrm>
            <a:off x="507950" y="3104555"/>
            <a:ext cx="8128099" cy="1139577"/>
          </a:xfrm>
          <a:prstGeom prst="roundRect">
            <a:avLst>
              <a:gd name="adj" fmla="val 6687"/>
            </a:avLst>
          </a:prstGeom>
          <a:solidFill>
            <a:srgbClr val="F5F5F7"/>
          </a:solidFill>
          <a:ln/>
        </p:spPr>
        <p:txBody>
          <a:bodyPr wrap="square" rtlCol="0" anchor="ctr"/>
          <a:lstStyle/>
          <a:p>
            <a:pPr indent="0" marL="0">
              <a:buNone/>
            </a:pPr>
            <a:endParaRPr lang="en-US" dirty="0"/>
          </a:p>
        </p:txBody>
      </p:sp>
      <p:sp>
        <p:nvSpPr>
          <p:cNvPr id="14" name="Text 12"/>
          <p:cNvSpPr/>
          <p:nvPr/>
        </p:nvSpPr>
        <p:spPr>
          <a:xfrm>
            <a:off x="634901" y="3358455"/>
            <a:ext cx="8031682" cy="180975"/>
          </a:xfrm>
          <a:prstGeom prst="rect">
            <a:avLst/>
          </a:prstGeom>
          <a:noFill/>
          <a:ln/>
        </p:spPr>
        <p:txBody>
          <a:bodyPr wrap="square" lIns="0" tIns="0" rIns="0" bIns="0" rtlCol="0" anchor="t"/>
          <a:lstStyle/>
          <a:p>
            <a:pPr algn="l" indent="0" marL="0">
              <a:spcBef>
                <a:spcPts val="1000"/>
              </a:spcBef>
              <a:spcAft>
                <a:spcPts val="300"/>
              </a:spcAft>
              <a:buNone/>
            </a:pPr>
            <a:r>
              <a:rPr lang="en-US" sz="1000" dirty="0">
                <a:solidFill>
                  <a:srgbClr val="666666"/>
                </a:solidFill>
                <a:latin typeface="Arial" pitchFamily="34" charset="0"/>
                <a:ea typeface="Arial" pitchFamily="34" charset="-122"/>
                <a:cs typeface="Arial" pitchFamily="34" charset="-120"/>
              </a:rPr>
              <a:t>作者团队（19位）</a:t>
            </a:r>
            <a:endParaRPr lang="en-US" sz="1000" dirty="0"/>
          </a:p>
        </p:txBody>
      </p:sp>
      <p:sp>
        <p:nvSpPr>
          <p:cNvPr id="15" name="Text 13"/>
          <p:cNvSpPr/>
          <p:nvPr/>
        </p:nvSpPr>
        <p:spPr>
          <a:xfrm>
            <a:off x="634901" y="3666381"/>
            <a:ext cx="8031682" cy="323850"/>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181B24"/>
                </a:solidFill>
                <a:latin typeface="Arial" pitchFamily="34" charset="0"/>
                <a:ea typeface="Arial" pitchFamily="34" charset="-122"/>
                <a:cs typeface="Arial" pitchFamily="34" charset="-120"/>
              </a:rPr>
              <a:t>Zhenda Xie（解振达）*, Yixuan Wei（韦毅轩）*, Huanqi Cao*, Chenggang Zhao, Chengqi Deng, Jiashi Li, Damai Dai, Huazuo Gao, Jiang Chang, Liang Zhao, ...</a:t>
            </a:r>
            <a:endParaRPr lang="en-US" sz="1000" dirty="0"/>
          </a:p>
        </p:txBody>
      </p:sp>
      <p:sp>
        <p:nvSpPr>
          <p:cNvPr id="16" name="Text 14"/>
          <p:cNvSpPr/>
          <p:nvPr/>
        </p:nvSpPr>
        <p:spPr>
          <a:xfrm>
            <a:off x="507950" y="4371082"/>
            <a:ext cx="8128099" cy="733127"/>
          </a:xfrm>
          <a:prstGeom prst="roundRect">
            <a:avLst>
              <a:gd name="adj" fmla="val 10394"/>
            </a:avLst>
          </a:prstGeom>
          <a:solidFill>
            <a:srgbClr val="40695B"/>
          </a:solidFill>
          <a:ln/>
        </p:spPr>
        <p:txBody>
          <a:bodyPr wrap="square" rtlCol="0" anchor="ctr"/>
          <a:lstStyle/>
          <a:p>
            <a:pPr indent="0" marL="0">
              <a:buNone/>
            </a:pPr>
            <a:endParaRPr lang="en-US" dirty="0"/>
          </a:p>
        </p:txBody>
      </p:sp>
      <p:sp>
        <p:nvSpPr>
          <p:cNvPr id="17" name="Text 15"/>
          <p:cNvSpPr/>
          <p:nvPr/>
        </p:nvSpPr>
        <p:spPr>
          <a:xfrm>
            <a:off x="660350" y="4637633"/>
            <a:ext cx="7979765" cy="200025"/>
          </a:xfrm>
          <a:prstGeom prst="rect">
            <a:avLst/>
          </a:prstGeom>
          <a:noFill/>
          <a:ln/>
        </p:spPr>
        <p:txBody>
          <a:bodyPr wrap="square" lIns="0" tIns="0" rIns="0" bIns="0" rtlCol="0" anchor="t"/>
          <a:lstStyle/>
          <a:p>
            <a:pPr algn="l" indent="0" marL="0">
              <a:spcBef>
                <a:spcPts val="1100"/>
              </a:spcBef>
              <a:spcAft>
                <a:spcPts val="1100"/>
              </a:spcAft>
              <a:buNone/>
            </a:pPr>
            <a:r>
              <a:rPr lang="en-US" sz="1100" b="1" dirty="0">
                <a:solidFill>
                  <a:srgbClr val="B165FB"/>
                </a:solidFill>
                <a:latin typeface="Arial" pitchFamily="34" charset="0"/>
                <a:ea typeface="Arial" pitchFamily="34" charset="-122"/>
                <a:cs typeface="Arial" pitchFamily="34" charset="-120"/>
              </a:rPr>
              <a:t>DeepSeek创始人 &amp; CEO 梁文锋 (Wenfeng Liang)</a:t>
            </a:r>
            <a:pPr algn="l" indent="0" marL="0">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 也在作者名单中</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253901"/>
            <a:ext cx="0" cy="352425"/>
          </a:xfrm>
          <a:prstGeom prst="line">
            <a:avLst/>
          </a:prstGeom>
          <a:noFill/>
          <a:ln w="76200">
            <a:solidFill>
              <a:srgbClr val="B165FB"/>
            </a:solidFill>
            <a:prstDash val="solid"/>
          </a:ln>
        </p:spPr>
      </p:sp>
      <p:sp>
        <p:nvSpPr>
          <p:cNvPr id="4" name="Text 2"/>
          <p:cNvSpPr/>
          <p:nvPr/>
        </p:nvSpPr>
        <p:spPr>
          <a:xfrm>
            <a:off x="774650" y="253901"/>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技术演进史：十年接力</a:t>
            </a:r>
            <a:endParaRPr lang="en-US" sz="2000" dirty="0"/>
          </a:p>
        </p:txBody>
      </p:sp>
      <p:sp>
        <p:nvSpPr>
          <p:cNvPr id="5" name="Text 3"/>
          <p:cNvSpPr/>
          <p:nvPr/>
        </p:nvSpPr>
        <p:spPr>
          <a:xfrm>
            <a:off x="507950" y="707827"/>
            <a:ext cx="723900" cy="219075"/>
          </a:xfrm>
          <a:prstGeom prst="roundRect">
            <a:avLst>
              <a:gd name="adj" fmla="val 23188"/>
            </a:avLst>
          </a:prstGeom>
          <a:solidFill>
            <a:srgbClr val="B165FB"/>
          </a:solidFill>
          <a:ln/>
        </p:spPr>
        <p:txBody>
          <a:bodyPr wrap="square" rtlCol="0" anchor="ctr"/>
          <a:lstStyle/>
          <a:p>
            <a:pPr indent="0" marL="0">
              <a:buNone/>
            </a:pPr>
            <a:endParaRPr lang="en-US" dirty="0"/>
          </a:p>
        </p:txBody>
      </p:sp>
      <p:sp>
        <p:nvSpPr>
          <p:cNvPr id="6" name="Text 4"/>
          <p:cNvSpPr/>
          <p:nvPr/>
        </p:nvSpPr>
        <p:spPr>
          <a:xfrm>
            <a:off x="578435" y="745927"/>
            <a:ext cx="582930"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2015</a:t>
            </a:r>
            <a:endParaRPr lang="en-US" sz="1000" dirty="0"/>
          </a:p>
        </p:txBody>
      </p:sp>
      <p:sp>
        <p:nvSpPr>
          <p:cNvPr id="7" name="Text 5"/>
          <p:cNvSpPr/>
          <p:nvPr/>
        </p:nvSpPr>
        <p:spPr>
          <a:xfrm>
            <a:off x="1358801" y="707827"/>
            <a:ext cx="7277249" cy="857696"/>
          </a:xfrm>
          <a:prstGeom prst="roundRect">
            <a:avLst>
              <a:gd name="adj" fmla="val 8884"/>
            </a:avLst>
          </a:prstGeom>
          <a:solidFill>
            <a:srgbClr val="F5F5F7"/>
          </a:solidFill>
          <a:ln/>
        </p:spPr>
        <p:txBody>
          <a:bodyPr wrap="square" rtlCol="0" anchor="ctr"/>
          <a:lstStyle/>
          <a:p>
            <a:pPr indent="0" marL="0">
              <a:buNone/>
            </a:pPr>
            <a:endParaRPr lang="en-US" dirty="0"/>
          </a:p>
        </p:txBody>
      </p:sp>
      <p:sp>
        <p:nvSpPr>
          <p:cNvPr id="8" name="Text 6"/>
          <p:cNvSpPr/>
          <p:nvPr/>
        </p:nvSpPr>
        <p:spPr>
          <a:xfrm>
            <a:off x="1460302" y="923627"/>
            <a:ext cx="7215732" cy="200025"/>
          </a:xfrm>
          <a:prstGeom prst="rect">
            <a:avLst/>
          </a:prstGeom>
          <a:noFill/>
          <a:ln/>
        </p:spPr>
        <p:txBody>
          <a:bodyPr wrap="square" lIns="0" tIns="0" rIns="0" bIns="0" rtlCol="0" anchor="t"/>
          <a:lstStyle/>
          <a:p>
            <a:pPr algn="l" indent="0" marL="0">
              <a:spcBef>
                <a:spcPts val="1100"/>
              </a:spcBef>
              <a:spcAft>
                <a:spcPts val="200"/>
              </a:spcAft>
              <a:buNone/>
            </a:pPr>
            <a:r>
              <a:rPr lang="en-US" sz="1100" b="1" dirty="0">
                <a:solidFill>
                  <a:srgbClr val="181B24"/>
                </a:solidFill>
                <a:latin typeface="Arial" pitchFamily="34" charset="0"/>
                <a:ea typeface="Arial" pitchFamily="34" charset="-122"/>
                <a:cs typeface="Arial" pitchFamily="34" charset="-120"/>
              </a:rPr>
              <a:t>何恺明提出 ResNet 残差连接</a:t>
            </a:r>
            <a:endParaRPr lang="en-US" sz="1100" dirty="0"/>
          </a:p>
        </p:txBody>
      </p:sp>
      <p:sp>
        <p:nvSpPr>
          <p:cNvPr id="9" name="Text 7"/>
          <p:cNvSpPr/>
          <p:nvPr/>
        </p:nvSpPr>
        <p:spPr>
          <a:xfrm>
            <a:off x="1460302" y="1237952"/>
            <a:ext cx="7215732" cy="137071"/>
          </a:xfrm>
          <a:prstGeom prst="rect">
            <a:avLst/>
          </a:prstGeom>
          <a:noFill/>
          <a:ln/>
        </p:spPr>
        <p:txBody>
          <a:bodyPr wrap="square" lIns="0" tIns="0" rIns="0" bIns="0" rtlCol="0" anchor="t"/>
          <a:lstStyle/>
          <a:p>
            <a:pPr algn="l" indent="0" marL="0">
              <a:lnSpc>
                <a:spcPts val="108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在微软亚洲研究院提出，解决了深度网络梯度消失问题，获CVPR 2016最佳论文奖</a:t>
            </a:r>
            <a:endParaRPr lang="en-US" sz="900" dirty="0"/>
          </a:p>
        </p:txBody>
      </p:sp>
      <p:sp>
        <p:nvSpPr>
          <p:cNvPr id="10" name="Text 8"/>
          <p:cNvSpPr/>
          <p:nvPr/>
        </p:nvSpPr>
        <p:spPr>
          <a:xfrm>
            <a:off x="507950" y="1628924"/>
            <a:ext cx="723900" cy="219075"/>
          </a:xfrm>
          <a:prstGeom prst="roundRect">
            <a:avLst>
              <a:gd name="adj" fmla="val 23188"/>
            </a:avLst>
          </a:prstGeom>
          <a:solidFill>
            <a:srgbClr val="B165FB"/>
          </a:solidFill>
          <a:ln/>
        </p:spPr>
        <p:txBody>
          <a:bodyPr wrap="square" rtlCol="0" anchor="ctr"/>
          <a:lstStyle/>
          <a:p>
            <a:pPr indent="0" marL="0">
              <a:buNone/>
            </a:pPr>
            <a:endParaRPr lang="en-US" dirty="0"/>
          </a:p>
        </p:txBody>
      </p:sp>
      <p:sp>
        <p:nvSpPr>
          <p:cNvPr id="11" name="Text 9"/>
          <p:cNvSpPr/>
          <p:nvPr/>
        </p:nvSpPr>
        <p:spPr>
          <a:xfrm>
            <a:off x="578435" y="1667024"/>
            <a:ext cx="582930"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2017</a:t>
            </a:r>
            <a:endParaRPr lang="en-US" sz="1000" dirty="0"/>
          </a:p>
        </p:txBody>
      </p:sp>
      <p:sp>
        <p:nvSpPr>
          <p:cNvPr id="12" name="Text 10"/>
          <p:cNvSpPr/>
          <p:nvPr/>
        </p:nvSpPr>
        <p:spPr>
          <a:xfrm>
            <a:off x="1358801" y="1628924"/>
            <a:ext cx="7277249" cy="857696"/>
          </a:xfrm>
          <a:prstGeom prst="roundRect">
            <a:avLst>
              <a:gd name="adj" fmla="val 8884"/>
            </a:avLst>
          </a:prstGeom>
          <a:solidFill>
            <a:srgbClr val="F5F5F7"/>
          </a:solidFill>
          <a:ln/>
        </p:spPr>
        <p:txBody>
          <a:bodyPr wrap="square" rtlCol="0" anchor="ctr"/>
          <a:lstStyle/>
          <a:p>
            <a:pPr indent="0" marL="0">
              <a:buNone/>
            </a:pPr>
            <a:endParaRPr lang="en-US" dirty="0"/>
          </a:p>
        </p:txBody>
      </p:sp>
      <p:sp>
        <p:nvSpPr>
          <p:cNvPr id="13" name="Text 11"/>
          <p:cNvSpPr/>
          <p:nvPr/>
        </p:nvSpPr>
        <p:spPr>
          <a:xfrm>
            <a:off x="1460302" y="1844725"/>
            <a:ext cx="7215732" cy="200025"/>
          </a:xfrm>
          <a:prstGeom prst="rect">
            <a:avLst/>
          </a:prstGeom>
          <a:noFill/>
          <a:ln/>
        </p:spPr>
        <p:txBody>
          <a:bodyPr wrap="square" lIns="0" tIns="0" rIns="0" bIns="0" rtlCol="0" anchor="t"/>
          <a:lstStyle/>
          <a:p>
            <a:pPr algn="l" indent="0" marL="0">
              <a:spcBef>
                <a:spcPts val="1100"/>
              </a:spcBef>
              <a:spcAft>
                <a:spcPts val="200"/>
              </a:spcAft>
              <a:buNone/>
            </a:pPr>
            <a:r>
              <a:rPr lang="en-US" sz="1100" b="1" dirty="0">
                <a:solidFill>
                  <a:srgbClr val="181B24"/>
                </a:solidFill>
                <a:latin typeface="Arial" pitchFamily="34" charset="0"/>
                <a:ea typeface="Arial" pitchFamily="34" charset="-122"/>
                <a:cs typeface="Arial" pitchFamily="34" charset="-120"/>
              </a:rPr>
              <a:t>Transformer 问世</a:t>
            </a:r>
            <a:endParaRPr lang="en-US" sz="1100" dirty="0"/>
          </a:p>
        </p:txBody>
      </p:sp>
      <p:sp>
        <p:nvSpPr>
          <p:cNvPr id="14" name="Text 12"/>
          <p:cNvSpPr/>
          <p:nvPr/>
        </p:nvSpPr>
        <p:spPr>
          <a:xfrm>
            <a:off x="1460302" y="2159050"/>
            <a:ext cx="7215732" cy="137071"/>
          </a:xfrm>
          <a:prstGeom prst="rect">
            <a:avLst/>
          </a:prstGeom>
          <a:noFill/>
          <a:ln/>
        </p:spPr>
        <p:txBody>
          <a:bodyPr wrap="square" lIns="0" tIns="0" rIns="0" bIns="0" rtlCol="0" anchor="t"/>
          <a:lstStyle/>
          <a:p>
            <a:pPr algn="l" indent="0" marL="0">
              <a:lnSpc>
                <a:spcPts val="108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残差连接成为标配，从GPT到Claude，从Llama到DeepSeek，几乎所有主流大模型都建立在此基础上</a:t>
            </a:r>
            <a:endParaRPr lang="en-US" sz="900" dirty="0"/>
          </a:p>
        </p:txBody>
      </p:sp>
      <p:sp>
        <p:nvSpPr>
          <p:cNvPr id="15" name="Text 13"/>
          <p:cNvSpPr/>
          <p:nvPr/>
        </p:nvSpPr>
        <p:spPr>
          <a:xfrm>
            <a:off x="507950" y="2550021"/>
            <a:ext cx="723900" cy="219075"/>
          </a:xfrm>
          <a:prstGeom prst="roundRect">
            <a:avLst>
              <a:gd name="adj" fmla="val 23188"/>
            </a:avLst>
          </a:prstGeom>
          <a:solidFill>
            <a:srgbClr val="E74C3C"/>
          </a:solidFill>
          <a:ln/>
        </p:spPr>
        <p:txBody>
          <a:bodyPr wrap="square" rtlCol="0" anchor="ctr"/>
          <a:lstStyle/>
          <a:p>
            <a:pPr indent="0" marL="0">
              <a:buNone/>
            </a:pPr>
            <a:endParaRPr lang="en-US" dirty="0"/>
          </a:p>
        </p:txBody>
      </p:sp>
      <p:sp>
        <p:nvSpPr>
          <p:cNvPr id="16" name="Text 14"/>
          <p:cNvSpPr/>
          <p:nvPr/>
        </p:nvSpPr>
        <p:spPr>
          <a:xfrm>
            <a:off x="578435" y="2588121"/>
            <a:ext cx="582930"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2024.9</a:t>
            </a:r>
            <a:endParaRPr lang="en-US" sz="1000" dirty="0"/>
          </a:p>
        </p:txBody>
      </p:sp>
      <p:sp>
        <p:nvSpPr>
          <p:cNvPr id="17" name="Text 15"/>
          <p:cNvSpPr/>
          <p:nvPr/>
        </p:nvSpPr>
        <p:spPr>
          <a:xfrm>
            <a:off x="1358801" y="2550021"/>
            <a:ext cx="7277249" cy="857696"/>
          </a:xfrm>
          <a:prstGeom prst="roundRect">
            <a:avLst>
              <a:gd name="adj" fmla="val 8884"/>
            </a:avLst>
          </a:prstGeom>
          <a:solidFill>
            <a:srgbClr val="F5F5F7"/>
          </a:solidFill>
          <a:ln/>
        </p:spPr>
        <p:txBody>
          <a:bodyPr wrap="square" rtlCol="0" anchor="ctr"/>
          <a:lstStyle/>
          <a:p>
            <a:pPr indent="0" marL="0">
              <a:buNone/>
            </a:pPr>
            <a:endParaRPr lang="en-US" dirty="0"/>
          </a:p>
        </p:txBody>
      </p:sp>
      <p:sp>
        <p:nvSpPr>
          <p:cNvPr id="18" name="Text 16"/>
          <p:cNvSpPr/>
          <p:nvPr/>
        </p:nvSpPr>
        <p:spPr>
          <a:xfrm>
            <a:off x="1460302" y="2765822"/>
            <a:ext cx="7215732" cy="200025"/>
          </a:xfrm>
          <a:prstGeom prst="rect">
            <a:avLst/>
          </a:prstGeom>
          <a:noFill/>
          <a:ln/>
        </p:spPr>
        <p:txBody>
          <a:bodyPr wrap="square" lIns="0" tIns="0" rIns="0" bIns="0" rtlCol="0" anchor="t"/>
          <a:lstStyle/>
          <a:p>
            <a:pPr algn="l" indent="0" marL="0">
              <a:spcBef>
                <a:spcPts val="1100"/>
              </a:spcBef>
              <a:spcAft>
                <a:spcPts val="200"/>
              </a:spcAft>
              <a:buNone/>
            </a:pPr>
            <a:r>
              <a:rPr lang="en-US" sz="1100" b="1" dirty="0">
                <a:solidFill>
                  <a:srgbClr val="181B24"/>
                </a:solidFill>
                <a:latin typeface="Arial" pitchFamily="34" charset="0"/>
                <a:ea typeface="Arial" pitchFamily="34" charset="-122"/>
                <a:cs typeface="Arial" pitchFamily="34" charset="-120"/>
              </a:rPr>
              <a:t>字节跳动发表 Hyper-Connections</a:t>
            </a:r>
            <a:endParaRPr lang="en-US" sz="1100" dirty="0"/>
          </a:p>
        </p:txBody>
      </p:sp>
      <p:sp>
        <p:nvSpPr>
          <p:cNvPr id="19" name="Text 17"/>
          <p:cNvSpPr/>
          <p:nvPr/>
        </p:nvSpPr>
        <p:spPr>
          <a:xfrm>
            <a:off x="1460302" y="3080147"/>
            <a:ext cx="7215732" cy="137071"/>
          </a:xfrm>
          <a:prstGeom prst="rect">
            <a:avLst/>
          </a:prstGeom>
          <a:noFill/>
          <a:ln/>
        </p:spPr>
        <p:txBody>
          <a:bodyPr wrap="square" lIns="0" tIns="0" rIns="0" bIns="0" rtlCol="0" anchor="t"/>
          <a:lstStyle/>
          <a:p>
            <a:pPr algn="l" indent="0" marL="0">
              <a:lnSpc>
                <a:spcPts val="108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将单一残差流扩展为多流并行架构，MoE模型上实现1.8倍收敛加速，但训练变得不稳定</a:t>
            </a:r>
            <a:endParaRPr lang="en-US" sz="900" dirty="0"/>
          </a:p>
        </p:txBody>
      </p:sp>
      <p:sp>
        <p:nvSpPr>
          <p:cNvPr id="20" name="Text 18"/>
          <p:cNvSpPr/>
          <p:nvPr/>
        </p:nvSpPr>
        <p:spPr>
          <a:xfrm>
            <a:off x="507950" y="3471118"/>
            <a:ext cx="723900" cy="219075"/>
          </a:xfrm>
          <a:prstGeom prst="roundRect">
            <a:avLst>
              <a:gd name="adj" fmla="val 23188"/>
            </a:avLst>
          </a:prstGeom>
          <a:solidFill>
            <a:srgbClr val="40695B"/>
          </a:solidFill>
          <a:ln/>
        </p:spPr>
        <p:txBody>
          <a:bodyPr wrap="square" rtlCol="0" anchor="ctr"/>
          <a:lstStyle/>
          <a:p>
            <a:pPr indent="0" marL="0">
              <a:buNone/>
            </a:pPr>
            <a:endParaRPr lang="en-US" dirty="0"/>
          </a:p>
        </p:txBody>
      </p:sp>
      <p:sp>
        <p:nvSpPr>
          <p:cNvPr id="21" name="Text 19"/>
          <p:cNvSpPr/>
          <p:nvPr/>
        </p:nvSpPr>
        <p:spPr>
          <a:xfrm>
            <a:off x="578435" y="3509218"/>
            <a:ext cx="582930"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2026.1</a:t>
            </a:r>
            <a:endParaRPr lang="en-US" sz="1000" dirty="0"/>
          </a:p>
        </p:txBody>
      </p:sp>
      <p:sp>
        <p:nvSpPr>
          <p:cNvPr id="22" name="Text 20"/>
          <p:cNvSpPr/>
          <p:nvPr/>
        </p:nvSpPr>
        <p:spPr>
          <a:xfrm>
            <a:off x="1358801" y="3471118"/>
            <a:ext cx="7277249" cy="857696"/>
          </a:xfrm>
          <a:prstGeom prst="roundRect">
            <a:avLst>
              <a:gd name="adj" fmla="val 8884"/>
            </a:avLst>
          </a:prstGeom>
          <a:solidFill>
            <a:srgbClr val="F5F5F7"/>
          </a:solidFill>
          <a:ln/>
        </p:spPr>
        <p:txBody>
          <a:bodyPr wrap="square" rtlCol="0" anchor="ctr"/>
          <a:lstStyle/>
          <a:p>
            <a:pPr indent="0" marL="0">
              <a:buNone/>
            </a:pPr>
            <a:endParaRPr lang="en-US" dirty="0"/>
          </a:p>
        </p:txBody>
      </p:sp>
      <p:sp>
        <p:nvSpPr>
          <p:cNvPr id="23" name="Text 21"/>
          <p:cNvSpPr/>
          <p:nvPr/>
        </p:nvSpPr>
        <p:spPr>
          <a:xfrm>
            <a:off x="1460302" y="3686919"/>
            <a:ext cx="7215732" cy="200025"/>
          </a:xfrm>
          <a:prstGeom prst="rect">
            <a:avLst/>
          </a:prstGeom>
          <a:noFill/>
          <a:ln/>
        </p:spPr>
        <p:txBody>
          <a:bodyPr wrap="square" lIns="0" tIns="0" rIns="0" bIns="0" rtlCol="0" anchor="t"/>
          <a:lstStyle/>
          <a:p>
            <a:pPr algn="l" indent="0" marL="0">
              <a:spcBef>
                <a:spcPts val="1100"/>
              </a:spcBef>
              <a:spcAft>
                <a:spcPts val="200"/>
              </a:spcAft>
              <a:buNone/>
            </a:pPr>
            <a:r>
              <a:rPr lang="en-US" sz="1100" b="1" dirty="0">
                <a:solidFill>
                  <a:srgbClr val="181B24"/>
                </a:solidFill>
                <a:latin typeface="Arial" pitchFamily="34" charset="0"/>
                <a:ea typeface="Arial" pitchFamily="34" charset="-122"/>
                <a:cs typeface="Arial" pitchFamily="34" charset="-120"/>
              </a:rPr>
              <a:t>DeepSeek 发布 mHC</a:t>
            </a:r>
            <a:endParaRPr lang="en-US" sz="1100" dirty="0"/>
          </a:p>
        </p:txBody>
      </p:sp>
      <p:sp>
        <p:nvSpPr>
          <p:cNvPr id="24" name="Text 22"/>
          <p:cNvSpPr/>
          <p:nvPr/>
        </p:nvSpPr>
        <p:spPr>
          <a:xfrm>
            <a:off x="1460302" y="4001244"/>
            <a:ext cx="7215732" cy="137071"/>
          </a:xfrm>
          <a:prstGeom prst="rect">
            <a:avLst/>
          </a:prstGeom>
          <a:noFill/>
          <a:ln/>
        </p:spPr>
        <p:txBody>
          <a:bodyPr wrap="square" lIns="0" tIns="0" rIns="0" bIns="0" rtlCol="0" anchor="t"/>
          <a:lstStyle/>
          <a:p>
            <a:pPr algn="l" indent="0" marL="0">
              <a:lnSpc>
                <a:spcPts val="108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解决HC的稳定性问题，通过流形约束恢复恒等映射属性</a:t>
            </a:r>
            <a:endParaRPr lang="en-US" sz="900" dirty="0"/>
          </a:p>
        </p:txBody>
      </p:sp>
      <p:sp>
        <p:nvSpPr>
          <p:cNvPr id="25" name="Text 23"/>
          <p:cNvSpPr/>
          <p:nvPr/>
        </p:nvSpPr>
        <p:spPr>
          <a:xfrm>
            <a:off x="507950" y="4405015"/>
            <a:ext cx="8128099" cy="637877"/>
          </a:xfrm>
          <a:prstGeom prst="roundRect">
            <a:avLst>
              <a:gd name="adj" fmla="val 11946"/>
            </a:avLst>
          </a:prstGeom>
          <a:solidFill>
            <a:srgbClr val="181B24"/>
          </a:solidFill>
          <a:ln/>
        </p:spPr>
        <p:txBody>
          <a:bodyPr wrap="square" rtlCol="0" anchor="ctr"/>
          <a:lstStyle/>
          <a:p>
            <a:pPr indent="0" marL="0">
              <a:buNone/>
            </a:pPr>
            <a:endParaRPr lang="en-US" dirty="0"/>
          </a:p>
        </p:txBody>
      </p:sp>
      <p:sp>
        <p:nvSpPr>
          <p:cNvPr id="26" name="Text 24"/>
          <p:cNvSpPr/>
          <p:nvPr/>
        </p:nvSpPr>
        <p:spPr>
          <a:xfrm>
            <a:off x="634901" y="4633466"/>
            <a:ext cx="8031682" cy="1809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「从何恺明到字节再到DeepSeek，这是一场</a:t>
            </a:r>
            <a:pPr algn="l" indent="0" marL="0">
              <a:spcBef>
                <a:spcPts val="1000"/>
              </a:spcBef>
              <a:spcAft>
                <a:spcPts val="1000"/>
              </a:spcAft>
              <a:buNone/>
            </a:pPr>
            <a:r>
              <a:rPr lang="en-US" sz="1000" i="1" dirty="0">
                <a:solidFill>
                  <a:srgbClr val="B165FB"/>
                </a:solidFill>
                <a:latin typeface="Arial" pitchFamily="34" charset="0"/>
                <a:ea typeface="Arial" pitchFamily="34" charset="-122"/>
                <a:cs typeface="Arial" pitchFamily="34" charset="-120"/>
              </a:rPr>
              <a:t>跨越十年的接力</a:t>
            </a:r>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253901"/>
            <a:ext cx="0" cy="352425"/>
          </a:xfrm>
          <a:prstGeom prst="line">
            <a:avLst/>
          </a:prstGeom>
          <a:noFill/>
          <a:ln w="76200">
            <a:solidFill>
              <a:srgbClr val="B165FB"/>
            </a:solidFill>
            <a:prstDash val="solid"/>
          </a:ln>
        </p:spPr>
      </p:sp>
      <p:sp>
        <p:nvSpPr>
          <p:cNvPr id="4" name="Text 2"/>
          <p:cNvSpPr/>
          <p:nvPr/>
        </p:nvSpPr>
        <p:spPr>
          <a:xfrm>
            <a:off x="774650" y="253901"/>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残差连接的本质</a:t>
            </a:r>
            <a:endParaRPr lang="en-US" sz="2000" dirty="0"/>
          </a:p>
        </p:txBody>
      </p:sp>
      <p:sp>
        <p:nvSpPr>
          <p:cNvPr id="5" name="Text 3"/>
          <p:cNvSpPr/>
          <p:nvPr/>
        </p:nvSpPr>
        <p:spPr>
          <a:xfrm>
            <a:off x="507950" y="745927"/>
            <a:ext cx="8290661" cy="181570"/>
          </a:xfrm>
          <a:prstGeom prst="rect">
            <a:avLst/>
          </a:prstGeom>
          <a:noFill/>
          <a:ln/>
        </p:spPr>
        <p:txBody>
          <a:bodyPr wrap="square" lIns="0" tIns="0" rIns="0" bIns="0" rtlCol="0" anchor="t"/>
          <a:lstStyle/>
          <a:p>
            <a:pPr algn="l" indent="0" marL="0">
              <a:lnSpc>
                <a:spcPts val="1430"/>
              </a:lnSpc>
              <a:spcBef>
                <a:spcPts val="1100"/>
              </a:spcBef>
              <a:spcAft>
                <a:spcPts val="800"/>
              </a:spcAft>
              <a:buNone/>
            </a:pPr>
            <a:r>
              <a:rPr lang="en-US" sz="1100" dirty="0">
                <a:solidFill>
                  <a:srgbClr val="333333"/>
                </a:solidFill>
                <a:latin typeface="Arial" pitchFamily="34" charset="0"/>
                <a:ea typeface="Arial" pitchFamily="34" charset="-122"/>
                <a:cs typeface="Arial" pitchFamily="34" charset="-120"/>
              </a:rPr>
              <a:t>传统的残差连接（即 Transformer 中的结构）凭借「恒等映射」保证了信号无损传输和训练稳定性：</a:t>
            </a:r>
            <a:endParaRPr lang="en-US" sz="1100" dirty="0"/>
          </a:p>
        </p:txBody>
      </p:sp>
      <p:sp>
        <p:nvSpPr>
          <p:cNvPr id="6" name="Text 4"/>
          <p:cNvSpPr/>
          <p:nvPr/>
        </p:nvSpPr>
        <p:spPr>
          <a:xfrm>
            <a:off x="507950" y="1054447"/>
            <a:ext cx="8128099" cy="1650802"/>
          </a:xfrm>
          <a:prstGeom prst="roundRect">
            <a:avLst>
              <a:gd name="adj" fmla="val 6155"/>
            </a:avLst>
          </a:prstGeom>
          <a:solidFill>
            <a:srgbClr val="181B24"/>
          </a:solidFill>
          <a:ln/>
        </p:spPr>
        <p:txBody>
          <a:bodyPr wrap="square" rtlCol="0" anchor="ctr"/>
          <a:lstStyle/>
          <a:p>
            <a:pPr indent="0" marL="0">
              <a:buNone/>
            </a:pPr>
            <a:endParaRPr lang="en-US" dirty="0"/>
          </a:p>
        </p:txBody>
      </p:sp>
      <p:sp>
        <p:nvSpPr>
          <p:cNvPr id="7" name="Text 5"/>
          <p:cNvSpPr/>
          <p:nvPr/>
        </p:nvSpPr>
        <p:spPr>
          <a:xfrm>
            <a:off x="750469" y="1651248"/>
            <a:ext cx="7643062" cy="457200"/>
          </a:xfrm>
          <a:prstGeom prst="rect">
            <a:avLst/>
          </a:prstGeom>
          <a:noFill/>
          <a:ln/>
        </p:spPr>
        <p:txBody>
          <a:bodyPr wrap="square" lIns="0" tIns="0" rIns="0" bIns="0" rtlCol="0" anchor="t"/>
          <a:lstStyle/>
          <a:p>
            <a:pPr algn="ctr" indent="0" marL="0">
              <a:spcBef>
                <a:spcPts val="3200"/>
              </a:spcBef>
              <a:spcAft>
                <a:spcPts val="3200"/>
              </a:spcAft>
              <a:buNone/>
            </a:pPr>
            <a:r>
              <a:rPr lang="en-US" sz="3200" b="1" dirty="0">
                <a:solidFill>
                  <a:srgbClr val="B165FB"/>
                </a:solidFill>
                <a:latin typeface="Georgia" pitchFamily="34" charset="0"/>
                <a:ea typeface="Georgia" pitchFamily="34" charset="-122"/>
                <a:cs typeface="Georgia" pitchFamily="34" charset="-120"/>
              </a:rPr>
              <a:t>y = x + F(x)</a:t>
            </a:r>
            <a:endParaRPr lang="en-US" sz="3200" dirty="0"/>
          </a:p>
        </p:txBody>
      </p:sp>
      <p:sp>
        <p:nvSpPr>
          <p:cNvPr id="8" name="Text 6"/>
          <p:cNvSpPr/>
          <p:nvPr/>
        </p:nvSpPr>
        <p:spPr>
          <a:xfrm>
            <a:off x="507950" y="2844850"/>
            <a:ext cx="8290661" cy="181570"/>
          </a:xfrm>
          <a:prstGeom prst="rect">
            <a:avLst/>
          </a:prstGeom>
          <a:noFill/>
          <a:ln/>
        </p:spPr>
        <p:txBody>
          <a:bodyPr wrap="square" lIns="0" tIns="0" rIns="0" bIns="0" rtlCol="0" anchor="t"/>
          <a:lstStyle/>
          <a:p>
            <a:pPr algn="l" indent="0" marL="0">
              <a:lnSpc>
                <a:spcPts val="1430"/>
              </a:lnSpc>
              <a:spcBef>
                <a:spcPts val="1100"/>
              </a:spcBef>
              <a:spcAft>
                <a:spcPts val="800"/>
              </a:spcAft>
              <a:buNone/>
            </a:pPr>
            <a:r>
              <a:rPr lang="en-US" sz="1100" b="1" dirty="0">
                <a:solidFill>
                  <a:srgbClr val="333333"/>
                </a:solidFill>
                <a:latin typeface="Arial" pitchFamily="34" charset="0"/>
                <a:ea typeface="Arial" pitchFamily="34" charset="-122"/>
                <a:cs typeface="Arial" pitchFamily="34" charset="-120"/>
              </a:rPr>
              <a:t>核心思想：</a:t>
            </a:r>
            <a:pPr algn="l" indent="0" marL="0">
              <a:lnSpc>
                <a:spcPts val="1430"/>
              </a:lnSpc>
              <a:spcBef>
                <a:spcPts val="1100"/>
              </a:spcBef>
              <a:spcAft>
                <a:spcPts val="800"/>
              </a:spcAft>
              <a:buNone/>
            </a:pPr>
            <a:r>
              <a:rPr lang="en-US" sz="1100" dirty="0">
                <a:solidFill>
                  <a:srgbClr val="333333"/>
                </a:solidFill>
                <a:latin typeface="Arial" pitchFamily="34" charset="0"/>
                <a:ea typeface="Arial" pitchFamily="34" charset="-122"/>
                <a:cs typeface="Arial" pitchFamily="34" charset="-120"/>
              </a:rPr>
              <a:t>让信息可以"跳过"某些层直接传递，解决了深度网络梯度消失问题，使训练上百层甚至上千层的网络成为可能。</a:t>
            </a:r>
            <a:endParaRPr lang="en-US" sz="1100" dirty="0"/>
          </a:p>
        </p:txBody>
      </p:sp>
      <p:sp>
        <p:nvSpPr>
          <p:cNvPr id="9" name="Text 7"/>
          <p:cNvSpPr/>
          <p:nvPr/>
        </p:nvSpPr>
        <p:spPr>
          <a:xfrm>
            <a:off x="507950" y="3127921"/>
            <a:ext cx="8128099" cy="621804"/>
          </a:xfrm>
          <a:prstGeom prst="rect">
            <a:avLst/>
          </a:prstGeom>
          <a:solidFill>
            <a:srgbClr val="F5F5F7"/>
          </a:solidFill>
          <a:ln/>
        </p:spPr>
        <p:txBody>
          <a:bodyPr wrap="square" rtlCol="0" anchor="ctr"/>
          <a:lstStyle/>
          <a:p>
            <a:pPr indent="0" marL="0">
              <a:buNone/>
            </a:pPr>
            <a:endParaRPr lang="en-US" dirty="0"/>
          </a:p>
        </p:txBody>
      </p:sp>
      <p:sp>
        <p:nvSpPr>
          <p:cNvPr id="10" name="Shape 8"/>
          <p:cNvSpPr/>
          <p:nvPr/>
        </p:nvSpPr>
        <p:spPr>
          <a:xfrm>
            <a:off x="531763" y="3127921"/>
            <a:ext cx="0" cy="621804"/>
          </a:xfrm>
          <a:prstGeom prst="line">
            <a:avLst/>
          </a:prstGeom>
          <a:noFill/>
          <a:ln w="47625">
            <a:solidFill>
              <a:srgbClr val="40695B"/>
            </a:solidFill>
            <a:prstDash val="solid"/>
          </a:ln>
        </p:spPr>
      </p:sp>
      <p:sp>
        <p:nvSpPr>
          <p:cNvPr id="11" name="Text 9"/>
          <p:cNvSpPr/>
          <p:nvPr/>
        </p:nvSpPr>
        <p:spPr>
          <a:xfrm>
            <a:off x="682526" y="3356372"/>
            <a:ext cx="7983105"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i="1" dirty="0">
                <a:solidFill>
                  <a:srgbClr val="666666"/>
                </a:solidFill>
                <a:latin typeface="Arial" pitchFamily="34" charset="0"/>
                <a:ea typeface="Arial" pitchFamily="34" charset="-122"/>
                <a:cs typeface="Arial" pitchFamily="34" charset="-120"/>
              </a:rPr>
              <a:t>「GPT、Claude、Llama、Gemini...在底层，它们做的事情都是一样的：x + F(x)。信息流只有一条，穿过网络，每一层都向其中添加内容。」</a:t>
            </a:r>
            <a:endParaRPr lang="en-US" sz="1000" dirty="0"/>
          </a:p>
        </p:txBody>
      </p:sp>
      <p:sp>
        <p:nvSpPr>
          <p:cNvPr id="12" name="Text 10"/>
          <p:cNvSpPr/>
          <p:nvPr/>
        </p:nvSpPr>
        <p:spPr>
          <a:xfrm>
            <a:off x="507950" y="3851225"/>
            <a:ext cx="8128099" cy="637877"/>
          </a:xfrm>
          <a:prstGeom prst="roundRect">
            <a:avLst>
              <a:gd name="adj" fmla="val 11946"/>
            </a:avLst>
          </a:prstGeom>
          <a:solidFill>
            <a:srgbClr val="40695B"/>
          </a:solidFill>
          <a:ln/>
        </p:spPr>
        <p:txBody>
          <a:bodyPr wrap="square" rtlCol="0" anchor="ctr"/>
          <a:lstStyle/>
          <a:p>
            <a:pPr indent="0" marL="0">
              <a:buNone/>
            </a:pPr>
            <a:endParaRPr lang="en-US" dirty="0"/>
          </a:p>
        </p:txBody>
      </p:sp>
      <p:sp>
        <p:nvSpPr>
          <p:cNvPr id="13" name="Text 11"/>
          <p:cNvSpPr/>
          <p:nvPr/>
        </p:nvSpPr>
        <p:spPr>
          <a:xfrm>
            <a:off x="634901" y="4079677"/>
            <a:ext cx="8031682" cy="1809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但它的瓶颈在于：</a:t>
            </a:r>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信息通道的宽度受限于隐藏层维度 C</a:t>
            </a:r>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 — 就像一条单车道公路，路面再平整，通行能力终究有限。</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B165FB"/>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织毛衣的比喻</a:t>
            </a:r>
            <a:endParaRPr lang="en-US" sz="2200" dirty="0"/>
          </a:p>
        </p:txBody>
      </p:sp>
      <p:sp>
        <p:nvSpPr>
          <p:cNvPr id="5" name="Text 3"/>
          <p:cNvSpPr/>
          <p:nvPr/>
        </p:nvSpPr>
        <p:spPr>
          <a:xfrm>
            <a:off x="507950" y="860375"/>
            <a:ext cx="8290661" cy="200025"/>
          </a:xfrm>
          <a:prstGeom prst="rect">
            <a:avLst/>
          </a:prstGeom>
          <a:noFill/>
          <a:ln/>
        </p:spPr>
        <p:txBody>
          <a:bodyPr wrap="square" lIns="0" tIns="0" rIns="0" bIns="0" rtlCol="0" anchor="t"/>
          <a:lstStyle/>
          <a:p>
            <a:pPr algn="l" indent="0" marL="0">
              <a:spcBef>
                <a:spcPts val="1100"/>
              </a:spcBef>
              <a:spcAft>
                <a:spcPts val="1200"/>
              </a:spcAft>
              <a:buNone/>
            </a:pPr>
            <a:r>
              <a:rPr lang="en-US" sz="1100" i="1" dirty="0">
                <a:solidFill>
                  <a:srgbClr val="666666"/>
                </a:solidFill>
                <a:latin typeface="Arial" pitchFamily="34" charset="0"/>
                <a:ea typeface="Arial" pitchFamily="34" charset="-122"/>
                <a:cs typeface="Arial" pitchFamily="34" charset="-120"/>
              </a:rPr>
              <a:t>在Reddit上，有网友用一个比喻来解释这段技术演进：</a:t>
            </a:r>
            <a:endParaRPr lang="en-US" sz="1100" dirty="0"/>
          </a:p>
        </p:txBody>
      </p:sp>
      <p:sp>
        <p:nvSpPr>
          <p:cNvPr id="6" name="Text 4"/>
          <p:cNvSpPr/>
          <p:nvPr/>
        </p:nvSpPr>
        <p:spPr>
          <a:xfrm>
            <a:off x="507950" y="1212800"/>
            <a:ext cx="2607766" cy="1653480"/>
          </a:xfrm>
          <a:prstGeom prst="roundRect">
            <a:avLst>
              <a:gd name="adj" fmla="val 6145"/>
            </a:avLst>
          </a:prstGeom>
          <a:solidFill>
            <a:srgbClr val="F0F0F0"/>
          </a:solidFill>
          <a:ln w="19050">
            <a:solidFill>
              <a:srgbClr val="999999"/>
            </a:solidFill>
          </a:ln>
        </p:spPr>
        <p:txBody>
          <a:bodyPr wrap="square" rtlCol="0" anchor="ctr"/>
          <a:lstStyle/>
          <a:p>
            <a:pPr indent="0" marL="0">
              <a:buNone/>
            </a:pPr>
            <a:endParaRPr lang="en-US" dirty="0"/>
          </a:p>
        </p:txBody>
      </p:sp>
      <p:sp>
        <p:nvSpPr>
          <p:cNvPr id="7" name="Text 5"/>
          <p:cNvSpPr/>
          <p:nvPr/>
        </p:nvSpPr>
        <p:spPr>
          <a:xfrm>
            <a:off x="656752" y="1561951"/>
            <a:ext cx="2310164" cy="209550"/>
          </a:xfrm>
          <a:prstGeom prst="rect">
            <a:avLst/>
          </a:prstGeom>
          <a:noFill/>
          <a:ln/>
        </p:spPr>
        <p:txBody>
          <a:bodyPr wrap="square" lIns="0" tIns="0" rIns="0" bIns="0" rtlCol="0" anchor="t"/>
          <a:lstStyle/>
          <a:p>
            <a:pPr algn="ctr" indent="0" marL="0">
              <a:spcBef>
                <a:spcPts val="1400"/>
              </a:spcBef>
              <a:spcAft>
                <a:spcPts val="600"/>
              </a:spcAft>
              <a:buNone/>
            </a:pPr>
            <a:r>
              <a:rPr lang="en-US" sz="1400" b="1" dirty="0">
                <a:solidFill>
                  <a:srgbClr val="666666"/>
                </a:solidFill>
                <a:latin typeface="Arial" pitchFamily="34" charset="0"/>
                <a:ea typeface="Arial" pitchFamily="34" charset="-122"/>
                <a:cs typeface="Arial" pitchFamily="34" charset="-120"/>
              </a:rPr>
              <a:t>ResNet</a:t>
            </a:r>
            <a:endParaRPr lang="en-US" sz="1400" dirty="0"/>
          </a:p>
        </p:txBody>
      </p:sp>
      <p:sp>
        <p:nvSpPr>
          <p:cNvPr id="8" name="Text 6"/>
          <p:cNvSpPr/>
          <p:nvPr/>
        </p:nvSpPr>
        <p:spPr>
          <a:xfrm>
            <a:off x="656752" y="1911102"/>
            <a:ext cx="2310164" cy="200025"/>
          </a:xfrm>
          <a:prstGeom prst="rect">
            <a:avLst/>
          </a:prstGeom>
          <a:noFill/>
          <a:ln/>
        </p:spPr>
        <p:txBody>
          <a:bodyPr wrap="square" lIns="0" tIns="0" rIns="0" bIns="0" rtlCol="0" anchor="t"/>
          <a:lstStyle/>
          <a:p>
            <a:pPr algn="ctr" indent="0" marL="0">
              <a:spcBef>
                <a:spcPts val="1100"/>
              </a:spcBef>
              <a:spcAft>
                <a:spcPts val="600"/>
              </a:spcAft>
              <a:buNone/>
            </a:pPr>
            <a:r>
              <a:rPr lang="en-US" sz="1100" b="1" dirty="0">
                <a:solidFill>
                  <a:srgbClr val="000000"/>
                </a:solidFill>
                <a:latin typeface="Arial" pitchFamily="34" charset="0"/>
                <a:ea typeface="Arial" pitchFamily="34" charset="-122"/>
                <a:cs typeface="Arial" pitchFamily="34" charset="-120"/>
              </a:rPr>
              <a:t>单股线</a:t>
            </a:r>
            <a:endParaRPr lang="en-US" sz="1100" dirty="0"/>
          </a:p>
        </p:txBody>
      </p:sp>
      <p:sp>
        <p:nvSpPr>
          <p:cNvPr id="9" name="Text 7"/>
          <p:cNvSpPr/>
          <p:nvPr/>
        </p:nvSpPr>
        <p:spPr>
          <a:xfrm>
            <a:off x="656752" y="2238077"/>
            <a:ext cx="2310164" cy="329803"/>
          </a:xfrm>
          <a:prstGeom prst="rect">
            <a:avLst/>
          </a:prstGeom>
          <a:noFill/>
          <a:ln/>
        </p:spPr>
        <p:txBody>
          <a:bodyPr wrap="square" lIns="0" tIns="0" rIns="0" bIns="0" rtlCol="0" anchor="t"/>
          <a:lstStyle/>
          <a:p>
            <a:pPr algn="ctr" indent="0" marL="0">
              <a:lnSpc>
                <a:spcPts val="1300"/>
              </a:lnSpc>
              <a:spcBef>
                <a:spcPts val="1000"/>
              </a:spcBef>
              <a:spcAft>
                <a:spcPts val="1000"/>
              </a:spcAft>
              <a:buNone/>
            </a:pPr>
            <a:r>
              <a:rPr lang="en-US" sz="1000" dirty="0">
                <a:solidFill>
                  <a:srgbClr val="666666"/>
                </a:solidFill>
                <a:latin typeface="Arial" pitchFamily="34" charset="0"/>
                <a:ea typeface="Arial" pitchFamily="34" charset="-122"/>
                <a:cs typeface="Arial" pitchFamily="34" charset="-120"/>
              </a:rPr>
              <a:t>稳定但通道有限</a:t>
            </a:r>
            <a:endParaRPr lang="en-US" sz="1000" dirty="0"/>
          </a:p>
          <a:p>
            <a:pPr algn="ctr" indent="0" marL="0">
              <a:lnSpc>
                <a:spcPts val="1300"/>
              </a:lnSpc>
              <a:spcBef>
                <a:spcPts val="1000"/>
              </a:spcBef>
              <a:spcAft>
                <a:spcPts val="1000"/>
              </a:spcAft>
              <a:buNone/>
            </a:pPr>
            <a:r>
              <a:rPr lang="en-US" sz="1000" dirty="0">
                <a:solidFill>
                  <a:srgbClr val="666666"/>
                </a:solidFill>
                <a:latin typeface="Arial" pitchFamily="34" charset="0"/>
                <a:ea typeface="Arial" pitchFamily="34" charset="-122"/>
                <a:cs typeface="Arial" pitchFamily="34" charset="-120"/>
              </a:rPr>
              <a:t>容易断但不会乱</a:t>
            </a:r>
            <a:endParaRPr lang="en-US" sz="1000" dirty="0"/>
          </a:p>
        </p:txBody>
      </p:sp>
      <p:sp>
        <p:nvSpPr>
          <p:cNvPr id="10" name="Text 8"/>
          <p:cNvSpPr/>
          <p:nvPr/>
        </p:nvSpPr>
        <p:spPr>
          <a:xfrm>
            <a:off x="3268117" y="1212800"/>
            <a:ext cx="2607766" cy="1653480"/>
          </a:xfrm>
          <a:prstGeom prst="roundRect">
            <a:avLst>
              <a:gd name="adj" fmla="val 6145"/>
            </a:avLst>
          </a:prstGeom>
          <a:solidFill>
            <a:srgbClr val="FFF5F5"/>
          </a:solidFill>
          <a:ln w="19050">
            <a:solidFill>
              <a:srgbClr val="E74C3C"/>
            </a:solidFill>
          </a:ln>
        </p:spPr>
        <p:txBody>
          <a:bodyPr wrap="square" rtlCol="0" anchor="ctr"/>
          <a:lstStyle/>
          <a:p>
            <a:pPr indent="0" marL="0">
              <a:buNone/>
            </a:pPr>
            <a:endParaRPr lang="en-US" dirty="0"/>
          </a:p>
        </p:txBody>
      </p:sp>
      <p:sp>
        <p:nvSpPr>
          <p:cNvPr id="11" name="Text 9"/>
          <p:cNvSpPr/>
          <p:nvPr/>
        </p:nvSpPr>
        <p:spPr>
          <a:xfrm>
            <a:off x="3416918" y="1561951"/>
            <a:ext cx="2310164" cy="209550"/>
          </a:xfrm>
          <a:prstGeom prst="rect">
            <a:avLst/>
          </a:prstGeom>
          <a:noFill/>
          <a:ln/>
        </p:spPr>
        <p:txBody>
          <a:bodyPr wrap="square" lIns="0" tIns="0" rIns="0" bIns="0" rtlCol="0" anchor="t"/>
          <a:lstStyle/>
          <a:p>
            <a:pPr algn="ctr" indent="0" marL="0">
              <a:spcBef>
                <a:spcPts val="1400"/>
              </a:spcBef>
              <a:spcAft>
                <a:spcPts val="600"/>
              </a:spcAft>
              <a:buNone/>
            </a:pPr>
            <a:r>
              <a:rPr lang="en-US" sz="1400" b="1" dirty="0">
                <a:solidFill>
                  <a:srgbClr val="E74C3C"/>
                </a:solidFill>
                <a:latin typeface="Arial" pitchFamily="34" charset="0"/>
                <a:ea typeface="Arial" pitchFamily="34" charset="-122"/>
                <a:cs typeface="Arial" pitchFamily="34" charset="-120"/>
              </a:rPr>
              <a:t>Hyper-Connections</a:t>
            </a:r>
            <a:endParaRPr lang="en-US" sz="1400" dirty="0"/>
          </a:p>
        </p:txBody>
      </p:sp>
      <p:sp>
        <p:nvSpPr>
          <p:cNvPr id="12" name="Text 10"/>
          <p:cNvSpPr/>
          <p:nvPr/>
        </p:nvSpPr>
        <p:spPr>
          <a:xfrm>
            <a:off x="3416918" y="1911102"/>
            <a:ext cx="2310164" cy="200025"/>
          </a:xfrm>
          <a:prstGeom prst="rect">
            <a:avLst/>
          </a:prstGeom>
          <a:noFill/>
          <a:ln/>
        </p:spPr>
        <p:txBody>
          <a:bodyPr wrap="square" lIns="0" tIns="0" rIns="0" bIns="0" rtlCol="0" anchor="t"/>
          <a:lstStyle/>
          <a:p>
            <a:pPr algn="ctr" indent="0" marL="0">
              <a:spcBef>
                <a:spcPts val="1100"/>
              </a:spcBef>
              <a:spcAft>
                <a:spcPts val="600"/>
              </a:spcAft>
              <a:buNone/>
            </a:pPr>
            <a:r>
              <a:rPr lang="en-US" sz="1100" b="1" dirty="0">
                <a:solidFill>
                  <a:srgbClr val="000000"/>
                </a:solidFill>
                <a:latin typeface="Arial" pitchFamily="34" charset="0"/>
                <a:ea typeface="Arial" pitchFamily="34" charset="-122"/>
                <a:cs typeface="Arial" pitchFamily="34" charset="-120"/>
              </a:rPr>
              <a:t>多股线</a:t>
            </a:r>
            <a:endParaRPr lang="en-US" sz="1100" dirty="0"/>
          </a:p>
        </p:txBody>
      </p:sp>
      <p:sp>
        <p:nvSpPr>
          <p:cNvPr id="13" name="Text 11"/>
          <p:cNvSpPr/>
          <p:nvPr/>
        </p:nvSpPr>
        <p:spPr>
          <a:xfrm>
            <a:off x="3416918" y="2238077"/>
            <a:ext cx="2310164" cy="329803"/>
          </a:xfrm>
          <a:prstGeom prst="rect">
            <a:avLst/>
          </a:prstGeom>
          <a:noFill/>
          <a:ln/>
        </p:spPr>
        <p:txBody>
          <a:bodyPr wrap="square" lIns="0" tIns="0" rIns="0" bIns="0" rtlCol="0" anchor="t"/>
          <a:lstStyle/>
          <a:p>
            <a:pPr algn="ctr" indent="0" marL="0">
              <a:lnSpc>
                <a:spcPts val="1300"/>
              </a:lnSpc>
              <a:spcBef>
                <a:spcPts val="1000"/>
              </a:spcBef>
              <a:spcAft>
                <a:spcPts val="1000"/>
              </a:spcAft>
              <a:buNone/>
            </a:pPr>
            <a:r>
              <a:rPr lang="en-US" sz="1000" dirty="0">
                <a:solidFill>
                  <a:srgbClr val="666666"/>
                </a:solidFill>
                <a:latin typeface="Arial" pitchFamily="34" charset="0"/>
                <a:ea typeface="Arial" pitchFamily="34" charset="-122"/>
                <a:cs typeface="Arial" pitchFamily="34" charset="-120"/>
              </a:rPr>
              <a:t>毛衣更结实、花纹更漂亮</a:t>
            </a:r>
            <a:endParaRPr lang="en-US" sz="1000" dirty="0"/>
          </a:p>
          <a:p>
            <a:pPr algn="ctr" indent="0" marL="0">
              <a:lnSpc>
                <a:spcPts val="1300"/>
              </a:lnSpc>
              <a:spcBef>
                <a:spcPts val="1000"/>
              </a:spcBef>
              <a:spcAft>
                <a:spcPts val="1000"/>
              </a:spcAft>
              <a:buNone/>
            </a:pPr>
            <a:r>
              <a:rPr lang="en-US" sz="1000" dirty="0">
                <a:solidFill>
                  <a:srgbClr val="666666"/>
                </a:solidFill>
                <a:latin typeface="Arial" pitchFamily="34" charset="0"/>
                <a:ea typeface="Arial" pitchFamily="34" charset="-122"/>
                <a:cs typeface="Arial" pitchFamily="34" charset="-120"/>
              </a:rPr>
              <a:t>但线太多容易乱成一团</a:t>
            </a:r>
            <a:endParaRPr lang="en-US" sz="1000" dirty="0"/>
          </a:p>
        </p:txBody>
      </p:sp>
      <p:sp>
        <p:nvSpPr>
          <p:cNvPr id="14" name="Text 12"/>
          <p:cNvSpPr/>
          <p:nvPr/>
        </p:nvSpPr>
        <p:spPr>
          <a:xfrm>
            <a:off x="6028283" y="1212800"/>
            <a:ext cx="2607766" cy="1653480"/>
          </a:xfrm>
          <a:prstGeom prst="roundRect">
            <a:avLst>
              <a:gd name="adj" fmla="val 6145"/>
            </a:avLst>
          </a:prstGeom>
          <a:solidFill>
            <a:srgbClr val="F0FFF0"/>
          </a:solidFill>
          <a:ln w="19050">
            <a:solidFill>
              <a:srgbClr val="40695B"/>
            </a:solidFill>
          </a:ln>
        </p:spPr>
        <p:txBody>
          <a:bodyPr wrap="square" rtlCol="0" anchor="ctr"/>
          <a:lstStyle/>
          <a:p>
            <a:pPr indent="0" marL="0">
              <a:buNone/>
            </a:pPr>
            <a:endParaRPr lang="en-US" dirty="0"/>
          </a:p>
        </p:txBody>
      </p:sp>
      <p:sp>
        <p:nvSpPr>
          <p:cNvPr id="15" name="Text 13"/>
          <p:cNvSpPr/>
          <p:nvPr/>
        </p:nvSpPr>
        <p:spPr>
          <a:xfrm>
            <a:off x="6177085" y="1561951"/>
            <a:ext cx="2310164" cy="209550"/>
          </a:xfrm>
          <a:prstGeom prst="rect">
            <a:avLst/>
          </a:prstGeom>
          <a:noFill/>
          <a:ln/>
        </p:spPr>
        <p:txBody>
          <a:bodyPr wrap="square" lIns="0" tIns="0" rIns="0" bIns="0" rtlCol="0" anchor="t"/>
          <a:lstStyle/>
          <a:p>
            <a:pPr algn="ctr" indent="0" marL="0">
              <a:spcBef>
                <a:spcPts val="1400"/>
              </a:spcBef>
              <a:spcAft>
                <a:spcPts val="600"/>
              </a:spcAft>
              <a:buNone/>
            </a:pPr>
            <a:r>
              <a:rPr lang="en-US" sz="1400" b="1" dirty="0">
                <a:solidFill>
                  <a:srgbClr val="40695B"/>
                </a:solidFill>
                <a:latin typeface="Arial" pitchFamily="34" charset="0"/>
                <a:ea typeface="Arial" pitchFamily="34" charset="-122"/>
                <a:cs typeface="Arial" pitchFamily="34" charset="-120"/>
              </a:rPr>
              <a:t>mHC</a:t>
            </a:r>
            <a:endParaRPr lang="en-US" sz="1400" dirty="0"/>
          </a:p>
        </p:txBody>
      </p:sp>
      <p:sp>
        <p:nvSpPr>
          <p:cNvPr id="16" name="Text 14"/>
          <p:cNvSpPr/>
          <p:nvPr/>
        </p:nvSpPr>
        <p:spPr>
          <a:xfrm>
            <a:off x="6177085" y="1911102"/>
            <a:ext cx="2310164" cy="200025"/>
          </a:xfrm>
          <a:prstGeom prst="rect">
            <a:avLst/>
          </a:prstGeom>
          <a:noFill/>
          <a:ln/>
        </p:spPr>
        <p:txBody>
          <a:bodyPr wrap="square" lIns="0" tIns="0" rIns="0" bIns="0" rtlCol="0" anchor="t"/>
          <a:lstStyle/>
          <a:p>
            <a:pPr algn="ctr" indent="0" marL="0">
              <a:spcBef>
                <a:spcPts val="1100"/>
              </a:spcBef>
              <a:spcAft>
                <a:spcPts val="600"/>
              </a:spcAft>
              <a:buNone/>
            </a:pPr>
            <a:r>
              <a:rPr lang="en-US" sz="1100" b="1" dirty="0">
                <a:solidFill>
                  <a:srgbClr val="000000"/>
                </a:solidFill>
                <a:latin typeface="Arial" pitchFamily="34" charset="0"/>
                <a:ea typeface="Arial" pitchFamily="34" charset="-122"/>
                <a:cs typeface="Arial" pitchFamily="34" charset="-120"/>
              </a:rPr>
              <a:t>智能理线器</a:t>
            </a:r>
            <a:endParaRPr lang="en-US" sz="1100" dirty="0"/>
          </a:p>
        </p:txBody>
      </p:sp>
      <p:sp>
        <p:nvSpPr>
          <p:cNvPr id="17" name="Text 15"/>
          <p:cNvSpPr/>
          <p:nvPr/>
        </p:nvSpPr>
        <p:spPr>
          <a:xfrm>
            <a:off x="6177085" y="2238077"/>
            <a:ext cx="2310164" cy="329803"/>
          </a:xfrm>
          <a:prstGeom prst="rect">
            <a:avLst/>
          </a:prstGeom>
          <a:noFill/>
          <a:ln/>
        </p:spPr>
        <p:txBody>
          <a:bodyPr wrap="square" lIns="0" tIns="0" rIns="0" bIns="0" rtlCol="0" anchor="t"/>
          <a:lstStyle/>
          <a:p>
            <a:pPr algn="ctr" indent="0" marL="0">
              <a:lnSpc>
                <a:spcPts val="1300"/>
              </a:lnSpc>
              <a:spcBef>
                <a:spcPts val="1000"/>
              </a:spcBef>
              <a:spcAft>
                <a:spcPts val="1000"/>
              </a:spcAft>
              <a:buNone/>
            </a:pPr>
            <a:r>
              <a:rPr lang="en-US" sz="1000" dirty="0">
                <a:solidFill>
                  <a:srgbClr val="666666"/>
                </a:solidFill>
                <a:latin typeface="Arial" pitchFamily="34" charset="0"/>
                <a:ea typeface="Arial" pitchFamily="34" charset="-122"/>
                <a:cs typeface="Arial" pitchFamily="34" charset="-120"/>
              </a:rPr>
              <a:t>让多股线排列整齐</a:t>
            </a:r>
            <a:endParaRPr lang="en-US" sz="1000" dirty="0"/>
          </a:p>
          <a:p>
            <a:pPr algn="ctr" indent="0" marL="0">
              <a:lnSpc>
                <a:spcPts val="1300"/>
              </a:lnSpc>
              <a:spcBef>
                <a:spcPts val="1000"/>
              </a:spcBef>
              <a:spcAft>
                <a:spcPts val="1000"/>
              </a:spcAft>
              <a:buNone/>
            </a:pPr>
            <a:r>
              <a:rPr lang="en-US" sz="1000" dirty="0">
                <a:solidFill>
                  <a:srgbClr val="666666"/>
                </a:solidFill>
                <a:latin typeface="Arial" pitchFamily="34" charset="0"/>
                <a:ea typeface="Arial" pitchFamily="34" charset="-122"/>
                <a:cs typeface="Arial" pitchFamily="34" charset="-120"/>
              </a:rPr>
              <a:t>多股线优点 + 单股线顺滑</a:t>
            </a:r>
            <a:endParaRPr lang="en-US" sz="1000" dirty="0"/>
          </a:p>
        </p:txBody>
      </p:sp>
      <p:sp>
        <p:nvSpPr>
          <p:cNvPr id="18" name="Text 16"/>
          <p:cNvSpPr/>
          <p:nvPr/>
        </p:nvSpPr>
        <p:spPr>
          <a:xfrm>
            <a:off x="507950" y="2993231"/>
            <a:ext cx="8128099" cy="869752"/>
          </a:xfrm>
          <a:prstGeom prst="roundRect">
            <a:avLst>
              <a:gd name="adj" fmla="val 8761"/>
            </a:avLst>
          </a:prstGeom>
          <a:solidFill>
            <a:srgbClr val="181B24"/>
          </a:solidFill>
          <a:ln/>
        </p:spPr>
        <p:txBody>
          <a:bodyPr wrap="square" rtlCol="0" anchor="ctr"/>
          <a:lstStyle/>
          <a:p>
            <a:pPr indent="0" marL="0">
              <a:buNone/>
            </a:pPr>
            <a:endParaRPr lang="en-US" dirty="0"/>
          </a:p>
        </p:txBody>
      </p:sp>
      <p:sp>
        <p:nvSpPr>
          <p:cNvPr id="19" name="Text 17"/>
          <p:cNvSpPr/>
          <p:nvPr/>
        </p:nvSpPr>
        <p:spPr>
          <a:xfrm>
            <a:off x="660350" y="3247132"/>
            <a:ext cx="7979765" cy="361950"/>
          </a:xfrm>
          <a:prstGeom prst="rect">
            <a:avLst/>
          </a:prstGeom>
          <a:noFill/>
          <a:ln/>
        </p:spPr>
        <p:txBody>
          <a:bodyPr wrap="square" lIns="0" tIns="0" rIns="0" bIns="0" rtlCol="0" anchor="t"/>
          <a:lstStyle/>
          <a:p>
            <a:pPr algn="l" indent="0" marL="0">
              <a:spcBef>
                <a:spcPts val="1000"/>
              </a:spcBef>
              <a:spcAft>
                <a:spcPts val="1000"/>
              </a:spcAft>
              <a:buNone/>
            </a:pPr>
            <a:r>
              <a:rPr lang="en-US" sz="1000" i="1" dirty="0">
                <a:solidFill>
                  <a:srgbClr val="888888"/>
                </a:solidFill>
                <a:latin typeface="Arial" pitchFamily="34" charset="0"/>
                <a:ea typeface="Arial" pitchFamily="34" charset="-122"/>
                <a:cs typeface="Arial" pitchFamily="34" charset="-120"/>
              </a:rPr>
              <a:t>「就像织毛衣。以前我们只用单股线，容易打结也容易断。现在改用多股线一起织，毛衣更结实、花纹更漂亮。但问题是线太多容易乱成一团。所以我们发明了一个智能理线器，让多股线排列整齐，既保留了多股线的优点，又像单股线一样顺滑好织。」— Reddit用户</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B165FB"/>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Hyper-Connections 的创新</a:t>
            </a:r>
            <a:endParaRPr lang="en-US" sz="2200" dirty="0"/>
          </a:p>
        </p:txBody>
      </p:sp>
      <p:sp>
        <p:nvSpPr>
          <p:cNvPr id="5" name="Text 3"/>
          <p:cNvSpPr/>
          <p:nvPr/>
        </p:nvSpPr>
        <p:spPr>
          <a:xfrm>
            <a:off x="507950" y="847576"/>
            <a:ext cx="8290661" cy="195560"/>
          </a:xfrm>
          <a:prstGeom prst="rect">
            <a:avLst/>
          </a:prstGeom>
          <a:noFill/>
          <a:ln/>
        </p:spPr>
        <p:txBody>
          <a:bodyPr wrap="square" lIns="0" tIns="0" rIns="0" bIns="0" rtlCol="0" anchor="t"/>
          <a:lstStyle/>
          <a:p>
            <a:pPr algn="l" indent="0" marL="0">
              <a:lnSpc>
                <a:spcPts val="1540"/>
              </a:lnSpc>
              <a:spcBef>
                <a:spcPts val="1100"/>
              </a:spcBef>
              <a:spcAft>
                <a:spcPts val="800"/>
              </a:spcAft>
              <a:buNone/>
            </a:pPr>
            <a:r>
              <a:rPr lang="en-US" sz="1100" dirty="0">
                <a:solidFill>
                  <a:srgbClr val="333333"/>
                </a:solidFill>
                <a:latin typeface="Arial" pitchFamily="34" charset="0"/>
                <a:ea typeface="Arial" pitchFamily="34" charset="-122"/>
                <a:cs typeface="Arial" pitchFamily="34" charset="-120"/>
              </a:rPr>
              <a:t>2024年9月，字节跳动提出了一个大胆的想法：</a:t>
            </a:r>
            <a:pPr algn="l" indent="0" marL="0">
              <a:lnSpc>
                <a:spcPts val="1540"/>
              </a:lnSpc>
              <a:spcBef>
                <a:spcPts val="1100"/>
              </a:spcBef>
              <a:spcAft>
                <a:spcPts val="800"/>
              </a:spcAft>
              <a:buNone/>
            </a:pPr>
            <a:r>
              <a:rPr lang="en-US" sz="1100" b="1" dirty="0">
                <a:solidFill>
                  <a:srgbClr val="333333"/>
                </a:solidFill>
                <a:latin typeface="Arial" pitchFamily="34" charset="0"/>
                <a:ea typeface="Arial" pitchFamily="34" charset="-122"/>
                <a:cs typeface="Arial" pitchFamily="34" charset="-120"/>
              </a:rPr>
              <a:t>把单一残差流扩展为 n 条并行流</a:t>
            </a:r>
            <a:pPr algn="l" indent="0" marL="0">
              <a:lnSpc>
                <a:spcPts val="1540"/>
              </a:lnSpc>
              <a:spcBef>
                <a:spcPts val="1100"/>
              </a:spcBef>
              <a:spcAft>
                <a:spcPts val="800"/>
              </a:spcAft>
              <a:buNone/>
            </a:pPr>
            <a:r>
              <a:rPr lang="en-US" sz="1100" dirty="0">
                <a:solidFill>
                  <a:srgbClr val="333333"/>
                </a:solidFill>
                <a:latin typeface="Arial" pitchFamily="34" charset="0"/>
                <a:ea typeface="Arial" pitchFamily="34" charset="-122"/>
                <a:cs typeface="Arial" pitchFamily="34" charset="-120"/>
              </a:rPr>
              <a:t>，让信息有更多通道传递。</a:t>
            </a:r>
            <a:endParaRPr lang="en-US" sz="1100" dirty="0"/>
          </a:p>
        </p:txBody>
      </p:sp>
      <p:sp>
        <p:nvSpPr>
          <p:cNvPr id="6" name="Text 4"/>
          <p:cNvSpPr/>
          <p:nvPr/>
        </p:nvSpPr>
        <p:spPr>
          <a:xfrm>
            <a:off x="507950" y="1182737"/>
            <a:ext cx="8290661" cy="195560"/>
          </a:xfrm>
          <a:prstGeom prst="rect">
            <a:avLst/>
          </a:prstGeom>
          <a:noFill/>
          <a:ln/>
        </p:spPr>
        <p:txBody>
          <a:bodyPr wrap="square" lIns="0" tIns="0" rIns="0" bIns="0" rtlCol="0" anchor="t"/>
          <a:lstStyle/>
          <a:p>
            <a:pPr algn="l" indent="0" marL="0">
              <a:lnSpc>
                <a:spcPts val="1540"/>
              </a:lnSpc>
              <a:spcBef>
                <a:spcPts val="1100"/>
              </a:spcBef>
              <a:spcAft>
                <a:spcPts val="800"/>
              </a:spcAft>
              <a:buNone/>
            </a:pPr>
            <a:r>
              <a:rPr lang="en-US" sz="1100" dirty="0">
                <a:solidFill>
                  <a:srgbClr val="333333"/>
                </a:solidFill>
                <a:latin typeface="Arial" pitchFamily="34" charset="0"/>
                <a:ea typeface="Arial" pitchFamily="34" charset="-122"/>
                <a:cs typeface="Arial" pitchFamily="34" charset="-120"/>
              </a:rPr>
              <a:t>为了协调这些流，HC 引入了三个</a:t>
            </a:r>
            <a:pPr algn="l" indent="0" marL="0">
              <a:lnSpc>
                <a:spcPts val="1540"/>
              </a:lnSpc>
              <a:spcBef>
                <a:spcPts val="1100"/>
              </a:spcBef>
              <a:spcAft>
                <a:spcPts val="800"/>
              </a:spcAft>
              <a:buNone/>
            </a:pPr>
            <a:r>
              <a:rPr lang="en-US" sz="1100" b="1" dirty="0">
                <a:solidFill>
                  <a:srgbClr val="333333"/>
                </a:solidFill>
                <a:latin typeface="Arial" pitchFamily="34" charset="0"/>
                <a:ea typeface="Arial" pitchFamily="34" charset="-122"/>
                <a:cs typeface="Arial" pitchFamily="34" charset="-120"/>
              </a:rPr>
              <a:t>可学习的混合矩阵</a:t>
            </a:r>
            <a:pPr algn="l" indent="0" marL="0">
              <a:lnSpc>
                <a:spcPts val="1540"/>
              </a:lnSpc>
              <a:spcBef>
                <a:spcPts val="1100"/>
              </a:spcBef>
              <a:spcAft>
                <a:spcPts val="800"/>
              </a:spcAft>
              <a:buNone/>
            </a:pPr>
            <a:r>
              <a:rPr lang="en-US" sz="1100" dirty="0">
                <a:solidFill>
                  <a:srgbClr val="333333"/>
                </a:solidFill>
                <a:latin typeface="Arial" pitchFamily="34" charset="0"/>
                <a:ea typeface="Arial" pitchFamily="34" charset="-122"/>
                <a:cs typeface="Arial" pitchFamily="34" charset="-120"/>
              </a:rPr>
              <a:t>：</a:t>
            </a:r>
            <a:endParaRPr lang="en-US" sz="1100" dirty="0"/>
          </a:p>
        </p:txBody>
      </p:sp>
      <p:sp>
        <p:nvSpPr>
          <p:cNvPr id="7" name="Text 5"/>
          <p:cNvSpPr/>
          <p:nvPr/>
        </p:nvSpPr>
        <p:spPr>
          <a:xfrm>
            <a:off x="507950" y="1479798"/>
            <a:ext cx="2624733" cy="1178272"/>
          </a:xfrm>
          <a:prstGeom prst="roundRect">
            <a:avLst>
              <a:gd name="adj" fmla="val 6467"/>
            </a:avLst>
          </a:prstGeom>
          <a:solidFill>
            <a:srgbClr val="F5F5F7"/>
          </a:solidFill>
          <a:ln/>
        </p:spPr>
        <p:txBody>
          <a:bodyPr wrap="square" rtlCol="0" anchor="ctr"/>
          <a:lstStyle/>
          <a:p>
            <a:pPr indent="0" marL="0">
              <a:buNone/>
            </a:pPr>
            <a:endParaRPr lang="en-US" dirty="0"/>
          </a:p>
        </p:txBody>
      </p:sp>
      <p:sp>
        <p:nvSpPr>
          <p:cNvPr id="8" name="Text 6"/>
          <p:cNvSpPr/>
          <p:nvPr/>
        </p:nvSpPr>
        <p:spPr>
          <a:xfrm>
            <a:off x="611192" y="1759000"/>
            <a:ext cx="2418249" cy="245120"/>
          </a:xfrm>
          <a:prstGeom prst="rect">
            <a:avLst/>
          </a:prstGeom>
          <a:noFill/>
          <a:ln/>
        </p:spPr>
        <p:txBody>
          <a:bodyPr wrap="square" lIns="0" tIns="0" rIns="0" bIns="0" rtlCol="0" anchor="t"/>
          <a:lstStyle/>
          <a:p>
            <a:pPr algn="ctr" indent="0" marL="0">
              <a:spcBef>
                <a:spcPts val="1400"/>
              </a:spcBef>
              <a:spcAft>
                <a:spcPts val="400"/>
              </a:spcAft>
              <a:buNone/>
            </a:pPr>
            <a:r>
              <a:rPr lang="en-US" sz="1400" b="1" dirty="0">
                <a:solidFill>
                  <a:srgbClr val="B165FB"/>
                </a:solidFill>
                <a:latin typeface="Arial" pitchFamily="34" charset="0"/>
                <a:ea typeface="Arial" pitchFamily="34" charset="-122"/>
                <a:cs typeface="Arial" pitchFamily="34" charset="-120"/>
              </a:rPr>
              <a:t>Hres</a:t>
            </a:r>
            <a:endParaRPr lang="en-US" sz="1400" dirty="0"/>
          </a:p>
        </p:txBody>
      </p:sp>
      <p:sp>
        <p:nvSpPr>
          <p:cNvPr id="9" name="Text 7"/>
          <p:cNvSpPr/>
          <p:nvPr/>
        </p:nvSpPr>
        <p:spPr>
          <a:xfrm>
            <a:off x="611192" y="2118420"/>
            <a:ext cx="2418249" cy="3238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残差混合矩阵</a:t>
            </a:r>
            <a:endParaRPr lang="en-US" sz="900" dirty="0"/>
          </a:p>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控制跨流信息传递</a:t>
            </a:r>
            <a:endParaRPr lang="en-US" sz="900" dirty="0"/>
          </a:p>
        </p:txBody>
      </p:sp>
      <p:sp>
        <p:nvSpPr>
          <p:cNvPr id="10" name="Text 8"/>
          <p:cNvSpPr/>
          <p:nvPr/>
        </p:nvSpPr>
        <p:spPr>
          <a:xfrm>
            <a:off x="3259634" y="1479798"/>
            <a:ext cx="2624733" cy="1178272"/>
          </a:xfrm>
          <a:prstGeom prst="roundRect">
            <a:avLst>
              <a:gd name="adj" fmla="val 6467"/>
            </a:avLst>
          </a:prstGeom>
          <a:solidFill>
            <a:srgbClr val="F5F5F7"/>
          </a:solidFill>
          <a:ln/>
        </p:spPr>
        <p:txBody>
          <a:bodyPr wrap="square" rtlCol="0" anchor="ctr"/>
          <a:lstStyle/>
          <a:p>
            <a:pPr indent="0" marL="0">
              <a:buNone/>
            </a:pPr>
            <a:endParaRPr lang="en-US" dirty="0"/>
          </a:p>
        </p:txBody>
      </p:sp>
      <p:sp>
        <p:nvSpPr>
          <p:cNvPr id="11" name="Text 9"/>
          <p:cNvSpPr/>
          <p:nvPr/>
        </p:nvSpPr>
        <p:spPr>
          <a:xfrm>
            <a:off x="3362876" y="1759000"/>
            <a:ext cx="2418249" cy="245120"/>
          </a:xfrm>
          <a:prstGeom prst="rect">
            <a:avLst/>
          </a:prstGeom>
          <a:noFill/>
          <a:ln/>
        </p:spPr>
        <p:txBody>
          <a:bodyPr wrap="square" lIns="0" tIns="0" rIns="0" bIns="0" rtlCol="0" anchor="t"/>
          <a:lstStyle/>
          <a:p>
            <a:pPr algn="ctr" indent="0" marL="0">
              <a:spcBef>
                <a:spcPts val="1400"/>
              </a:spcBef>
              <a:spcAft>
                <a:spcPts val="400"/>
              </a:spcAft>
              <a:buNone/>
            </a:pPr>
            <a:r>
              <a:rPr lang="en-US" sz="1400" b="1" dirty="0">
                <a:solidFill>
                  <a:srgbClr val="B165FB"/>
                </a:solidFill>
                <a:latin typeface="Arial" pitchFamily="34" charset="0"/>
                <a:ea typeface="Arial" pitchFamily="34" charset="-122"/>
                <a:cs typeface="Arial" pitchFamily="34" charset="-120"/>
              </a:rPr>
              <a:t>Hpre</a:t>
            </a:r>
            <a:endParaRPr lang="en-US" sz="1400" dirty="0"/>
          </a:p>
        </p:txBody>
      </p:sp>
      <p:sp>
        <p:nvSpPr>
          <p:cNvPr id="12" name="Text 10"/>
          <p:cNvSpPr/>
          <p:nvPr/>
        </p:nvSpPr>
        <p:spPr>
          <a:xfrm>
            <a:off x="3362876" y="2118420"/>
            <a:ext cx="2418249" cy="3238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前置混合矩阵</a:t>
            </a:r>
            <a:endParaRPr lang="en-US" sz="900" dirty="0"/>
          </a:p>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进入子层前的混合</a:t>
            </a:r>
            <a:endParaRPr lang="en-US" sz="900" dirty="0"/>
          </a:p>
        </p:txBody>
      </p:sp>
      <p:sp>
        <p:nvSpPr>
          <p:cNvPr id="13" name="Text 11"/>
          <p:cNvSpPr/>
          <p:nvPr/>
        </p:nvSpPr>
        <p:spPr>
          <a:xfrm>
            <a:off x="6011317" y="1479798"/>
            <a:ext cx="2624733" cy="1178272"/>
          </a:xfrm>
          <a:prstGeom prst="roundRect">
            <a:avLst>
              <a:gd name="adj" fmla="val 6467"/>
            </a:avLst>
          </a:prstGeom>
          <a:solidFill>
            <a:srgbClr val="F5F5F7"/>
          </a:solidFill>
          <a:ln/>
        </p:spPr>
        <p:txBody>
          <a:bodyPr wrap="square" rtlCol="0" anchor="ctr"/>
          <a:lstStyle/>
          <a:p>
            <a:pPr indent="0" marL="0">
              <a:buNone/>
            </a:pPr>
            <a:endParaRPr lang="en-US" dirty="0"/>
          </a:p>
        </p:txBody>
      </p:sp>
      <p:sp>
        <p:nvSpPr>
          <p:cNvPr id="14" name="Text 12"/>
          <p:cNvSpPr/>
          <p:nvPr/>
        </p:nvSpPr>
        <p:spPr>
          <a:xfrm>
            <a:off x="6114559" y="1759000"/>
            <a:ext cx="2418249" cy="245120"/>
          </a:xfrm>
          <a:prstGeom prst="rect">
            <a:avLst/>
          </a:prstGeom>
          <a:noFill/>
          <a:ln/>
        </p:spPr>
        <p:txBody>
          <a:bodyPr wrap="square" lIns="0" tIns="0" rIns="0" bIns="0" rtlCol="0" anchor="t"/>
          <a:lstStyle/>
          <a:p>
            <a:pPr algn="ctr" indent="0" marL="0">
              <a:spcBef>
                <a:spcPts val="1400"/>
              </a:spcBef>
              <a:spcAft>
                <a:spcPts val="400"/>
              </a:spcAft>
              <a:buNone/>
            </a:pPr>
            <a:r>
              <a:rPr lang="en-US" sz="1400" b="1" dirty="0">
                <a:solidFill>
                  <a:srgbClr val="B165FB"/>
                </a:solidFill>
                <a:latin typeface="Arial" pitchFamily="34" charset="0"/>
                <a:ea typeface="Arial" pitchFamily="34" charset="-122"/>
                <a:cs typeface="Arial" pitchFamily="34" charset="-120"/>
              </a:rPr>
              <a:t>Hpost</a:t>
            </a:r>
            <a:endParaRPr lang="en-US" sz="1400" dirty="0"/>
          </a:p>
        </p:txBody>
      </p:sp>
      <p:sp>
        <p:nvSpPr>
          <p:cNvPr id="15" name="Text 13"/>
          <p:cNvSpPr/>
          <p:nvPr/>
        </p:nvSpPr>
        <p:spPr>
          <a:xfrm>
            <a:off x="6114559" y="2118420"/>
            <a:ext cx="2418249" cy="3238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后置混合矩阵</a:t>
            </a:r>
            <a:endParaRPr lang="en-US" sz="900" dirty="0"/>
          </a:p>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子层输出后的混合</a:t>
            </a:r>
            <a:endParaRPr lang="en-US" sz="900" dirty="0"/>
          </a:p>
        </p:txBody>
      </p:sp>
      <p:sp>
        <p:nvSpPr>
          <p:cNvPr id="16" name="Text 14"/>
          <p:cNvSpPr/>
          <p:nvPr/>
        </p:nvSpPr>
        <p:spPr>
          <a:xfrm>
            <a:off x="507950" y="2785021"/>
            <a:ext cx="8128099" cy="453926"/>
          </a:xfrm>
          <a:prstGeom prst="roundRect">
            <a:avLst>
              <a:gd name="adj" fmla="val 16787"/>
            </a:avLst>
          </a:prstGeom>
          <a:solidFill>
            <a:srgbClr val="E74C3C"/>
          </a:solidFill>
          <a:ln/>
        </p:spPr>
        <p:txBody>
          <a:bodyPr wrap="square" rtlCol="0" anchor="ctr"/>
          <a:lstStyle/>
          <a:p>
            <a:pPr indent="0" marL="0">
              <a:buNone/>
            </a:pPr>
            <a:endParaRPr lang="en-US" dirty="0"/>
          </a:p>
        </p:txBody>
      </p:sp>
      <p:sp>
        <p:nvSpPr>
          <p:cNvPr id="17" name="Text 15"/>
          <p:cNvSpPr/>
          <p:nvPr/>
        </p:nvSpPr>
        <p:spPr>
          <a:xfrm>
            <a:off x="660350" y="2911971"/>
            <a:ext cx="7979765" cy="200025"/>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核心思想：</a:t>
            </a:r>
            <a:pPr algn="l" indent="0" marL="0">
              <a:buNone/>
            </a:pPr>
            <a:r>
              <a:rPr lang="en-US" sz="1100" dirty="0">
                <a:solidFill>
                  <a:srgbClr val="FFFFFF"/>
                </a:solidFill>
                <a:latin typeface="Arial" pitchFamily="34" charset="0"/>
                <a:ea typeface="Arial" pitchFamily="34" charset="-122"/>
                <a:cs typeface="Arial" pitchFamily="34" charset="-120"/>
              </a:rPr>
              <a:t>通过可学习的权重矩阵，让网络自己决定如何在多条信息流之间分配和混合特征。</a:t>
            </a:r>
            <a:endParaRPr lang="en-US" sz="1100" dirty="0"/>
          </a:p>
        </p:txBody>
      </p:sp>
      <p:sp>
        <p:nvSpPr>
          <p:cNvPr id="18" name="Text 16"/>
          <p:cNvSpPr/>
          <p:nvPr/>
        </p:nvSpPr>
        <p:spPr>
          <a:xfrm>
            <a:off x="507950" y="3365897"/>
            <a:ext cx="8128099" cy="453926"/>
          </a:xfrm>
          <a:prstGeom prst="roundRect">
            <a:avLst>
              <a:gd name="adj" fmla="val 16787"/>
            </a:avLst>
          </a:prstGeom>
          <a:solidFill>
            <a:srgbClr val="181B24"/>
          </a:solidFill>
          <a:ln/>
        </p:spPr>
        <p:txBody>
          <a:bodyPr wrap="square" rtlCol="0" anchor="ctr"/>
          <a:lstStyle/>
          <a:p>
            <a:pPr indent="0" marL="0">
              <a:buNone/>
            </a:pPr>
            <a:endParaRPr lang="en-US" dirty="0"/>
          </a:p>
        </p:txBody>
      </p:sp>
      <p:sp>
        <p:nvSpPr>
          <p:cNvPr id="19" name="Text 17"/>
          <p:cNvSpPr/>
          <p:nvPr/>
        </p:nvSpPr>
        <p:spPr>
          <a:xfrm>
            <a:off x="660350" y="3492847"/>
            <a:ext cx="7979765" cy="200025"/>
          </a:xfrm>
          <a:prstGeom prst="rect">
            <a:avLst/>
          </a:prstGeom>
          <a:noFill/>
          <a:ln/>
        </p:spPr>
        <p:txBody>
          <a:bodyPr wrap="square" lIns="0" tIns="0" rIns="0" bIns="0" rtlCol="0" anchor="t"/>
          <a:lstStyle/>
          <a:p>
            <a:pPr algn="l" indent="0" marL="0">
              <a:buNone/>
            </a:pPr>
            <a:r>
              <a:rPr lang="en-US" sz="1100" dirty="0">
                <a:solidFill>
                  <a:srgbClr val="FFFFFF"/>
                </a:solidFill>
                <a:latin typeface="Arial" pitchFamily="34" charset="0"/>
                <a:ea typeface="Arial" pitchFamily="34" charset="-122"/>
                <a:cs typeface="Arial" pitchFamily="34" charset="-120"/>
              </a:rPr>
              <a:t>实验结果：在 MoE 模型上实现 </a:t>
            </a:r>
            <a:pPr algn="l" indent="0" marL="0">
              <a:buNone/>
            </a:pPr>
            <a:r>
              <a:rPr lang="en-US" sz="1100" b="1" dirty="0">
                <a:solidFill>
                  <a:srgbClr val="B165FB"/>
                </a:solidFill>
                <a:latin typeface="Arial" pitchFamily="34" charset="0"/>
                <a:ea typeface="Arial" pitchFamily="34" charset="-122"/>
                <a:cs typeface="Arial" pitchFamily="34" charset="-120"/>
              </a:rPr>
              <a:t>1.8 倍收敛加速</a:t>
            </a:r>
            <a:pPr algn="l" indent="0" marL="0">
              <a:buNone/>
            </a:pPr>
            <a:r>
              <a:rPr lang="en-US" sz="1100" dirty="0">
                <a:solidFill>
                  <a:srgbClr val="FFFFFF"/>
                </a:solidFill>
                <a:latin typeface="Arial" pitchFamily="34" charset="0"/>
                <a:ea typeface="Arial" pitchFamily="34" charset="-122"/>
                <a:cs typeface="Arial" pitchFamily="34" charset="-120"/>
              </a:rPr>
              <a:t>，证明多流架构确实有效。</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B165FB"/>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恒等映射与能量守恒</a:t>
            </a:r>
            <a:endParaRPr lang="en-US" sz="2200" dirty="0"/>
          </a:p>
        </p:txBody>
      </p:sp>
      <p:sp>
        <p:nvSpPr>
          <p:cNvPr id="5" name="Text 3"/>
          <p:cNvSpPr/>
          <p:nvPr/>
        </p:nvSpPr>
        <p:spPr>
          <a:xfrm>
            <a:off x="507950" y="860375"/>
            <a:ext cx="3968800" cy="1466404"/>
          </a:xfrm>
          <a:prstGeom prst="roundRect">
            <a:avLst>
              <a:gd name="adj" fmla="val 5196"/>
            </a:avLst>
          </a:prstGeom>
          <a:solidFill>
            <a:srgbClr val="40695B"/>
          </a:solidFill>
          <a:ln/>
        </p:spPr>
        <p:txBody>
          <a:bodyPr wrap="square" rtlCol="0" anchor="ctr"/>
          <a:lstStyle/>
          <a:p>
            <a:pPr indent="0" marL="0">
              <a:buNone/>
            </a:pPr>
            <a:endParaRPr lang="en-US" dirty="0"/>
          </a:p>
        </p:txBody>
      </p:sp>
      <p:sp>
        <p:nvSpPr>
          <p:cNvPr id="6" name="Text 4"/>
          <p:cNvSpPr/>
          <p:nvPr/>
        </p:nvSpPr>
        <p:spPr>
          <a:xfrm>
            <a:off x="660350" y="1190476"/>
            <a:ext cx="3737280" cy="247650"/>
          </a:xfrm>
          <a:prstGeom prst="rect">
            <a:avLst/>
          </a:prstGeom>
          <a:noFill/>
          <a:ln/>
        </p:spPr>
        <p:txBody>
          <a:bodyPr wrap="square" lIns="0" tIns="0" rIns="0" bIns="0" rtlCol="0" anchor="t"/>
          <a:lstStyle/>
          <a:p>
            <a:pPr algn="l" indent="0" marL="0">
              <a:spcBef>
                <a:spcPts val="1400"/>
              </a:spcBef>
              <a:spcAft>
                <a:spcPts val="600"/>
              </a:spcAft>
              <a:buNone/>
            </a:pPr>
            <a:r>
              <a:rPr lang="en-US" sz="1400" b="1" dirty="0">
                <a:solidFill>
                  <a:srgbClr val="FFFFFF"/>
                </a:solidFill>
                <a:latin typeface="Arial" pitchFamily="34" charset="0"/>
                <a:ea typeface="Arial" pitchFamily="34" charset="-122"/>
                <a:cs typeface="Arial" pitchFamily="34" charset="-120"/>
              </a:rPr>
              <a:t>恒等映射 (Identity Mapping)</a:t>
            </a:r>
            <a:endParaRPr lang="en-US" sz="1400" dirty="0"/>
          </a:p>
        </p:txBody>
      </p:sp>
      <p:sp>
        <p:nvSpPr>
          <p:cNvPr id="7" name="Text 5"/>
          <p:cNvSpPr/>
          <p:nvPr/>
        </p:nvSpPr>
        <p:spPr>
          <a:xfrm>
            <a:off x="660350" y="1565077"/>
            <a:ext cx="3737280" cy="177701"/>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原始残差连接的核心属性：当 F(x)=0 时，y = x + F(x) = x</a:t>
            </a:r>
            <a:endParaRPr lang="en-US" sz="1000" dirty="0"/>
          </a:p>
        </p:txBody>
      </p:sp>
      <p:sp>
        <p:nvSpPr>
          <p:cNvPr id="8" name="Text 6"/>
          <p:cNvSpPr/>
          <p:nvPr/>
        </p:nvSpPr>
        <p:spPr>
          <a:xfrm>
            <a:off x="660350" y="1869728"/>
            <a:ext cx="3737280" cy="177701"/>
          </a:xfrm>
          <a:prstGeom prst="rect">
            <a:avLst/>
          </a:prstGeom>
          <a:noFill/>
          <a:ln/>
        </p:spPr>
        <p:txBody>
          <a:bodyPr wrap="square" lIns="0" tIns="0" rIns="0" bIns="0" rtlCol="0" anchor="t"/>
          <a:lstStyle/>
          <a:p>
            <a:pPr algn="l" indent="0" marL="0">
              <a:lnSpc>
                <a:spcPts val="1400"/>
              </a:lnSpc>
              <a:spcBef>
                <a:spcPts val="600"/>
              </a:spcBef>
              <a:spcAft>
                <a:spcPts val="1000"/>
              </a:spcAft>
              <a:buNone/>
            </a:pPr>
            <a:r>
              <a:rPr lang="en-US" sz="1000" dirty="0">
                <a:solidFill>
                  <a:srgbClr val="FFFFFF"/>
                </a:solidFill>
                <a:latin typeface="Arial" pitchFamily="34" charset="0"/>
                <a:ea typeface="Arial" pitchFamily="34" charset="-122"/>
                <a:cs typeface="Arial" pitchFamily="34" charset="-120"/>
              </a:rPr>
              <a:t>信号可以</a:t>
            </a:r>
            <a:pPr algn="l" indent="0" marL="0">
              <a:lnSpc>
                <a:spcPts val="1400"/>
              </a:lnSpc>
              <a:spcBef>
                <a:spcPts val="600"/>
              </a:spcBef>
              <a:spcAft>
                <a:spcPts val="1000"/>
              </a:spcAft>
              <a:buNone/>
            </a:pPr>
            <a:r>
              <a:rPr lang="en-US" sz="1000" b="1" dirty="0">
                <a:solidFill>
                  <a:srgbClr val="FFFFFF"/>
                </a:solidFill>
                <a:latin typeface="Arial" pitchFamily="34" charset="0"/>
                <a:ea typeface="Arial" pitchFamily="34" charset="-122"/>
                <a:cs typeface="Arial" pitchFamily="34" charset="-120"/>
              </a:rPr>
              <a:t>无损通过</a:t>
            </a:r>
            <a:pPr algn="l" indent="0" marL="0">
              <a:lnSpc>
                <a:spcPts val="1400"/>
              </a:lnSpc>
              <a:spcBef>
                <a:spcPts val="600"/>
              </a:spcBef>
              <a:spcAft>
                <a:spcPts val="1000"/>
              </a:spcAft>
              <a:buNone/>
            </a:pPr>
            <a:r>
              <a:rPr lang="en-US" sz="1000" dirty="0">
                <a:solidFill>
                  <a:srgbClr val="FFFFFF"/>
                </a:solidFill>
                <a:latin typeface="Arial" pitchFamily="34" charset="0"/>
                <a:ea typeface="Arial" pitchFamily="34" charset="-122"/>
                <a:cs typeface="Arial" pitchFamily="34" charset="-120"/>
              </a:rPr>
              <a:t>网络层，不被放大也不被缩小。</a:t>
            </a:r>
            <a:endParaRPr lang="en-US" sz="1000" dirty="0"/>
          </a:p>
        </p:txBody>
      </p:sp>
      <p:sp>
        <p:nvSpPr>
          <p:cNvPr id="9" name="Text 7"/>
          <p:cNvSpPr/>
          <p:nvPr/>
        </p:nvSpPr>
        <p:spPr>
          <a:xfrm>
            <a:off x="507950" y="2453729"/>
            <a:ext cx="3968800" cy="1276052"/>
          </a:xfrm>
          <a:prstGeom prst="roundRect">
            <a:avLst>
              <a:gd name="adj" fmla="val 5972"/>
            </a:avLst>
          </a:prstGeom>
          <a:solidFill>
            <a:srgbClr val="F5F5F7"/>
          </a:solidFill>
          <a:ln/>
        </p:spPr>
        <p:txBody>
          <a:bodyPr wrap="square" rtlCol="0" anchor="ctr"/>
          <a:lstStyle/>
          <a:p>
            <a:pPr indent="0" marL="0">
              <a:buNone/>
            </a:pPr>
            <a:endParaRPr lang="en-US" dirty="0"/>
          </a:p>
        </p:txBody>
      </p:sp>
      <p:sp>
        <p:nvSpPr>
          <p:cNvPr id="10" name="Text 8"/>
          <p:cNvSpPr/>
          <p:nvPr/>
        </p:nvSpPr>
        <p:spPr>
          <a:xfrm>
            <a:off x="660350" y="2758529"/>
            <a:ext cx="3737280" cy="209550"/>
          </a:xfrm>
          <a:prstGeom prst="rect">
            <a:avLst/>
          </a:prstGeom>
          <a:noFill/>
          <a:ln/>
        </p:spPr>
        <p:txBody>
          <a:bodyPr wrap="square" lIns="0" tIns="0" rIns="0" bIns="0" rtlCol="0" anchor="t"/>
          <a:lstStyle/>
          <a:p>
            <a:pPr algn="l" indent="0" marL="0">
              <a:spcBef>
                <a:spcPts val="1200"/>
              </a:spcBef>
              <a:spcAft>
                <a:spcPts val="600"/>
              </a:spcAft>
              <a:buNone/>
            </a:pPr>
            <a:r>
              <a:rPr lang="en-US" sz="1200" b="1" dirty="0">
                <a:solidFill>
                  <a:srgbClr val="181B24"/>
                </a:solidFill>
                <a:latin typeface="Arial" pitchFamily="34" charset="0"/>
                <a:ea typeface="Arial" pitchFamily="34" charset="-122"/>
                <a:cs typeface="Arial" pitchFamily="34" charset="-120"/>
              </a:rPr>
              <a:t>物理学类比</a:t>
            </a:r>
            <a:endParaRPr lang="en-US" sz="1200" dirty="0"/>
          </a:p>
        </p:txBody>
      </p:sp>
      <p:sp>
        <p:nvSpPr>
          <p:cNvPr id="11" name="Text 9"/>
          <p:cNvSpPr/>
          <p:nvPr/>
        </p:nvSpPr>
        <p:spPr>
          <a:xfrm>
            <a:off x="660350" y="3095030"/>
            <a:ext cx="3737280" cy="355402"/>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666666"/>
                </a:solidFill>
                <a:latin typeface="Arial" pitchFamily="34" charset="0"/>
                <a:ea typeface="Arial" pitchFamily="34" charset="-122"/>
                <a:cs typeface="Arial" pitchFamily="34" charset="-120"/>
              </a:rPr>
              <a:t>就像能量守恒定律：你输入多少，输出就是多少。信号幅度保持稳定，不会指数级增长或衰减。</a:t>
            </a:r>
            <a:endParaRPr lang="en-US" sz="1000" dirty="0"/>
          </a:p>
        </p:txBody>
      </p:sp>
      <p:sp>
        <p:nvSpPr>
          <p:cNvPr id="12" name="Text 10"/>
          <p:cNvSpPr/>
          <p:nvPr/>
        </p:nvSpPr>
        <p:spPr>
          <a:xfrm>
            <a:off x="4667250" y="860375"/>
            <a:ext cx="3968800" cy="1771055"/>
          </a:xfrm>
          <a:prstGeom prst="roundRect">
            <a:avLst>
              <a:gd name="adj" fmla="val 4303"/>
            </a:avLst>
          </a:prstGeom>
          <a:solidFill>
            <a:srgbClr val="40695B"/>
          </a:solidFill>
          <a:ln/>
        </p:spPr>
        <p:txBody>
          <a:bodyPr wrap="square" rtlCol="0" anchor="ctr"/>
          <a:lstStyle/>
          <a:p>
            <a:pPr indent="0" marL="0">
              <a:buNone/>
            </a:pPr>
            <a:endParaRPr lang="en-US" dirty="0"/>
          </a:p>
        </p:txBody>
      </p:sp>
      <p:sp>
        <p:nvSpPr>
          <p:cNvPr id="13" name="Text 11"/>
          <p:cNvSpPr/>
          <p:nvPr/>
        </p:nvSpPr>
        <p:spPr>
          <a:xfrm>
            <a:off x="4819650" y="1190476"/>
            <a:ext cx="3737280" cy="247650"/>
          </a:xfrm>
          <a:prstGeom prst="rect">
            <a:avLst/>
          </a:prstGeom>
          <a:noFill/>
          <a:ln/>
        </p:spPr>
        <p:txBody>
          <a:bodyPr wrap="square" lIns="0" tIns="0" rIns="0" bIns="0" rtlCol="0" anchor="t"/>
          <a:lstStyle/>
          <a:p>
            <a:pPr algn="l" indent="0" marL="0">
              <a:spcBef>
                <a:spcPts val="1400"/>
              </a:spcBef>
              <a:spcAft>
                <a:spcPts val="600"/>
              </a:spcAft>
              <a:buNone/>
            </a:pPr>
            <a:r>
              <a:rPr lang="en-US" sz="1400" b="1" dirty="0">
                <a:solidFill>
                  <a:srgbClr val="FFFFFF"/>
                </a:solidFill>
                <a:latin typeface="Arial" pitchFamily="34" charset="0"/>
                <a:ea typeface="Arial" pitchFamily="34" charset="-122"/>
                <a:cs typeface="Arial" pitchFamily="34" charset="-120"/>
              </a:rPr>
              <a:t>为什么恒等映射重要？</a:t>
            </a:r>
            <a:endParaRPr lang="en-US" sz="1400" dirty="0"/>
          </a:p>
        </p:txBody>
      </p:sp>
      <p:sp>
        <p:nvSpPr>
          <p:cNvPr id="14" name="Text 12"/>
          <p:cNvSpPr/>
          <p:nvPr/>
        </p:nvSpPr>
        <p:spPr>
          <a:xfrm>
            <a:off x="4819650" y="1565077"/>
            <a:ext cx="3737280" cy="177701"/>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1. 梯度稳定</a:t>
            </a:r>
            <a:pPr algn="l" indent="0" marL="0">
              <a:lnSpc>
                <a:spcPts val="1400"/>
              </a:lnSpc>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 - 反向传播时梯度不会爆炸或消失</a:t>
            </a:r>
            <a:endParaRPr lang="en-US" sz="1000" dirty="0"/>
          </a:p>
        </p:txBody>
      </p:sp>
      <p:sp>
        <p:nvSpPr>
          <p:cNvPr id="15" name="Text 13"/>
          <p:cNvSpPr/>
          <p:nvPr/>
        </p:nvSpPr>
        <p:spPr>
          <a:xfrm>
            <a:off x="4819650" y="1869728"/>
            <a:ext cx="3737280" cy="177701"/>
          </a:xfrm>
          <a:prstGeom prst="rect">
            <a:avLst/>
          </a:prstGeom>
          <a:noFill/>
          <a:ln/>
        </p:spPr>
        <p:txBody>
          <a:bodyPr wrap="square" lIns="0" tIns="0" rIns="0" bIns="0" rtlCol="0" anchor="t"/>
          <a:lstStyle/>
          <a:p>
            <a:pPr algn="l" indent="0" marL="0">
              <a:lnSpc>
                <a:spcPts val="1400"/>
              </a:lnSpc>
              <a:spcBef>
                <a:spcPts val="400"/>
              </a:spcBef>
              <a:spcAft>
                <a:spcPts val="1000"/>
              </a:spcAft>
              <a:buNone/>
            </a:pPr>
            <a:r>
              <a:rPr lang="en-US" sz="1000" b="1" dirty="0">
                <a:solidFill>
                  <a:srgbClr val="FFFFFF"/>
                </a:solidFill>
                <a:latin typeface="Arial" pitchFamily="34" charset="0"/>
                <a:ea typeface="Arial" pitchFamily="34" charset="-122"/>
                <a:cs typeface="Arial" pitchFamily="34" charset="-120"/>
              </a:rPr>
              <a:t>2. 训练深度</a:t>
            </a:r>
            <a:pPr algn="l" indent="0" marL="0">
              <a:lnSpc>
                <a:spcPts val="1400"/>
              </a:lnSpc>
              <a:spcBef>
                <a:spcPts val="400"/>
              </a:spcBef>
              <a:spcAft>
                <a:spcPts val="1000"/>
              </a:spcAft>
              <a:buNone/>
            </a:pPr>
            <a:r>
              <a:rPr lang="en-US" sz="1000" dirty="0">
                <a:solidFill>
                  <a:srgbClr val="FFFFFF"/>
                </a:solidFill>
                <a:latin typeface="Arial" pitchFamily="34" charset="0"/>
                <a:ea typeface="Arial" pitchFamily="34" charset="-122"/>
                <a:cs typeface="Arial" pitchFamily="34" charset="-120"/>
              </a:rPr>
              <a:t> - 可以训练数百甚至上千层的网络</a:t>
            </a:r>
            <a:endParaRPr lang="en-US" sz="1000" dirty="0"/>
          </a:p>
        </p:txBody>
      </p:sp>
      <p:sp>
        <p:nvSpPr>
          <p:cNvPr id="16" name="Text 14"/>
          <p:cNvSpPr/>
          <p:nvPr/>
        </p:nvSpPr>
        <p:spPr>
          <a:xfrm>
            <a:off x="4819650" y="2174379"/>
            <a:ext cx="3737280" cy="177701"/>
          </a:xfrm>
          <a:prstGeom prst="rect">
            <a:avLst/>
          </a:prstGeom>
          <a:noFill/>
          <a:ln/>
        </p:spPr>
        <p:txBody>
          <a:bodyPr wrap="square" lIns="0" tIns="0" rIns="0" bIns="0" rtlCol="0" anchor="t"/>
          <a:lstStyle/>
          <a:p>
            <a:pPr algn="l" indent="0" marL="0">
              <a:lnSpc>
                <a:spcPts val="1400"/>
              </a:lnSpc>
              <a:spcBef>
                <a:spcPts val="400"/>
              </a:spcBef>
              <a:spcAft>
                <a:spcPts val="1000"/>
              </a:spcAft>
              <a:buNone/>
            </a:pPr>
            <a:r>
              <a:rPr lang="en-US" sz="1000" b="1" dirty="0">
                <a:solidFill>
                  <a:srgbClr val="FFFFFF"/>
                </a:solidFill>
                <a:latin typeface="Arial" pitchFamily="34" charset="0"/>
                <a:ea typeface="Arial" pitchFamily="34" charset="-122"/>
                <a:cs typeface="Arial" pitchFamily="34" charset="-120"/>
              </a:rPr>
              <a:t>3. 可预测性</a:t>
            </a:r>
            <a:pPr algn="l" indent="0" marL="0">
              <a:lnSpc>
                <a:spcPts val="1400"/>
              </a:lnSpc>
              <a:spcBef>
                <a:spcPts val="400"/>
              </a:spcBef>
              <a:spcAft>
                <a:spcPts val="1000"/>
              </a:spcAft>
              <a:buNone/>
            </a:pPr>
            <a:r>
              <a:rPr lang="en-US" sz="1000" dirty="0">
                <a:solidFill>
                  <a:srgbClr val="FFFFFF"/>
                </a:solidFill>
                <a:latin typeface="Arial" pitchFamily="34" charset="0"/>
                <a:ea typeface="Arial" pitchFamily="34" charset="-122"/>
                <a:cs typeface="Arial" pitchFamily="34" charset="-120"/>
              </a:rPr>
              <a:t> - 网络行为更加稳定可控</a:t>
            </a:r>
            <a:endParaRPr lang="en-US" sz="1000" dirty="0"/>
          </a:p>
        </p:txBody>
      </p:sp>
      <p:sp>
        <p:nvSpPr>
          <p:cNvPr id="17" name="Text 15"/>
          <p:cNvSpPr/>
          <p:nvPr/>
        </p:nvSpPr>
        <p:spPr>
          <a:xfrm>
            <a:off x="507950" y="3856732"/>
            <a:ext cx="8128099" cy="793552"/>
          </a:xfrm>
          <a:prstGeom prst="roundRect">
            <a:avLst>
              <a:gd name="adj" fmla="val 9602"/>
            </a:avLst>
          </a:prstGeom>
          <a:solidFill>
            <a:srgbClr val="181B24"/>
          </a:solidFill>
          <a:ln/>
        </p:spPr>
        <p:txBody>
          <a:bodyPr wrap="square" rtlCol="0" anchor="ctr"/>
          <a:lstStyle/>
          <a:p>
            <a:pPr indent="0" marL="0">
              <a:buNone/>
            </a:pPr>
            <a:endParaRPr lang="en-US" dirty="0"/>
          </a:p>
        </p:txBody>
      </p:sp>
      <p:sp>
        <p:nvSpPr>
          <p:cNvPr id="18" name="Text 16"/>
          <p:cNvSpPr/>
          <p:nvPr/>
        </p:nvSpPr>
        <p:spPr>
          <a:xfrm>
            <a:off x="698450" y="4148733"/>
            <a:ext cx="7902041" cy="209550"/>
          </a:xfrm>
          <a:prstGeom prst="rect">
            <a:avLst/>
          </a:prstGeom>
          <a:noFill/>
          <a:ln/>
        </p:spPr>
        <p:txBody>
          <a:bodyPr wrap="square" lIns="0" tIns="0" rIns="0" bIns="0" rtlCol="0" anchor="t"/>
          <a:lstStyle/>
          <a:p>
            <a:pPr algn="l" indent="0" marL="0">
              <a:lnSpc>
                <a:spcPts val="165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「恒等映射就像给神经网络上了一道</a:t>
            </a:r>
            <a:pPr algn="l" indent="0" marL="0">
              <a:lnSpc>
                <a:spcPts val="1650"/>
              </a:lnSpc>
              <a:spcBef>
                <a:spcPts val="1100"/>
              </a:spcBef>
              <a:spcAft>
                <a:spcPts val="1100"/>
              </a:spcAft>
              <a:buNone/>
            </a:pPr>
            <a:r>
              <a:rPr lang="en-US" sz="1100" i="1" dirty="0">
                <a:solidFill>
                  <a:srgbClr val="B165FB"/>
                </a:solidFill>
                <a:latin typeface="Arial" pitchFamily="34" charset="0"/>
                <a:ea typeface="Arial" pitchFamily="34" charset="-122"/>
                <a:cs typeface="Arial" pitchFamily="34" charset="-120"/>
              </a:rPr>
              <a:t>保险丝</a:t>
            </a:r>
            <a:pPr algn="l" indent="0" marL="0">
              <a:lnSpc>
                <a:spcPts val="165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：无论发生什么，信号都不会无限放大导致整个系统崩溃。」</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E74C3C"/>
          </a:solidFill>
          <a:ln/>
        </p:spPr>
        <p:txBody>
          <a:bodyPr wrap="square" rtlCol="0" anchor="ctr"/>
          <a:lstStyle/>
          <a:p>
            <a:pPr indent="0" marL="0">
              <a:buNone/>
            </a:pPr>
            <a:endParaRPr lang="en-US" dirty="0"/>
          </a:p>
        </p:txBody>
      </p:sp>
      <p:sp>
        <p:nvSpPr>
          <p:cNvPr id="3" name="Shape 1"/>
          <p:cNvSpPr/>
          <p:nvPr/>
        </p:nvSpPr>
        <p:spPr>
          <a:xfrm>
            <a:off x="546050" y="253901"/>
            <a:ext cx="0" cy="352425"/>
          </a:xfrm>
          <a:prstGeom prst="line">
            <a:avLst/>
          </a:prstGeom>
          <a:noFill/>
          <a:ln w="76200">
            <a:solidFill>
              <a:srgbClr val="E74C3C"/>
            </a:solidFill>
            <a:prstDash val="solid"/>
          </a:ln>
        </p:spPr>
      </p:sp>
      <p:sp>
        <p:nvSpPr>
          <p:cNvPr id="4" name="Text 2"/>
          <p:cNvSpPr/>
          <p:nvPr/>
        </p:nvSpPr>
        <p:spPr>
          <a:xfrm>
            <a:off x="774650" y="253901"/>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HC 为什么会"翻车"？</a:t>
            </a:r>
            <a:endParaRPr lang="en-US" sz="2000" dirty="0"/>
          </a:p>
        </p:txBody>
      </p:sp>
      <p:sp>
        <p:nvSpPr>
          <p:cNvPr id="5" name="Text 3"/>
          <p:cNvSpPr/>
          <p:nvPr/>
        </p:nvSpPr>
        <p:spPr>
          <a:xfrm>
            <a:off x="507950" y="733276"/>
            <a:ext cx="8290661" cy="180975"/>
          </a:xfrm>
          <a:prstGeom prst="rect">
            <a:avLst/>
          </a:prstGeom>
          <a:noFill/>
          <a:ln/>
        </p:spPr>
        <p:txBody>
          <a:bodyPr wrap="square" lIns="0" tIns="0" rIns="0" bIns="0" rtlCol="0" anchor="t"/>
          <a:lstStyle/>
          <a:p>
            <a:pPr algn="l" indent="0" marL="0">
              <a:spcBef>
                <a:spcPts val="1000"/>
              </a:spcBef>
              <a:spcAft>
                <a:spcPts val="800"/>
              </a:spcAft>
              <a:buNone/>
            </a:pPr>
            <a:r>
              <a:rPr lang="en-US" sz="1000" dirty="0">
                <a:solidFill>
                  <a:srgbClr val="333333"/>
                </a:solidFill>
                <a:latin typeface="Arial" pitchFamily="34" charset="0"/>
                <a:ea typeface="Arial" pitchFamily="34" charset="-122"/>
                <a:cs typeface="Arial" pitchFamily="34" charset="-120"/>
              </a:rPr>
              <a:t>虽然 Hyper-Connections 在实验中表现出色，但在大规模训练中暴露出严重的</a:t>
            </a:r>
            <a:pPr algn="l" indent="0" marL="0">
              <a:spcBef>
                <a:spcPts val="1000"/>
              </a:spcBef>
              <a:spcAft>
                <a:spcPts val="800"/>
              </a:spcAft>
              <a:buNone/>
            </a:pPr>
            <a:r>
              <a:rPr lang="en-US" sz="1000" b="1" dirty="0">
                <a:solidFill>
                  <a:srgbClr val="333333"/>
                </a:solidFill>
                <a:latin typeface="Arial" pitchFamily="34" charset="0"/>
                <a:ea typeface="Arial" pitchFamily="34" charset="-122"/>
                <a:cs typeface="Arial" pitchFamily="34" charset="-120"/>
              </a:rPr>
              <a:t>稳定性问题</a:t>
            </a:r>
            <a:pPr algn="l" indent="0" marL="0">
              <a:spcBef>
                <a:spcPts val="1000"/>
              </a:spcBef>
              <a:spcAft>
                <a:spcPts val="800"/>
              </a:spcAft>
              <a:buNone/>
            </a:pPr>
            <a:r>
              <a:rPr lang="en-US" sz="1000" dirty="0">
                <a:solidFill>
                  <a:srgbClr val="333333"/>
                </a:solidFill>
                <a:latin typeface="Arial" pitchFamily="34" charset="0"/>
                <a:ea typeface="Arial" pitchFamily="34" charset="-122"/>
                <a:cs typeface="Arial" pitchFamily="34" charset="-120"/>
              </a:rPr>
              <a:t>：</a:t>
            </a:r>
            <a:endParaRPr lang="en-US" sz="1000" dirty="0"/>
          </a:p>
        </p:txBody>
      </p:sp>
      <p:sp>
        <p:nvSpPr>
          <p:cNvPr id="6" name="Text 4"/>
          <p:cNvSpPr/>
          <p:nvPr/>
        </p:nvSpPr>
        <p:spPr>
          <a:xfrm>
            <a:off x="507950" y="1015752"/>
            <a:ext cx="2641699" cy="1563439"/>
          </a:xfrm>
          <a:prstGeom prst="roundRect">
            <a:avLst>
              <a:gd name="adj" fmla="val 4874"/>
            </a:avLst>
          </a:prstGeom>
          <a:solidFill>
            <a:srgbClr val="FFF5F5"/>
          </a:solidFill>
          <a:ln w="19050">
            <a:solidFill>
              <a:srgbClr val="E74C3C"/>
            </a:solidFill>
          </a:ln>
        </p:spPr>
        <p:txBody>
          <a:bodyPr wrap="square" rtlCol="0" anchor="ctr"/>
          <a:lstStyle/>
          <a:p>
            <a:pPr indent="0" marL="0">
              <a:buNone/>
            </a:pPr>
            <a:endParaRPr lang="en-US" dirty="0"/>
          </a:p>
        </p:txBody>
      </p:sp>
      <p:sp>
        <p:nvSpPr>
          <p:cNvPr id="7" name="Text 5"/>
          <p:cNvSpPr/>
          <p:nvPr/>
        </p:nvSpPr>
        <p:spPr>
          <a:xfrm>
            <a:off x="628501" y="1136303"/>
            <a:ext cx="228600" cy="228600"/>
          </a:xfrm>
          <a:prstGeom prst="roundRect">
            <a:avLst>
              <a:gd name="adj" fmla="val 400000"/>
            </a:avLst>
          </a:prstGeom>
          <a:solidFill>
            <a:srgbClr val="E74C3C"/>
          </a:solidFill>
          <a:ln/>
        </p:spPr>
        <p:txBody>
          <a:bodyPr wrap="square" rtlCol="0" anchor="ctr"/>
          <a:lstStyle/>
          <a:p>
            <a:pPr indent="0" marL="0">
              <a:buNone/>
            </a:pPr>
            <a:endParaRPr lang="en-US" dirty="0"/>
          </a:p>
        </p:txBody>
      </p:sp>
      <p:sp>
        <p:nvSpPr>
          <p:cNvPr id="8" name="Text 6"/>
          <p:cNvSpPr/>
          <p:nvPr/>
        </p:nvSpPr>
        <p:spPr>
          <a:xfrm>
            <a:off x="707380" y="1179165"/>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Text 7"/>
          <p:cNvSpPr/>
          <p:nvPr/>
        </p:nvSpPr>
        <p:spPr>
          <a:xfrm>
            <a:off x="628501" y="1504504"/>
            <a:ext cx="2448610" cy="200025"/>
          </a:xfrm>
          <a:prstGeom prst="rect">
            <a:avLst/>
          </a:prstGeom>
          <a:noFill/>
          <a:ln/>
        </p:spPr>
        <p:txBody>
          <a:bodyPr wrap="square" lIns="0" tIns="0" rIns="0" bIns="0" rtlCol="0" anchor="t"/>
          <a:lstStyle/>
          <a:p>
            <a:pPr algn="l" indent="0" marL="0">
              <a:spcBef>
                <a:spcPts val="1100"/>
              </a:spcBef>
              <a:spcAft>
                <a:spcPts val="300"/>
              </a:spcAft>
              <a:buNone/>
            </a:pPr>
            <a:r>
              <a:rPr lang="en-US" sz="1100" b="1" dirty="0">
                <a:solidFill>
                  <a:srgbClr val="E74C3C"/>
                </a:solidFill>
                <a:latin typeface="Arial" pitchFamily="34" charset="0"/>
                <a:ea typeface="Arial" pitchFamily="34" charset="-122"/>
                <a:cs typeface="Arial" pitchFamily="34" charset="-120"/>
              </a:rPr>
              <a:t>信号爆炸</a:t>
            </a:r>
            <a:endParaRPr lang="en-US" sz="1100" dirty="0"/>
          </a:p>
        </p:txBody>
      </p:sp>
      <p:sp>
        <p:nvSpPr>
          <p:cNvPr id="10" name="Text 8"/>
          <p:cNvSpPr/>
          <p:nvPr/>
        </p:nvSpPr>
        <p:spPr>
          <a:xfrm>
            <a:off x="628501" y="1818829"/>
            <a:ext cx="2448610" cy="274141"/>
          </a:xfrm>
          <a:prstGeom prst="rect">
            <a:avLst/>
          </a:prstGeom>
          <a:noFill/>
          <a:ln/>
        </p:spPr>
        <p:txBody>
          <a:bodyPr wrap="square" lIns="0" tIns="0" rIns="0" bIns="0" rtlCol="0" anchor="t"/>
          <a:lstStyle/>
          <a:p>
            <a:pPr algn="l" indent="0" marL="0">
              <a:lnSpc>
                <a:spcPts val="108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可学习权重矩阵可能大于1，导致信号每层被放大，经过多层后指数级增长。</a:t>
            </a:r>
            <a:endParaRPr lang="en-US" sz="900" dirty="0"/>
          </a:p>
        </p:txBody>
      </p:sp>
      <p:sp>
        <p:nvSpPr>
          <p:cNvPr id="11" name="Text 9"/>
          <p:cNvSpPr/>
          <p:nvPr/>
        </p:nvSpPr>
        <p:spPr>
          <a:xfrm>
            <a:off x="628501" y="2207270"/>
            <a:ext cx="2448610" cy="137071"/>
          </a:xfrm>
          <a:prstGeom prst="rect">
            <a:avLst/>
          </a:prstGeom>
          <a:noFill/>
          <a:ln/>
        </p:spPr>
        <p:txBody>
          <a:bodyPr wrap="square" lIns="0" tIns="0" rIns="0" bIns="0" rtlCol="0" anchor="t"/>
          <a:lstStyle/>
          <a:p>
            <a:pPr algn="l" indent="0" marL="0">
              <a:lnSpc>
                <a:spcPts val="1080"/>
              </a:lnSpc>
              <a:spcBef>
                <a:spcPts val="900"/>
              </a:spcBef>
              <a:spcAft>
                <a:spcPts val="900"/>
              </a:spcAft>
              <a:buNone/>
            </a:pPr>
            <a:r>
              <a:rPr lang="en-US" sz="900" b="1" dirty="0">
                <a:solidFill>
                  <a:srgbClr val="666666"/>
                </a:solidFill>
                <a:latin typeface="Arial" pitchFamily="34" charset="0"/>
                <a:ea typeface="Arial" pitchFamily="34" charset="-122"/>
                <a:cs typeface="Arial" pitchFamily="34" charset="-120"/>
              </a:rPr>
              <a:t>后果：</a:t>
            </a:r>
            <a:pPr algn="l" indent="0" marL="0">
              <a:lnSpc>
                <a:spcPts val="108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数值溢出，训练崩溃</a:t>
            </a:r>
            <a:endParaRPr lang="en-US" sz="900" dirty="0"/>
          </a:p>
        </p:txBody>
      </p:sp>
      <p:sp>
        <p:nvSpPr>
          <p:cNvPr id="12" name="Text 10"/>
          <p:cNvSpPr/>
          <p:nvPr/>
        </p:nvSpPr>
        <p:spPr>
          <a:xfrm>
            <a:off x="3251150" y="1015752"/>
            <a:ext cx="2641699" cy="1563439"/>
          </a:xfrm>
          <a:prstGeom prst="roundRect">
            <a:avLst>
              <a:gd name="adj" fmla="val 4874"/>
            </a:avLst>
          </a:prstGeom>
          <a:solidFill>
            <a:srgbClr val="FFF5F5"/>
          </a:solidFill>
          <a:ln w="19050">
            <a:solidFill>
              <a:srgbClr val="E74C3C"/>
            </a:solidFill>
          </a:ln>
        </p:spPr>
        <p:txBody>
          <a:bodyPr wrap="square" rtlCol="0" anchor="ctr"/>
          <a:lstStyle/>
          <a:p>
            <a:pPr indent="0" marL="0">
              <a:buNone/>
            </a:pPr>
            <a:endParaRPr lang="en-US" dirty="0"/>
          </a:p>
        </p:txBody>
      </p:sp>
      <p:sp>
        <p:nvSpPr>
          <p:cNvPr id="13" name="Text 11"/>
          <p:cNvSpPr/>
          <p:nvPr/>
        </p:nvSpPr>
        <p:spPr>
          <a:xfrm>
            <a:off x="3371701" y="1136303"/>
            <a:ext cx="228600" cy="228600"/>
          </a:xfrm>
          <a:prstGeom prst="roundRect">
            <a:avLst>
              <a:gd name="adj" fmla="val 400000"/>
            </a:avLst>
          </a:prstGeom>
          <a:solidFill>
            <a:srgbClr val="E74C3C"/>
          </a:solidFill>
          <a:ln/>
        </p:spPr>
        <p:txBody>
          <a:bodyPr wrap="square" rtlCol="0" anchor="ctr"/>
          <a:lstStyle/>
          <a:p>
            <a:pPr indent="0" marL="0">
              <a:buNone/>
            </a:pPr>
            <a:endParaRPr lang="en-US" dirty="0"/>
          </a:p>
        </p:txBody>
      </p:sp>
      <p:sp>
        <p:nvSpPr>
          <p:cNvPr id="14" name="Text 12"/>
          <p:cNvSpPr/>
          <p:nvPr/>
        </p:nvSpPr>
        <p:spPr>
          <a:xfrm>
            <a:off x="3450580" y="1179165"/>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5" name="Text 13"/>
          <p:cNvSpPr/>
          <p:nvPr/>
        </p:nvSpPr>
        <p:spPr>
          <a:xfrm>
            <a:off x="3371701" y="1504504"/>
            <a:ext cx="2448610" cy="200025"/>
          </a:xfrm>
          <a:prstGeom prst="rect">
            <a:avLst/>
          </a:prstGeom>
          <a:noFill/>
          <a:ln/>
        </p:spPr>
        <p:txBody>
          <a:bodyPr wrap="square" lIns="0" tIns="0" rIns="0" bIns="0" rtlCol="0" anchor="t"/>
          <a:lstStyle/>
          <a:p>
            <a:pPr algn="l" indent="0" marL="0">
              <a:spcBef>
                <a:spcPts val="1100"/>
              </a:spcBef>
              <a:spcAft>
                <a:spcPts val="300"/>
              </a:spcAft>
              <a:buNone/>
            </a:pPr>
            <a:r>
              <a:rPr lang="en-US" sz="1100" b="1" dirty="0">
                <a:solidFill>
                  <a:srgbClr val="E74C3C"/>
                </a:solidFill>
                <a:latin typeface="Arial" pitchFamily="34" charset="0"/>
                <a:ea typeface="Arial" pitchFamily="34" charset="-122"/>
                <a:cs typeface="Arial" pitchFamily="34" charset="-120"/>
              </a:rPr>
              <a:t>Loss 尖峰</a:t>
            </a:r>
            <a:endParaRPr lang="en-US" sz="1100" dirty="0"/>
          </a:p>
        </p:txBody>
      </p:sp>
      <p:sp>
        <p:nvSpPr>
          <p:cNvPr id="16" name="Text 14"/>
          <p:cNvSpPr/>
          <p:nvPr/>
        </p:nvSpPr>
        <p:spPr>
          <a:xfrm>
            <a:off x="3371701" y="1818829"/>
            <a:ext cx="2448610" cy="274141"/>
          </a:xfrm>
          <a:prstGeom prst="rect">
            <a:avLst/>
          </a:prstGeom>
          <a:noFill/>
          <a:ln/>
        </p:spPr>
        <p:txBody>
          <a:bodyPr wrap="square" lIns="0" tIns="0" rIns="0" bIns="0" rtlCol="0" anchor="t"/>
          <a:lstStyle/>
          <a:p>
            <a:pPr algn="l" indent="0" marL="0">
              <a:lnSpc>
                <a:spcPts val="108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训练过程中损失函数突然暴涨，模型"发疯"，学到的参数一夜回到解放前。</a:t>
            </a:r>
            <a:endParaRPr lang="en-US" sz="900" dirty="0"/>
          </a:p>
        </p:txBody>
      </p:sp>
      <p:sp>
        <p:nvSpPr>
          <p:cNvPr id="17" name="Text 15"/>
          <p:cNvSpPr/>
          <p:nvPr/>
        </p:nvSpPr>
        <p:spPr>
          <a:xfrm>
            <a:off x="3371701" y="2207270"/>
            <a:ext cx="2448610" cy="137071"/>
          </a:xfrm>
          <a:prstGeom prst="rect">
            <a:avLst/>
          </a:prstGeom>
          <a:noFill/>
          <a:ln/>
        </p:spPr>
        <p:txBody>
          <a:bodyPr wrap="square" lIns="0" tIns="0" rIns="0" bIns="0" rtlCol="0" anchor="t"/>
          <a:lstStyle/>
          <a:p>
            <a:pPr algn="l" indent="0" marL="0">
              <a:lnSpc>
                <a:spcPts val="1080"/>
              </a:lnSpc>
              <a:spcBef>
                <a:spcPts val="900"/>
              </a:spcBef>
              <a:spcAft>
                <a:spcPts val="900"/>
              </a:spcAft>
              <a:buNone/>
            </a:pPr>
            <a:r>
              <a:rPr lang="en-US" sz="900" b="1" dirty="0">
                <a:solidFill>
                  <a:srgbClr val="666666"/>
                </a:solidFill>
                <a:latin typeface="Arial" pitchFamily="34" charset="0"/>
                <a:ea typeface="Arial" pitchFamily="34" charset="-122"/>
                <a:cs typeface="Arial" pitchFamily="34" charset="-120"/>
              </a:rPr>
              <a:t>后果：</a:t>
            </a:r>
            <a:pPr algn="l" indent="0" marL="0">
              <a:lnSpc>
                <a:spcPts val="108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训练不稳定，需要频繁重启</a:t>
            </a:r>
            <a:endParaRPr lang="en-US" sz="900" dirty="0"/>
          </a:p>
        </p:txBody>
      </p:sp>
      <p:sp>
        <p:nvSpPr>
          <p:cNvPr id="18" name="Text 16"/>
          <p:cNvSpPr/>
          <p:nvPr/>
        </p:nvSpPr>
        <p:spPr>
          <a:xfrm>
            <a:off x="5994350" y="1015752"/>
            <a:ext cx="2641699" cy="1563439"/>
          </a:xfrm>
          <a:prstGeom prst="roundRect">
            <a:avLst>
              <a:gd name="adj" fmla="val 4874"/>
            </a:avLst>
          </a:prstGeom>
          <a:solidFill>
            <a:srgbClr val="FFF5F5"/>
          </a:solidFill>
          <a:ln w="19050">
            <a:solidFill>
              <a:srgbClr val="E74C3C"/>
            </a:solidFill>
          </a:ln>
        </p:spPr>
        <p:txBody>
          <a:bodyPr wrap="square" rtlCol="0" anchor="ctr"/>
          <a:lstStyle/>
          <a:p>
            <a:pPr indent="0" marL="0">
              <a:buNone/>
            </a:pPr>
            <a:endParaRPr lang="en-US" dirty="0"/>
          </a:p>
        </p:txBody>
      </p:sp>
      <p:sp>
        <p:nvSpPr>
          <p:cNvPr id="19" name="Text 17"/>
          <p:cNvSpPr/>
          <p:nvPr/>
        </p:nvSpPr>
        <p:spPr>
          <a:xfrm>
            <a:off x="6114901" y="1136303"/>
            <a:ext cx="228600" cy="228600"/>
          </a:xfrm>
          <a:prstGeom prst="roundRect">
            <a:avLst>
              <a:gd name="adj" fmla="val 400000"/>
            </a:avLst>
          </a:prstGeom>
          <a:solidFill>
            <a:srgbClr val="E74C3C"/>
          </a:solidFill>
          <a:ln/>
        </p:spPr>
        <p:txBody>
          <a:bodyPr wrap="square" rtlCol="0" anchor="ctr"/>
          <a:lstStyle/>
          <a:p>
            <a:pPr indent="0" marL="0">
              <a:buNone/>
            </a:pPr>
            <a:endParaRPr lang="en-US" dirty="0"/>
          </a:p>
        </p:txBody>
      </p:sp>
      <p:sp>
        <p:nvSpPr>
          <p:cNvPr id="20" name="Text 18"/>
          <p:cNvSpPr/>
          <p:nvPr/>
        </p:nvSpPr>
        <p:spPr>
          <a:xfrm>
            <a:off x="6193780" y="1179165"/>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1" name="Text 19"/>
          <p:cNvSpPr/>
          <p:nvPr/>
        </p:nvSpPr>
        <p:spPr>
          <a:xfrm>
            <a:off x="6114901" y="1504504"/>
            <a:ext cx="2448610" cy="200025"/>
          </a:xfrm>
          <a:prstGeom prst="rect">
            <a:avLst/>
          </a:prstGeom>
          <a:noFill/>
          <a:ln/>
        </p:spPr>
        <p:txBody>
          <a:bodyPr wrap="square" lIns="0" tIns="0" rIns="0" bIns="0" rtlCol="0" anchor="t"/>
          <a:lstStyle/>
          <a:p>
            <a:pPr algn="l" indent="0" marL="0">
              <a:spcBef>
                <a:spcPts val="1100"/>
              </a:spcBef>
              <a:spcAft>
                <a:spcPts val="300"/>
              </a:spcAft>
              <a:buNone/>
            </a:pPr>
            <a:r>
              <a:rPr lang="en-US" sz="1100" b="1" dirty="0">
                <a:solidFill>
                  <a:srgbClr val="E74C3C"/>
                </a:solidFill>
                <a:latin typeface="Arial" pitchFamily="34" charset="0"/>
                <a:ea typeface="Arial" pitchFamily="34" charset="-122"/>
                <a:cs typeface="Arial" pitchFamily="34" charset="-120"/>
              </a:rPr>
              <a:t>规模受限</a:t>
            </a:r>
            <a:endParaRPr lang="en-US" sz="1100" dirty="0"/>
          </a:p>
        </p:txBody>
      </p:sp>
      <p:sp>
        <p:nvSpPr>
          <p:cNvPr id="22" name="Text 20"/>
          <p:cNvSpPr/>
          <p:nvPr/>
        </p:nvSpPr>
        <p:spPr>
          <a:xfrm>
            <a:off x="6114901" y="1818829"/>
            <a:ext cx="2448610" cy="274141"/>
          </a:xfrm>
          <a:prstGeom prst="rect">
            <a:avLst/>
          </a:prstGeom>
          <a:noFill/>
          <a:ln/>
        </p:spPr>
        <p:txBody>
          <a:bodyPr wrap="square" lIns="0" tIns="0" rIns="0" bIns="0" rtlCol="0" anchor="t"/>
          <a:lstStyle/>
          <a:p>
            <a:pPr algn="l" indent="0" marL="0">
              <a:lnSpc>
                <a:spcPts val="108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模型越大、层数越多，问题越严重。小模型上完美运行的设置，到大模型就崩溃。</a:t>
            </a:r>
            <a:endParaRPr lang="en-US" sz="900" dirty="0"/>
          </a:p>
        </p:txBody>
      </p:sp>
      <p:sp>
        <p:nvSpPr>
          <p:cNvPr id="23" name="Text 21"/>
          <p:cNvSpPr/>
          <p:nvPr/>
        </p:nvSpPr>
        <p:spPr>
          <a:xfrm>
            <a:off x="6114901" y="2207270"/>
            <a:ext cx="2448610" cy="137071"/>
          </a:xfrm>
          <a:prstGeom prst="rect">
            <a:avLst/>
          </a:prstGeom>
          <a:noFill/>
          <a:ln/>
        </p:spPr>
        <p:txBody>
          <a:bodyPr wrap="square" lIns="0" tIns="0" rIns="0" bIns="0" rtlCol="0" anchor="t"/>
          <a:lstStyle/>
          <a:p>
            <a:pPr algn="l" indent="0" marL="0">
              <a:lnSpc>
                <a:spcPts val="1080"/>
              </a:lnSpc>
              <a:spcBef>
                <a:spcPts val="900"/>
              </a:spcBef>
              <a:spcAft>
                <a:spcPts val="900"/>
              </a:spcAft>
              <a:buNone/>
            </a:pPr>
            <a:r>
              <a:rPr lang="en-US" sz="900" b="1" dirty="0">
                <a:solidFill>
                  <a:srgbClr val="666666"/>
                </a:solidFill>
                <a:latin typeface="Arial" pitchFamily="34" charset="0"/>
                <a:ea typeface="Arial" pitchFamily="34" charset="-122"/>
                <a:cs typeface="Arial" pitchFamily="34" charset="-120"/>
              </a:rPr>
              <a:t>后果：</a:t>
            </a:r>
            <a:pPr algn="l" indent="0" marL="0">
              <a:lnSpc>
                <a:spcPts val="108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无法扩展到生产规模</a:t>
            </a:r>
            <a:endParaRPr lang="en-US" sz="900" dirty="0"/>
          </a:p>
        </p:txBody>
      </p:sp>
      <p:sp>
        <p:nvSpPr>
          <p:cNvPr id="24" name="Text 22"/>
          <p:cNvSpPr/>
          <p:nvPr/>
        </p:nvSpPr>
        <p:spPr>
          <a:xfrm>
            <a:off x="507950" y="2680692"/>
            <a:ext cx="8128099" cy="919758"/>
          </a:xfrm>
          <a:prstGeom prst="roundRect">
            <a:avLst>
              <a:gd name="adj" fmla="val 8285"/>
            </a:avLst>
          </a:prstGeom>
          <a:solidFill>
            <a:srgbClr val="181B24"/>
          </a:solidFill>
          <a:ln/>
        </p:spPr>
        <p:txBody>
          <a:bodyPr wrap="square" rtlCol="0" anchor="ctr"/>
          <a:lstStyle/>
          <a:p>
            <a:pPr indent="0" marL="0">
              <a:buNone/>
            </a:pPr>
            <a:endParaRPr lang="en-US" dirty="0"/>
          </a:p>
        </p:txBody>
      </p:sp>
      <p:sp>
        <p:nvSpPr>
          <p:cNvPr id="25" name="Text 23"/>
          <p:cNvSpPr/>
          <p:nvPr/>
        </p:nvSpPr>
        <p:spPr>
          <a:xfrm>
            <a:off x="634901" y="2921794"/>
            <a:ext cx="8031682" cy="200025"/>
          </a:xfrm>
          <a:prstGeom prst="rect">
            <a:avLst/>
          </a:prstGeom>
          <a:noFill/>
          <a:ln/>
        </p:spPr>
        <p:txBody>
          <a:bodyPr wrap="square" lIns="0" tIns="0" rIns="0" bIns="0" rtlCol="0" anchor="t"/>
          <a:lstStyle/>
          <a:p>
            <a:pPr algn="l" indent="0" marL="0">
              <a:spcBef>
                <a:spcPts val="1100"/>
              </a:spcBef>
              <a:spcAft>
                <a:spcPts val="400"/>
              </a:spcAft>
              <a:buNone/>
            </a:pPr>
            <a:r>
              <a:rPr lang="en-US" sz="1100" b="1" dirty="0">
                <a:solidFill>
                  <a:srgbClr val="E74C3C"/>
                </a:solidFill>
                <a:latin typeface="Arial" pitchFamily="34" charset="0"/>
                <a:ea typeface="Arial" pitchFamily="34" charset="-122"/>
                <a:cs typeface="Arial" pitchFamily="34" charset="-120"/>
              </a:rPr>
              <a:t>根本原因</a:t>
            </a:r>
            <a:endParaRPr lang="en-US" sz="1100" dirty="0"/>
          </a:p>
        </p:txBody>
      </p:sp>
      <p:sp>
        <p:nvSpPr>
          <p:cNvPr id="26" name="Text 24"/>
          <p:cNvSpPr/>
          <p:nvPr/>
        </p:nvSpPr>
        <p:spPr>
          <a:xfrm>
            <a:off x="634901" y="3236119"/>
            <a:ext cx="8031682" cy="148530"/>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FFFFFF"/>
                </a:solidFill>
                <a:latin typeface="Arial" pitchFamily="34" charset="0"/>
                <a:ea typeface="Arial" pitchFamily="34" charset="-122"/>
                <a:cs typeface="Arial" pitchFamily="34" charset="-120"/>
              </a:rPr>
              <a:t>HC 的可学习权重矩阵</a:t>
            </a:r>
            <a:pPr algn="l" indent="0" marL="0">
              <a:lnSpc>
                <a:spcPts val="1170"/>
              </a:lnSpc>
              <a:spcBef>
                <a:spcPts val="900"/>
              </a:spcBef>
              <a:spcAft>
                <a:spcPts val="900"/>
              </a:spcAft>
              <a:buNone/>
            </a:pPr>
            <a:r>
              <a:rPr lang="en-US" sz="900" b="1" dirty="0">
                <a:solidFill>
                  <a:srgbClr val="FFFFFF"/>
                </a:solidFill>
                <a:latin typeface="Arial" pitchFamily="34" charset="0"/>
                <a:ea typeface="Arial" pitchFamily="34" charset="-122"/>
                <a:cs typeface="Arial" pitchFamily="34" charset="-120"/>
              </a:rPr>
              <a:t>打破了恒等映射约束</a:t>
            </a:r>
            <a:pPr algn="l" indent="0" marL="0">
              <a:lnSpc>
                <a:spcPts val="1170"/>
              </a:lnSpc>
              <a:spcBef>
                <a:spcPts val="900"/>
              </a:spcBef>
              <a:spcAft>
                <a:spcPts val="900"/>
              </a:spcAft>
              <a:buNone/>
            </a:pPr>
            <a:r>
              <a:rPr lang="en-US" sz="900" dirty="0">
                <a:solidFill>
                  <a:srgbClr val="FFFFFF"/>
                </a:solidFill>
                <a:latin typeface="Arial" pitchFamily="34" charset="0"/>
                <a:ea typeface="Arial" pitchFamily="34" charset="-122"/>
                <a:cs typeface="Arial" pitchFamily="34" charset="-120"/>
              </a:rPr>
              <a:t>。原本"守恒"的系统变成了"放大器"，失去了残差连接最重要的稳定性保证。</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E74C3C"/>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E74C3C"/>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信号爆炸的严重程度</a:t>
            </a:r>
            <a:endParaRPr lang="en-US" sz="2200" dirty="0"/>
          </a:p>
        </p:txBody>
      </p:sp>
      <p:sp>
        <p:nvSpPr>
          <p:cNvPr id="5" name="Text 3"/>
          <p:cNvSpPr/>
          <p:nvPr/>
        </p:nvSpPr>
        <p:spPr>
          <a:xfrm>
            <a:off x="507950" y="847576"/>
            <a:ext cx="8290661" cy="200025"/>
          </a:xfrm>
          <a:prstGeom prst="rect">
            <a:avLst/>
          </a:prstGeom>
          <a:noFill/>
          <a:ln/>
        </p:spPr>
        <p:txBody>
          <a:bodyPr wrap="square" lIns="0" tIns="0" rIns="0" bIns="0" rtlCol="0" anchor="t"/>
          <a:lstStyle/>
          <a:p>
            <a:pPr algn="l" indent="0" marL="0">
              <a:spcBef>
                <a:spcPts val="1100"/>
              </a:spcBef>
              <a:spcAft>
                <a:spcPts val="1000"/>
              </a:spcAft>
              <a:buNone/>
            </a:pPr>
            <a:r>
              <a:rPr lang="en-US" sz="1100" dirty="0">
                <a:solidFill>
                  <a:srgbClr val="333333"/>
                </a:solidFill>
                <a:latin typeface="Arial" pitchFamily="34" charset="0"/>
                <a:ea typeface="Arial" pitchFamily="34" charset="-122"/>
                <a:cs typeface="Arial" pitchFamily="34" charset="-120"/>
              </a:rPr>
              <a:t>通过 </a:t>
            </a:r>
            <a:pPr algn="l" indent="0" marL="0">
              <a:spcBef>
                <a:spcPts val="1100"/>
              </a:spcBef>
              <a:spcAft>
                <a:spcPts val="1000"/>
              </a:spcAft>
              <a:buNone/>
            </a:pPr>
            <a:r>
              <a:rPr lang="en-US" sz="1100" b="1" dirty="0">
                <a:solidFill>
                  <a:srgbClr val="333333"/>
                </a:solidFill>
                <a:latin typeface="Arial" pitchFamily="34" charset="0"/>
                <a:ea typeface="Arial" pitchFamily="34" charset="-122"/>
                <a:cs typeface="Arial" pitchFamily="34" charset="-120"/>
              </a:rPr>
              <a:t>Amax</a:t>
            </a:r>
            <a:pPr algn="l" indent="0" marL="0">
              <a:spcBef>
                <a:spcPts val="1100"/>
              </a:spcBef>
              <a:spcAft>
                <a:spcPts val="1000"/>
              </a:spcAft>
              <a:buNone/>
            </a:pPr>
            <a:r>
              <a:rPr lang="en-US" sz="1100" dirty="0">
                <a:solidFill>
                  <a:srgbClr val="333333"/>
                </a:solidFill>
                <a:latin typeface="Arial" pitchFamily="34" charset="0"/>
                <a:ea typeface="Arial" pitchFamily="34" charset="-122"/>
                <a:cs typeface="Arial" pitchFamily="34" charset="-120"/>
              </a:rPr>
              <a:t>（矩阵最大放大倍数）指标，我们可以量化 HC 的信号放大问题：</a:t>
            </a:r>
            <a:endParaRPr lang="en-US" sz="1100" dirty="0"/>
          </a:p>
        </p:txBody>
      </p:sp>
      <p:sp>
        <p:nvSpPr>
          <p:cNvPr id="6" name="Text 4"/>
          <p:cNvSpPr/>
          <p:nvPr/>
        </p:nvSpPr>
        <p:spPr>
          <a:xfrm>
            <a:off x="507950" y="3085058"/>
            <a:ext cx="8128099" cy="653951"/>
          </a:xfrm>
          <a:prstGeom prst="roundRect">
            <a:avLst>
              <a:gd name="adj" fmla="val 11652"/>
            </a:avLst>
          </a:prstGeom>
          <a:solidFill>
            <a:srgbClr val="E74C3C"/>
          </a:solidFill>
          <a:ln/>
        </p:spPr>
        <p:txBody>
          <a:bodyPr wrap="square" rtlCol="0" anchor="ctr"/>
          <a:lstStyle/>
          <a:p>
            <a:pPr indent="0" marL="0">
              <a:buNone/>
            </a:pPr>
            <a:endParaRPr lang="en-US" dirty="0"/>
          </a:p>
        </p:txBody>
      </p:sp>
      <p:sp>
        <p:nvSpPr>
          <p:cNvPr id="7" name="Text 5"/>
          <p:cNvSpPr/>
          <p:nvPr/>
        </p:nvSpPr>
        <p:spPr>
          <a:xfrm>
            <a:off x="660350" y="3212009"/>
            <a:ext cx="7979765" cy="40005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震撼发现：</a:t>
            </a:r>
            <a:pPr algn="l" indent="0" marL="0">
              <a:buNone/>
            </a:pPr>
            <a:r>
              <a:rPr lang="en-US" sz="1100" dirty="0">
                <a:solidFill>
                  <a:srgbClr val="FFFFFF"/>
                </a:solidFill>
                <a:latin typeface="Arial" pitchFamily="34" charset="0"/>
                <a:ea typeface="Arial" pitchFamily="34" charset="-122"/>
                <a:cs typeface="Arial" pitchFamily="34" charset="-120"/>
              </a:rPr>
              <a:t>Taylor Kolasinski 在仅 1.7B 参数的模型上就观测到了 </a:t>
            </a:r>
            <a:pPr algn="l" indent="0" marL="0">
              <a:buNone/>
            </a:pPr>
            <a:r>
              <a:rPr lang="en-US" sz="1100" b="1" dirty="0">
                <a:solidFill>
                  <a:srgbClr val="FFFFFF"/>
                </a:solidFill>
                <a:latin typeface="Arial" pitchFamily="34" charset="0"/>
                <a:ea typeface="Arial" pitchFamily="34" charset="-122"/>
                <a:cs typeface="Arial" pitchFamily="34" charset="-120"/>
              </a:rPr>
              <a:t>10,924 倍</a:t>
            </a:r>
            <a:pPr algn="l" indent="0" marL="0">
              <a:buNone/>
            </a:pPr>
            <a:r>
              <a:rPr lang="en-US" sz="1100" dirty="0">
                <a:solidFill>
                  <a:srgbClr val="FFFFFF"/>
                </a:solidFill>
                <a:latin typeface="Arial" pitchFamily="34" charset="0"/>
                <a:ea typeface="Arial" pitchFamily="34" charset="-122"/>
                <a:cs typeface="Arial" pitchFamily="34" charset="-120"/>
              </a:rPr>
              <a:t>的信号放大，远超 DeepSeek 在 27B 模型上报告的 3,000 倍！这说明问题比预想的更加严重。</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B165FB"/>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"富人的问题"</a:t>
            </a:r>
            <a:endParaRPr lang="en-US" sz="2200" dirty="0"/>
          </a:p>
        </p:txBody>
      </p:sp>
      <p:sp>
        <p:nvSpPr>
          <p:cNvPr id="5" name="Text 3"/>
          <p:cNvSpPr/>
          <p:nvPr/>
        </p:nvSpPr>
        <p:spPr>
          <a:xfrm>
            <a:off x="507950" y="860375"/>
            <a:ext cx="8290661" cy="209550"/>
          </a:xfrm>
          <a:prstGeom prst="rect">
            <a:avLst/>
          </a:prstGeom>
          <a:noFill/>
          <a:ln/>
        </p:spPr>
        <p:txBody>
          <a:bodyPr wrap="square" lIns="0" tIns="0" rIns="0" bIns="0" rtlCol="0" anchor="t"/>
          <a:lstStyle/>
          <a:p>
            <a:pPr algn="l" indent="0" marL="0">
              <a:spcBef>
                <a:spcPts val="1200"/>
              </a:spcBef>
              <a:spcAft>
                <a:spcPts val="1200"/>
              </a:spcAft>
              <a:buNone/>
            </a:pPr>
            <a:r>
              <a:rPr lang="en-US" sz="1200" i="1" dirty="0">
                <a:solidFill>
                  <a:srgbClr val="666666"/>
                </a:solidFill>
                <a:latin typeface="Arial" pitchFamily="34" charset="0"/>
                <a:ea typeface="Arial" pitchFamily="34" charset="-122"/>
                <a:cs typeface="Arial" pitchFamily="34" charset="-120"/>
              </a:rPr>
              <a:t>这个问题的特殊之处：只有在训练超大规模模型时才会显现</a:t>
            </a:r>
            <a:endParaRPr lang="en-US" sz="1200" dirty="0"/>
          </a:p>
        </p:txBody>
      </p:sp>
      <p:sp>
        <p:nvSpPr>
          <p:cNvPr id="6" name="Text 4"/>
          <p:cNvSpPr/>
          <p:nvPr/>
        </p:nvSpPr>
        <p:spPr>
          <a:xfrm>
            <a:off x="507950" y="1222325"/>
            <a:ext cx="3968800" cy="1574750"/>
          </a:xfrm>
          <a:prstGeom prst="roundRect">
            <a:avLst>
              <a:gd name="adj" fmla="val 4839"/>
            </a:avLst>
          </a:prstGeom>
          <a:solidFill>
            <a:srgbClr val="F5F5F7"/>
          </a:solidFill>
          <a:ln/>
        </p:spPr>
        <p:txBody>
          <a:bodyPr wrap="square" rtlCol="0" anchor="ctr"/>
          <a:lstStyle/>
          <a:p>
            <a:pPr indent="0" marL="0">
              <a:buNone/>
            </a:pPr>
            <a:endParaRPr lang="en-US" dirty="0"/>
          </a:p>
        </p:txBody>
      </p:sp>
      <p:sp>
        <p:nvSpPr>
          <p:cNvPr id="7" name="Text 5"/>
          <p:cNvSpPr/>
          <p:nvPr/>
        </p:nvSpPr>
        <p:spPr>
          <a:xfrm>
            <a:off x="660350" y="1514326"/>
            <a:ext cx="3737280" cy="200025"/>
          </a:xfrm>
          <a:prstGeom prst="rect">
            <a:avLst/>
          </a:prstGeom>
          <a:noFill/>
          <a:ln/>
        </p:spPr>
        <p:txBody>
          <a:bodyPr wrap="square" lIns="0" tIns="0" rIns="0" bIns="0" rtlCol="0" anchor="t"/>
          <a:lstStyle/>
          <a:p>
            <a:pPr algn="l" indent="0" marL="0">
              <a:spcBef>
                <a:spcPts val="1100"/>
              </a:spcBef>
              <a:spcAft>
                <a:spcPts val="600"/>
              </a:spcAft>
              <a:buNone/>
            </a:pPr>
            <a:r>
              <a:rPr lang="en-US" sz="1100" dirty="0">
                <a:solidFill>
                  <a:srgbClr val="666666"/>
                </a:solidFill>
                <a:latin typeface="Arial" pitchFamily="34" charset="0"/>
                <a:ea typeface="Arial" pitchFamily="34" charset="-122"/>
                <a:cs typeface="Arial" pitchFamily="34" charset="-120"/>
              </a:rPr>
              <a:t>普通研究者 / 小公司</a:t>
            </a:r>
            <a:endParaRPr lang="en-US" sz="1100" dirty="0"/>
          </a:p>
        </p:txBody>
      </p:sp>
      <p:sp>
        <p:nvSpPr>
          <p:cNvPr id="8" name="Text 6"/>
          <p:cNvSpPr/>
          <p:nvPr/>
        </p:nvSpPr>
        <p:spPr>
          <a:xfrm>
            <a:off x="660350" y="2019151"/>
            <a:ext cx="3737280" cy="400050"/>
          </a:xfrm>
          <a:prstGeom prst="rect">
            <a:avLst/>
          </a:prstGeom>
          <a:noFill/>
          <a:ln/>
        </p:spPr>
        <p:txBody>
          <a:bodyPr wrap="square" lIns="0" tIns="0" rIns="0" bIns="0" rtlCol="0" anchor="t"/>
          <a:lstStyle/>
          <a:p>
            <a:pPr algn="l" indent="0" marL="0">
              <a:spcBef>
                <a:spcPts val="2400"/>
              </a:spcBef>
              <a:spcAft>
                <a:spcPts val="600"/>
              </a:spcAft>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9" name="Text 7"/>
          <p:cNvSpPr/>
          <p:nvPr/>
        </p:nvSpPr>
        <p:spPr>
          <a:xfrm>
            <a:off x="660350" y="2546152"/>
            <a:ext cx="3737280" cy="533102"/>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训练 10M-1B 参数模型</a:t>
            </a:r>
            <a:endParaRPr lang="en-US" sz="1000" dirty="0"/>
          </a:p>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HC 可能表现良好</a:t>
            </a:r>
            <a:endParaRPr lang="en-US" sz="1000" dirty="0"/>
          </a:p>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问题不明显，容易忽略</a:t>
            </a:r>
            <a:endParaRPr lang="en-US" sz="1000" dirty="0"/>
          </a:p>
        </p:txBody>
      </p:sp>
      <p:sp>
        <p:nvSpPr>
          <p:cNvPr id="10" name="Text 8"/>
          <p:cNvSpPr/>
          <p:nvPr/>
        </p:nvSpPr>
        <p:spPr>
          <a:xfrm>
            <a:off x="4667250" y="1222325"/>
            <a:ext cx="3968800" cy="1574750"/>
          </a:xfrm>
          <a:prstGeom prst="roundRect">
            <a:avLst>
              <a:gd name="adj" fmla="val 4839"/>
            </a:avLst>
          </a:prstGeom>
          <a:solidFill>
            <a:srgbClr val="181B24"/>
          </a:solidFill>
          <a:ln/>
        </p:spPr>
        <p:txBody>
          <a:bodyPr wrap="square" rtlCol="0" anchor="ctr"/>
          <a:lstStyle/>
          <a:p>
            <a:pPr indent="0" marL="0">
              <a:buNone/>
            </a:pPr>
            <a:endParaRPr lang="en-US" dirty="0"/>
          </a:p>
        </p:txBody>
      </p:sp>
      <p:sp>
        <p:nvSpPr>
          <p:cNvPr id="11" name="Text 9"/>
          <p:cNvSpPr/>
          <p:nvPr/>
        </p:nvSpPr>
        <p:spPr>
          <a:xfrm>
            <a:off x="4819650" y="1514326"/>
            <a:ext cx="3737280" cy="200025"/>
          </a:xfrm>
          <a:prstGeom prst="rect">
            <a:avLst/>
          </a:prstGeom>
          <a:noFill/>
          <a:ln/>
        </p:spPr>
        <p:txBody>
          <a:bodyPr wrap="square" lIns="0" tIns="0" rIns="0" bIns="0" rtlCol="0" anchor="t"/>
          <a:lstStyle/>
          <a:p>
            <a:pPr algn="l" indent="0" marL="0">
              <a:spcBef>
                <a:spcPts val="1100"/>
              </a:spcBef>
              <a:spcAft>
                <a:spcPts val="600"/>
              </a:spcAft>
              <a:buNone/>
            </a:pPr>
            <a:r>
              <a:rPr lang="en-US" sz="1100" dirty="0">
                <a:solidFill>
                  <a:srgbClr val="B165FB"/>
                </a:solidFill>
                <a:latin typeface="Arial" pitchFamily="34" charset="0"/>
                <a:ea typeface="Arial" pitchFamily="34" charset="-122"/>
                <a:cs typeface="Arial" pitchFamily="34" charset="-120"/>
              </a:rPr>
              <a:t>DeepSeek / 大厂</a:t>
            </a:r>
            <a:endParaRPr lang="en-US" sz="1100" dirty="0"/>
          </a:p>
        </p:txBody>
      </p:sp>
      <p:sp>
        <p:nvSpPr>
          <p:cNvPr id="12" name="Text 10"/>
          <p:cNvSpPr/>
          <p:nvPr/>
        </p:nvSpPr>
        <p:spPr>
          <a:xfrm>
            <a:off x="4819650" y="2019151"/>
            <a:ext cx="3737280" cy="400050"/>
          </a:xfrm>
          <a:prstGeom prst="rect">
            <a:avLst/>
          </a:prstGeom>
          <a:noFill/>
          <a:ln/>
        </p:spPr>
        <p:txBody>
          <a:bodyPr wrap="square" lIns="0" tIns="0" rIns="0" bIns="0" rtlCol="0" anchor="t"/>
          <a:lstStyle/>
          <a:p>
            <a:pPr algn="l" indent="0" marL="0">
              <a:spcBef>
                <a:spcPts val="2400"/>
              </a:spcBef>
              <a:spcAft>
                <a:spcPts val="600"/>
              </a:spcAft>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13" name="Text 11"/>
          <p:cNvSpPr/>
          <p:nvPr/>
        </p:nvSpPr>
        <p:spPr>
          <a:xfrm>
            <a:off x="4819650" y="2546152"/>
            <a:ext cx="3737280" cy="533102"/>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训练 27B+ 参数模型</a:t>
            </a:r>
            <a:endParaRPr lang="en-US" sz="1000" dirty="0"/>
          </a:p>
          <a:p>
            <a:pPr algn="l" indent="0" marL="0">
              <a:lnSpc>
                <a:spcPts val="1400"/>
              </a:lnSpc>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HC 立即崩溃</a:t>
            </a:r>
            <a:endParaRPr lang="en-US" sz="1000" dirty="0"/>
          </a:p>
          <a:p>
            <a:pPr algn="l" indent="0" marL="0">
              <a:lnSpc>
                <a:spcPts val="1400"/>
              </a:lnSpc>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必须解决才能继续</a:t>
            </a:r>
            <a:endParaRPr lang="en-US" sz="1000" dirty="0"/>
          </a:p>
        </p:txBody>
      </p:sp>
      <p:sp>
        <p:nvSpPr>
          <p:cNvPr id="14" name="Text 12"/>
          <p:cNvSpPr/>
          <p:nvPr/>
        </p:nvSpPr>
        <p:spPr>
          <a:xfrm>
            <a:off x="507950" y="2924026"/>
            <a:ext cx="8128099" cy="1003102"/>
          </a:xfrm>
          <a:prstGeom prst="roundRect">
            <a:avLst>
              <a:gd name="adj" fmla="val 7596"/>
            </a:avLst>
          </a:prstGeom>
          <a:solidFill>
            <a:srgbClr val="40695B"/>
          </a:solidFill>
          <a:ln/>
        </p:spPr>
        <p:txBody>
          <a:bodyPr wrap="square" rtlCol="0" anchor="ctr"/>
          <a:lstStyle/>
          <a:p>
            <a:pPr indent="0" marL="0">
              <a:buNone/>
            </a:pPr>
            <a:endParaRPr lang="en-US" dirty="0"/>
          </a:p>
        </p:txBody>
      </p:sp>
      <p:sp>
        <p:nvSpPr>
          <p:cNvPr id="15" name="Text 13"/>
          <p:cNvSpPr/>
          <p:nvPr/>
        </p:nvSpPr>
        <p:spPr>
          <a:xfrm>
            <a:off x="660350" y="3216027"/>
            <a:ext cx="7979765" cy="419100"/>
          </a:xfrm>
          <a:prstGeom prst="rect">
            <a:avLst/>
          </a:prstGeom>
          <a:noFill/>
          <a:ln/>
        </p:spPr>
        <p:txBody>
          <a:bodyPr wrap="square" lIns="0" tIns="0" rIns="0" bIns="0" rtlCol="0" anchor="t"/>
          <a:lstStyle/>
          <a:p>
            <a:pPr algn="l" indent="0" marL="0">
              <a:lnSpc>
                <a:spcPts val="1650"/>
              </a:lnSpc>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洞察：</a:t>
            </a:r>
            <a:pPr algn="l" indent="0" marL="0">
              <a:lnSpc>
                <a:spcPts val="165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这是一个"scale-dependent"的问题。小规模实验中一切正常的技术，在扩展到生产规模时可能完全失效。</a:t>
            </a:r>
            <a:pPr algn="l" indent="0" marL="0">
              <a:lnSpc>
                <a:spcPts val="1650"/>
              </a:lnSpc>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只有真正在前沿规模训练模型的团队，才会遭遇并有动力解决这类问题。</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228600"/>
            <a:ext cx="0" cy="314325"/>
          </a:xfrm>
          <a:prstGeom prst="line">
            <a:avLst/>
          </a:prstGeom>
          <a:noFill/>
          <a:ln w="76200">
            <a:solidFill>
              <a:srgbClr val="B165FB"/>
            </a:solidFill>
            <a:prstDash val="solid"/>
          </a:ln>
        </p:spPr>
      </p:sp>
      <p:sp>
        <p:nvSpPr>
          <p:cNvPr id="4" name="Text 2"/>
          <p:cNvSpPr/>
          <p:nvPr/>
        </p:nvSpPr>
        <p:spPr>
          <a:xfrm>
            <a:off x="774650" y="228600"/>
            <a:ext cx="8018627" cy="314325"/>
          </a:xfrm>
          <a:prstGeom prst="rect">
            <a:avLst/>
          </a:prstGeom>
          <a:noFill/>
          <a:ln/>
        </p:spPr>
        <p:txBody>
          <a:bodyPr wrap="square" lIns="0" tIns="0" rIns="0" bIns="0" rtlCol="0" anchor="t"/>
          <a:lstStyle/>
          <a:p>
            <a:pPr algn="l" indent="0" marL="0">
              <a:buNone/>
            </a:pPr>
            <a:r>
              <a:rPr lang="en-US" sz="1800" b="1" dirty="0">
                <a:solidFill>
                  <a:srgbClr val="181B24"/>
                </a:solidFill>
                <a:latin typeface="Arial" pitchFamily="34" charset="0"/>
                <a:ea typeface="Arial" pitchFamily="34" charset="-122"/>
                <a:cs typeface="Arial" pitchFamily="34" charset="-120"/>
              </a:rPr>
              <a:t>Amax 度量指标解释</a:t>
            </a:r>
            <a:endParaRPr lang="en-US" sz="1800" dirty="0"/>
          </a:p>
        </p:txBody>
      </p:sp>
      <p:sp>
        <p:nvSpPr>
          <p:cNvPr id="5" name="Text 3"/>
          <p:cNvSpPr/>
          <p:nvPr/>
        </p:nvSpPr>
        <p:spPr>
          <a:xfrm>
            <a:off x="507950" y="644426"/>
            <a:ext cx="8128099" cy="971252"/>
          </a:xfrm>
          <a:prstGeom prst="roundRect">
            <a:avLst>
              <a:gd name="adj" fmla="val 7846"/>
            </a:avLst>
          </a:prstGeom>
          <a:solidFill>
            <a:srgbClr val="181B24"/>
          </a:solidFill>
          <a:ln/>
        </p:spPr>
        <p:txBody>
          <a:bodyPr wrap="square" rtlCol="0" anchor="ctr"/>
          <a:lstStyle/>
          <a:p>
            <a:pPr indent="0" marL="0">
              <a:buNone/>
            </a:pPr>
            <a:endParaRPr lang="en-US" dirty="0"/>
          </a:p>
        </p:txBody>
      </p:sp>
      <p:sp>
        <p:nvSpPr>
          <p:cNvPr id="6" name="Text 4"/>
          <p:cNvSpPr/>
          <p:nvPr/>
        </p:nvSpPr>
        <p:spPr>
          <a:xfrm>
            <a:off x="582117" y="923627"/>
            <a:ext cx="7979765" cy="200025"/>
          </a:xfrm>
          <a:prstGeom prst="rect">
            <a:avLst/>
          </a:prstGeom>
          <a:noFill/>
          <a:ln/>
        </p:spPr>
        <p:txBody>
          <a:bodyPr wrap="square" lIns="0" tIns="0" rIns="0" bIns="0" rtlCol="0" anchor="t"/>
          <a:lstStyle/>
          <a:p>
            <a:pPr algn="ctr" indent="0" marL="0">
              <a:spcBef>
                <a:spcPts val="1400"/>
              </a:spcBef>
              <a:spcAft>
                <a:spcPts val="400"/>
              </a:spcAft>
              <a:buNone/>
            </a:pPr>
            <a:r>
              <a:rPr lang="en-US" sz="1400" b="1" dirty="0">
                <a:solidFill>
                  <a:srgbClr val="B165FB"/>
                </a:solidFill>
                <a:latin typeface="Georgia" pitchFamily="34" charset="0"/>
                <a:ea typeface="Georgia" pitchFamily="34" charset="-122"/>
                <a:cs typeface="Georgia" pitchFamily="34" charset="-120"/>
              </a:rPr>
              <a:t>Amax = max( ||A||₁ , ||A||∞ )</a:t>
            </a:r>
            <a:endParaRPr lang="en-US" sz="1400" dirty="0"/>
          </a:p>
        </p:txBody>
      </p:sp>
      <p:sp>
        <p:nvSpPr>
          <p:cNvPr id="7" name="Text 5"/>
          <p:cNvSpPr/>
          <p:nvPr/>
        </p:nvSpPr>
        <p:spPr>
          <a:xfrm>
            <a:off x="582117" y="1237952"/>
            <a:ext cx="7979765" cy="161925"/>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FFFFFF"/>
                </a:solidFill>
                <a:latin typeface="Arial" pitchFamily="34" charset="0"/>
                <a:ea typeface="Arial" pitchFamily="34" charset="-122"/>
                <a:cs typeface="Arial" pitchFamily="34" charset="-120"/>
              </a:rPr>
              <a:t>矩阵 A 的行和列绝对值之和的最大值</a:t>
            </a:r>
            <a:endParaRPr lang="en-US" sz="900" dirty="0"/>
          </a:p>
        </p:txBody>
      </p:sp>
      <p:sp>
        <p:nvSpPr>
          <p:cNvPr id="8" name="Text 6"/>
          <p:cNvSpPr/>
          <p:nvPr/>
        </p:nvSpPr>
        <p:spPr>
          <a:xfrm>
            <a:off x="507950" y="1691878"/>
            <a:ext cx="2641699" cy="1134517"/>
          </a:xfrm>
          <a:prstGeom prst="roundRect">
            <a:avLst>
              <a:gd name="adj" fmla="val 6717"/>
            </a:avLst>
          </a:prstGeom>
          <a:solidFill>
            <a:srgbClr val="F5F5F7"/>
          </a:solidFill>
          <a:ln/>
        </p:spPr>
        <p:txBody>
          <a:bodyPr wrap="square" rtlCol="0" anchor="ctr"/>
          <a:lstStyle/>
          <a:p>
            <a:pPr indent="0" marL="0">
              <a:buNone/>
            </a:pPr>
            <a:endParaRPr lang="en-US" dirty="0"/>
          </a:p>
        </p:txBody>
      </p:sp>
      <p:sp>
        <p:nvSpPr>
          <p:cNvPr id="9" name="Text 7"/>
          <p:cNvSpPr/>
          <p:nvPr/>
        </p:nvSpPr>
        <p:spPr>
          <a:xfrm>
            <a:off x="584150" y="1895029"/>
            <a:ext cx="2539085" cy="180975"/>
          </a:xfrm>
          <a:prstGeom prst="rect">
            <a:avLst/>
          </a:prstGeom>
          <a:noFill/>
          <a:ln/>
        </p:spPr>
        <p:txBody>
          <a:bodyPr wrap="square" lIns="0" tIns="0" rIns="0" bIns="0" rtlCol="0" anchor="t"/>
          <a:lstStyle/>
          <a:p>
            <a:pPr algn="l" indent="0" marL="0">
              <a:spcBef>
                <a:spcPts val="1000"/>
              </a:spcBef>
              <a:spcAft>
                <a:spcPts val="400"/>
              </a:spcAft>
              <a:buNone/>
            </a:pPr>
            <a:r>
              <a:rPr lang="en-US" sz="1000" b="1" dirty="0">
                <a:solidFill>
                  <a:srgbClr val="181B24"/>
                </a:solidFill>
                <a:latin typeface="Arial" pitchFamily="34" charset="0"/>
                <a:ea typeface="Arial" pitchFamily="34" charset="-122"/>
                <a:cs typeface="Arial" pitchFamily="34" charset="-120"/>
              </a:rPr>
              <a:t>直观理解</a:t>
            </a:r>
            <a:endParaRPr lang="en-US" sz="1000" dirty="0"/>
          </a:p>
        </p:txBody>
      </p:sp>
      <p:sp>
        <p:nvSpPr>
          <p:cNvPr id="10" name="Text 8"/>
          <p:cNvSpPr/>
          <p:nvPr/>
        </p:nvSpPr>
        <p:spPr>
          <a:xfrm>
            <a:off x="584150" y="2190304"/>
            <a:ext cx="2539085" cy="445591"/>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Amax 衡量一个矩阵能将信号</a:t>
            </a:r>
            <a:pPr algn="l" indent="0" marL="0">
              <a:lnSpc>
                <a:spcPts val="1170"/>
              </a:lnSpc>
              <a:spcBef>
                <a:spcPts val="900"/>
              </a:spcBef>
              <a:spcAft>
                <a:spcPts val="900"/>
              </a:spcAft>
              <a:buNone/>
            </a:pPr>
            <a:r>
              <a:rPr lang="en-US" sz="900" b="1" dirty="0">
                <a:solidFill>
                  <a:srgbClr val="666666"/>
                </a:solidFill>
                <a:latin typeface="Arial" pitchFamily="34" charset="0"/>
                <a:ea typeface="Arial" pitchFamily="34" charset="-122"/>
                <a:cs typeface="Arial" pitchFamily="34" charset="-120"/>
              </a:rPr>
              <a:t>放大多少倍</a:t>
            </a:r>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。如果 Amax = 10，输入信号经过这个矩阵后，幅度可能被放大到原来的 10 倍。</a:t>
            </a:r>
            <a:endParaRPr lang="en-US" sz="900" dirty="0"/>
          </a:p>
        </p:txBody>
      </p:sp>
      <p:sp>
        <p:nvSpPr>
          <p:cNvPr id="11" name="Text 9"/>
          <p:cNvSpPr/>
          <p:nvPr/>
        </p:nvSpPr>
        <p:spPr>
          <a:xfrm>
            <a:off x="3251150" y="1691878"/>
            <a:ext cx="2641699" cy="1134517"/>
          </a:xfrm>
          <a:prstGeom prst="roundRect">
            <a:avLst>
              <a:gd name="adj" fmla="val 6717"/>
            </a:avLst>
          </a:prstGeom>
          <a:solidFill>
            <a:srgbClr val="F5F5F7"/>
          </a:solidFill>
          <a:ln/>
        </p:spPr>
        <p:txBody>
          <a:bodyPr wrap="square" rtlCol="0" anchor="ctr"/>
          <a:lstStyle/>
          <a:p>
            <a:pPr indent="0" marL="0">
              <a:buNone/>
            </a:pPr>
            <a:endParaRPr lang="en-US" dirty="0"/>
          </a:p>
        </p:txBody>
      </p:sp>
      <p:sp>
        <p:nvSpPr>
          <p:cNvPr id="12" name="Text 10"/>
          <p:cNvSpPr/>
          <p:nvPr/>
        </p:nvSpPr>
        <p:spPr>
          <a:xfrm>
            <a:off x="3327350" y="1895029"/>
            <a:ext cx="2539085" cy="180975"/>
          </a:xfrm>
          <a:prstGeom prst="rect">
            <a:avLst/>
          </a:prstGeom>
          <a:noFill/>
          <a:ln/>
        </p:spPr>
        <p:txBody>
          <a:bodyPr wrap="square" lIns="0" tIns="0" rIns="0" bIns="0" rtlCol="0" anchor="t"/>
          <a:lstStyle/>
          <a:p>
            <a:pPr algn="l" indent="0" marL="0">
              <a:spcBef>
                <a:spcPts val="1000"/>
              </a:spcBef>
              <a:spcAft>
                <a:spcPts val="400"/>
              </a:spcAft>
              <a:buNone/>
            </a:pPr>
            <a:r>
              <a:rPr lang="en-US" sz="1000" b="1" dirty="0">
                <a:solidFill>
                  <a:srgbClr val="181B24"/>
                </a:solidFill>
                <a:latin typeface="Arial" pitchFamily="34" charset="0"/>
                <a:ea typeface="Arial" pitchFamily="34" charset="-122"/>
                <a:cs typeface="Arial" pitchFamily="34" charset="-120"/>
              </a:rPr>
              <a:t>为什么用 Amax？</a:t>
            </a:r>
            <a:endParaRPr lang="en-US" sz="1000" dirty="0"/>
          </a:p>
        </p:txBody>
      </p:sp>
      <p:sp>
        <p:nvSpPr>
          <p:cNvPr id="13" name="Text 11"/>
          <p:cNvSpPr/>
          <p:nvPr/>
        </p:nvSpPr>
        <p:spPr>
          <a:xfrm>
            <a:off x="3327350" y="2190304"/>
            <a:ext cx="2539085" cy="297061"/>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计算简单，便于监控；与谱范数高度相关；能快速识别不稳定的矩阵。</a:t>
            </a:r>
            <a:endParaRPr lang="en-US" sz="900" dirty="0"/>
          </a:p>
        </p:txBody>
      </p:sp>
      <p:sp>
        <p:nvSpPr>
          <p:cNvPr id="14" name="Text 12"/>
          <p:cNvSpPr/>
          <p:nvPr/>
        </p:nvSpPr>
        <p:spPr>
          <a:xfrm>
            <a:off x="5994350" y="1691878"/>
            <a:ext cx="2641699" cy="1134517"/>
          </a:xfrm>
          <a:prstGeom prst="roundRect">
            <a:avLst>
              <a:gd name="adj" fmla="val 6717"/>
            </a:avLst>
          </a:prstGeom>
          <a:solidFill>
            <a:srgbClr val="F5F5F7"/>
          </a:solidFill>
          <a:ln/>
        </p:spPr>
        <p:txBody>
          <a:bodyPr wrap="square" rtlCol="0" anchor="ctr"/>
          <a:lstStyle/>
          <a:p>
            <a:pPr indent="0" marL="0">
              <a:buNone/>
            </a:pPr>
            <a:endParaRPr lang="en-US" dirty="0"/>
          </a:p>
        </p:txBody>
      </p:sp>
      <p:sp>
        <p:nvSpPr>
          <p:cNvPr id="15" name="Text 13"/>
          <p:cNvSpPr/>
          <p:nvPr/>
        </p:nvSpPr>
        <p:spPr>
          <a:xfrm>
            <a:off x="6070550" y="1895029"/>
            <a:ext cx="2539085" cy="180975"/>
          </a:xfrm>
          <a:prstGeom prst="rect">
            <a:avLst/>
          </a:prstGeom>
          <a:noFill/>
          <a:ln/>
        </p:spPr>
        <p:txBody>
          <a:bodyPr wrap="square" lIns="0" tIns="0" rIns="0" bIns="0" rtlCol="0" anchor="t"/>
          <a:lstStyle/>
          <a:p>
            <a:pPr algn="l" indent="0" marL="0">
              <a:spcBef>
                <a:spcPts val="1000"/>
              </a:spcBef>
              <a:spcAft>
                <a:spcPts val="400"/>
              </a:spcAft>
              <a:buNone/>
            </a:pPr>
            <a:r>
              <a:rPr lang="en-US" sz="1000" b="1" dirty="0">
                <a:solidFill>
                  <a:srgbClr val="181B24"/>
                </a:solidFill>
                <a:latin typeface="Arial" pitchFamily="34" charset="0"/>
                <a:ea typeface="Arial" pitchFamily="34" charset="-122"/>
                <a:cs typeface="Arial" pitchFamily="34" charset="-120"/>
              </a:rPr>
              <a:t>累积效应</a:t>
            </a:r>
            <a:endParaRPr lang="en-US" sz="1000" dirty="0"/>
          </a:p>
        </p:txBody>
      </p:sp>
      <p:sp>
        <p:nvSpPr>
          <p:cNvPr id="16" name="Text 14"/>
          <p:cNvSpPr/>
          <p:nvPr/>
        </p:nvSpPr>
        <p:spPr>
          <a:xfrm>
            <a:off x="6070550" y="2190304"/>
            <a:ext cx="2539085" cy="297061"/>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如果每层放大 1.1 倍：32 层后约 23 倍，64 层后约 532 倍！</a:t>
            </a:r>
            <a:endParaRPr lang="en-US" sz="900" dirty="0"/>
          </a:p>
        </p:txBody>
      </p:sp>
      <p:sp>
        <p:nvSpPr>
          <p:cNvPr id="17" name="Text 15"/>
          <p:cNvSpPr/>
          <p:nvPr/>
        </p:nvSpPr>
        <p:spPr>
          <a:xfrm>
            <a:off x="507950" y="2902595"/>
            <a:ext cx="8128099" cy="822127"/>
          </a:xfrm>
          <a:prstGeom prst="roundRect">
            <a:avLst>
              <a:gd name="adj" fmla="val 9269"/>
            </a:avLst>
          </a:prstGeom>
          <a:solidFill>
            <a:srgbClr val="40695B"/>
          </a:solidFill>
          <a:ln/>
        </p:spPr>
        <p:txBody>
          <a:bodyPr wrap="square" rtlCol="0" anchor="ctr"/>
          <a:lstStyle/>
          <a:p>
            <a:pPr indent="0" marL="0">
              <a:buNone/>
            </a:pPr>
            <a:endParaRPr lang="en-US" dirty="0"/>
          </a:p>
        </p:txBody>
      </p:sp>
      <p:sp>
        <p:nvSpPr>
          <p:cNvPr id="18" name="Text 16"/>
          <p:cNvSpPr/>
          <p:nvPr/>
        </p:nvSpPr>
        <p:spPr>
          <a:xfrm>
            <a:off x="616168" y="3131195"/>
            <a:ext cx="1910766" cy="171450"/>
          </a:xfrm>
          <a:prstGeom prst="rect">
            <a:avLst/>
          </a:prstGeom>
          <a:noFill/>
          <a:ln/>
        </p:spPr>
        <p:txBody>
          <a:bodyPr wrap="square" lIns="0" tIns="0" rIns="0" bIns="0" rtlCol="0" anchor="t"/>
          <a:lstStyle/>
          <a:p>
            <a:pPr algn="ctr" indent="0" marL="0">
              <a:spcBef>
                <a:spcPts val="1200"/>
              </a:spcBef>
              <a:spcAft>
                <a:spcPts val="200"/>
              </a:spcAft>
              <a:buNone/>
            </a:pPr>
            <a:r>
              <a:rPr lang="en-US" sz="1200" b="1" dirty="0">
                <a:solidFill>
                  <a:srgbClr val="FFFFFF"/>
                </a:solidFill>
                <a:latin typeface="Arial" pitchFamily="34" charset="0"/>
                <a:ea typeface="Arial" pitchFamily="34" charset="-122"/>
                <a:cs typeface="Arial" pitchFamily="34" charset="-120"/>
              </a:rPr>
              <a:t>Amax ≤ 1</a:t>
            </a:r>
            <a:endParaRPr lang="en-US" sz="1200" dirty="0"/>
          </a:p>
        </p:txBody>
      </p:sp>
      <p:sp>
        <p:nvSpPr>
          <p:cNvPr id="19" name="Text 17"/>
          <p:cNvSpPr/>
          <p:nvPr/>
        </p:nvSpPr>
        <p:spPr>
          <a:xfrm>
            <a:off x="616168" y="3404146"/>
            <a:ext cx="1910766" cy="142875"/>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FFFFFF"/>
                </a:solidFill>
                <a:latin typeface="Arial" pitchFamily="34" charset="0"/>
                <a:ea typeface="Arial" pitchFamily="34" charset="-122"/>
                <a:cs typeface="Arial" pitchFamily="34" charset="-120"/>
              </a:rPr>
              <a:t>理想状态</a:t>
            </a:r>
            <a:endParaRPr lang="en-US" sz="800" dirty="0"/>
          </a:p>
        </p:txBody>
      </p:sp>
      <p:sp>
        <p:nvSpPr>
          <p:cNvPr id="20" name="Text 18"/>
          <p:cNvSpPr/>
          <p:nvPr/>
        </p:nvSpPr>
        <p:spPr>
          <a:xfrm>
            <a:off x="2616416" y="3131195"/>
            <a:ext cx="1910917" cy="171450"/>
          </a:xfrm>
          <a:prstGeom prst="rect">
            <a:avLst/>
          </a:prstGeom>
          <a:noFill/>
          <a:ln/>
        </p:spPr>
        <p:txBody>
          <a:bodyPr wrap="square" lIns="0" tIns="0" rIns="0" bIns="0" rtlCol="0" anchor="t"/>
          <a:lstStyle/>
          <a:p>
            <a:pPr algn="ctr" indent="0" marL="0">
              <a:spcBef>
                <a:spcPts val="1200"/>
              </a:spcBef>
              <a:spcAft>
                <a:spcPts val="200"/>
              </a:spcAft>
              <a:buNone/>
            </a:pPr>
            <a:r>
              <a:rPr lang="en-US" sz="1200" b="1" dirty="0">
                <a:solidFill>
                  <a:srgbClr val="FFFFFF"/>
                </a:solidFill>
                <a:latin typeface="Arial" pitchFamily="34" charset="0"/>
                <a:ea typeface="Arial" pitchFamily="34" charset="-122"/>
                <a:cs typeface="Arial" pitchFamily="34" charset="-120"/>
              </a:rPr>
              <a:t>Amax ~ 2-5</a:t>
            </a:r>
            <a:endParaRPr lang="en-US" sz="1200" dirty="0"/>
          </a:p>
        </p:txBody>
      </p:sp>
      <p:sp>
        <p:nvSpPr>
          <p:cNvPr id="21" name="Text 19"/>
          <p:cNvSpPr/>
          <p:nvPr/>
        </p:nvSpPr>
        <p:spPr>
          <a:xfrm>
            <a:off x="2616416" y="3404146"/>
            <a:ext cx="1910917" cy="142875"/>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FFFFFF"/>
                </a:solidFill>
                <a:latin typeface="Arial" pitchFamily="34" charset="0"/>
                <a:ea typeface="Arial" pitchFamily="34" charset="-122"/>
                <a:cs typeface="Arial" pitchFamily="34" charset="-120"/>
              </a:rPr>
              <a:t>需要关注</a:t>
            </a:r>
            <a:endParaRPr lang="en-US" sz="800" dirty="0"/>
          </a:p>
        </p:txBody>
      </p:sp>
      <p:sp>
        <p:nvSpPr>
          <p:cNvPr id="22" name="Text 20"/>
          <p:cNvSpPr/>
          <p:nvPr/>
        </p:nvSpPr>
        <p:spPr>
          <a:xfrm>
            <a:off x="4616817" y="3131195"/>
            <a:ext cx="1910766" cy="171450"/>
          </a:xfrm>
          <a:prstGeom prst="rect">
            <a:avLst/>
          </a:prstGeom>
          <a:noFill/>
          <a:ln/>
        </p:spPr>
        <p:txBody>
          <a:bodyPr wrap="square" lIns="0" tIns="0" rIns="0" bIns="0" rtlCol="0" anchor="t"/>
          <a:lstStyle/>
          <a:p>
            <a:pPr algn="ctr" indent="0" marL="0">
              <a:spcBef>
                <a:spcPts val="1200"/>
              </a:spcBef>
              <a:spcAft>
                <a:spcPts val="200"/>
              </a:spcAft>
              <a:buNone/>
            </a:pPr>
            <a:r>
              <a:rPr lang="en-US" sz="1200" b="1" dirty="0">
                <a:solidFill>
                  <a:srgbClr val="FFFFFF"/>
                </a:solidFill>
                <a:latin typeface="Arial" pitchFamily="34" charset="0"/>
                <a:ea typeface="Arial" pitchFamily="34" charset="-122"/>
                <a:cs typeface="Arial" pitchFamily="34" charset="-120"/>
              </a:rPr>
              <a:t>Amax &gt; 10</a:t>
            </a:r>
            <a:endParaRPr lang="en-US" sz="1200" dirty="0"/>
          </a:p>
        </p:txBody>
      </p:sp>
      <p:sp>
        <p:nvSpPr>
          <p:cNvPr id="23" name="Text 21"/>
          <p:cNvSpPr/>
          <p:nvPr/>
        </p:nvSpPr>
        <p:spPr>
          <a:xfrm>
            <a:off x="4616817" y="3404146"/>
            <a:ext cx="1910766" cy="142875"/>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FFFFFF"/>
                </a:solidFill>
                <a:latin typeface="Arial" pitchFamily="34" charset="0"/>
                <a:ea typeface="Arial" pitchFamily="34" charset="-122"/>
                <a:cs typeface="Arial" pitchFamily="34" charset="-120"/>
              </a:rPr>
              <a:t>严重警告</a:t>
            </a:r>
            <a:endParaRPr lang="en-US" sz="800" dirty="0"/>
          </a:p>
        </p:txBody>
      </p:sp>
      <p:sp>
        <p:nvSpPr>
          <p:cNvPr id="24" name="Text 22"/>
          <p:cNvSpPr/>
          <p:nvPr/>
        </p:nvSpPr>
        <p:spPr>
          <a:xfrm>
            <a:off x="6617067" y="3131195"/>
            <a:ext cx="1910766" cy="171450"/>
          </a:xfrm>
          <a:prstGeom prst="rect">
            <a:avLst/>
          </a:prstGeom>
          <a:noFill/>
          <a:ln/>
        </p:spPr>
        <p:txBody>
          <a:bodyPr wrap="square" lIns="0" tIns="0" rIns="0" bIns="0" rtlCol="0" anchor="t"/>
          <a:lstStyle/>
          <a:p>
            <a:pPr algn="ctr" indent="0" marL="0">
              <a:spcBef>
                <a:spcPts val="1200"/>
              </a:spcBef>
              <a:spcAft>
                <a:spcPts val="200"/>
              </a:spcAft>
              <a:buNone/>
            </a:pPr>
            <a:r>
              <a:rPr lang="en-US" sz="1200" b="1" dirty="0">
                <a:solidFill>
                  <a:srgbClr val="FFFFFF"/>
                </a:solidFill>
                <a:latin typeface="Arial" pitchFamily="34" charset="0"/>
                <a:ea typeface="Arial" pitchFamily="34" charset="-122"/>
                <a:cs typeface="Arial" pitchFamily="34" charset="-120"/>
              </a:rPr>
              <a:t>Amax &gt; 100</a:t>
            </a:r>
            <a:endParaRPr lang="en-US" sz="1200" dirty="0"/>
          </a:p>
        </p:txBody>
      </p:sp>
      <p:sp>
        <p:nvSpPr>
          <p:cNvPr id="25" name="Text 23"/>
          <p:cNvSpPr/>
          <p:nvPr/>
        </p:nvSpPr>
        <p:spPr>
          <a:xfrm>
            <a:off x="6617067" y="3404146"/>
            <a:ext cx="1910766" cy="142875"/>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FFFFFF"/>
                </a:solidFill>
                <a:latin typeface="Arial" pitchFamily="34" charset="0"/>
                <a:ea typeface="Arial" pitchFamily="34" charset="-122"/>
                <a:cs typeface="Arial" pitchFamily="34" charset="-120"/>
              </a:rPr>
              <a:t>极度危险</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Shape 1"/>
          <p:cNvSpPr/>
          <p:nvPr/>
        </p:nvSpPr>
        <p:spPr>
          <a:xfrm>
            <a:off x="546050" y="190500"/>
            <a:ext cx="0" cy="352425"/>
          </a:xfrm>
          <a:prstGeom prst="line">
            <a:avLst/>
          </a:prstGeom>
          <a:noFill/>
          <a:ln w="76200">
            <a:solidFill>
              <a:srgbClr val="40695B"/>
            </a:solidFill>
            <a:prstDash val="solid"/>
          </a:ln>
        </p:spPr>
      </p:sp>
      <p:sp>
        <p:nvSpPr>
          <p:cNvPr id="4" name="Text 2"/>
          <p:cNvSpPr/>
          <p:nvPr/>
        </p:nvSpPr>
        <p:spPr>
          <a:xfrm>
            <a:off x="774650" y="190500"/>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mHC 的核心创新</a:t>
            </a:r>
            <a:endParaRPr lang="en-US" sz="2000" dirty="0"/>
          </a:p>
        </p:txBody>
      </p:sp>
      <p:sp>
        <p:nvSpPr>
          <p:cNvPr id="5" name="Text 3"/>
          <p:cNvSpPr/>
          <p:nvPr/>
        </p:nvSpPr>
        <p:spPr>
          <a:xfrm>
            <a:off x="507950" y="682526"/>
            <a:ext cx="8290661" cy="200025"/>
          </a:xfrm>
          <a:prstGeom prst="rect">
            <a:avLst/>
          </a:prstGeom>
          <a:noFill/>
          <a:ln/>
        </p:spPr>
        <p:txBody>
          <a:bodyPr wrap="square" lIns="0" tIns="0" rIns="0" bIns="0" rtlCol="0" anchor="t"/>
          <a:lstStyle/>
          <a:p>
            <a:pPr algn="l" indent="0" marL="0">
              <a:spcBef>
                <a:spcPts val="1100"/>
              </a:spcBef>
              <a:spcAft>
                <a:spcPts val="800"/>
              </a:spcAft>
              <a:buNone/>
            </a:pPr>
            <a:r>
              <a:rPr lang="en-US" sz="1100" dirty="0">
                <a:solidFill>
                  <a:srgbClr val="333333"/>
                </a:solidFill>
                <a:latin typeface="Arial" pitchFamily="34" charset="0"/>
                <a:ea typeface="Arial" pitchFamily="34" charset="-122"/>
                <a:cs typeface="Arial" pitchFamily="34" charset="-120"/>
              </a:rPr>
              <a:t>DeepSeek 的解决方案出人意料地优雅：不是删除 HC 的特性，而是</a:t>
            </a:r>
            <a:pPr algn="l" indent="0" marL="0">
              <a:spcBef>
                <a:spcPts val="1100"/>
              </a:spcBef>
              <a:spcAft>
                <a:spcPts val="800"/>
              </a:spcAft>
              <a:buNone/>
            </a:pPr>
            <a:r>
              <a:rPr lang="en-US" sz="1100" b="1" dirty="0">
                <a:solidFill>
                  <a:srgbClr val="333333"/>
                </a:solidFill>
                <a:latin typeface="Arial" pitchFamily="34" charset="0"/>
                <a:ea typeface="Arial" pitchFamily="34" charset="-122"/>
                <a:cs typeface="Arial" pitchFamily="34" charset="-120"/>
              </a:rPr>
              <a:t>给它加上数学"护栏"</a:t>
            </a:r>
            <a:pPr algn="l" indent="0" marL="0">
              <a:spcBef>
                <a:spcPts val="1100"/>
              </a:spcBef>
              <a:spcAft>
                <a:spcPts val="800"/>
              </a:spcAft>
              <a:buNone/>
            </a:pPr>
            <a:r>
              <a:rPr lang="en-US" sz="1100" dirty="0">
                <a:solidFill>
                  <a:srgbClr val="333333"/>
                </a:solidFill>
                <a:latin typeface="Arial" pitchFamily="34" charset="0"/>
                <a:ea typeface="Arial" pitchFamily="34" charset="-122"/>
                <a:cs typeface="Arial" pitchFamily="34" charset="-120"/>
              </a:rPr>
              <a:t>。</a:t>
            </a:r>
            <a:endParaRPr lang="en-US" sz="1100" dirty="0"/>
          </a:p>
        </p:txBody>
      </p:sp>
      <p:sp>
        <p:nvSpPr>
          <p:cNvPr id="6" name="Text 4"/>
          <p:cNvSpPr/>
          <p:nvPr/>
        </p:nvSpPr>
        <p:spPr>
          <a:xfrm>
            <a:off x="507950" y="984052"/>
            <a:ext cx="8128099" cy="1193602"/>
          </a:xfrm>
          <a:prstGeom prst="roundRect">
            <a:avLst>
              <a:gd name="adj" fmla="val 6384"/>
            </a:avLst>
          </a:prstGeom>
          <a:solidFill>
            <a:srgbClr val="181B24"/>
          </a:solidFill>
          <a:ln/>
        </p:spPr>
        <p:txBody>
          <a:bodyPr wrap="square" rtlCol="0" anchor="ctr"/>
          <a:lstStyle/>
          <a:p>
            <a:pPr indent="0" marL="0">
              <a:buNone/>
            </a:pPr>
            <a:endParaRPr lang="en-US" dirty="0"/>
          </a:p>
        </p:txBody>
      </p:sp>
      <p:sp>
        <p:nvSpPr>
          <p:cNvPr id="7" name="Text 5"/>
          <p:cNvSpPr/>
          <p:nvPr/>
        </p:nvSpPr>
        <p:spPr>
          <a:xfrm>
            <a:off x="620979" y="1288703"/>
            <a:ext cx="7902041" cy="247650"/>
          </a:xfrm>
          <a:prstGeom prst="rect">
            <a:avLst/>
          </a:prstGeom>
          <a:noFill/>
          <a:ln/>
        </p:spPr>
        <p:txBody>
          <a:bodyPr wrap="square" lIns="0" tIns="0" rIns="0" bIns="0" rtlCol="0" anchor="t"/>
          <a:lstStyle/>
          <a:p>
            <a:pPr algn="ctr" indent="0" marL="0">
              <a:spcBef>
                <a:spcPts val="1400"/>
              </a:spcBef>
              <a:spcAft>
                <a:spcPts val="400"/>
              </a:spcAft>
              <a:buNone/>
            </a:pPr>
            <a:r>
              <a:rPr lang="en-US" sz="1400" b="1" dirty="0">
                <a:solidFill>
                  <a:srgbClr val="40695B"/>
                </a:solidFill>
                <a:latin typeface="Arial" pitchFamily="34" charset="0"/>
                <a:ea typeface="Arial" pitchFamily="34" charset="-122"/>
                <a:cs typeface="Arial" pitchFamily="34" charset="-120"/>
              </a:rPr>
              <a:t>核心思想</a:t>
            </a:r>
            <a:endParaRPr lang="en-US" sz="1400" dirty="0"/>
          </a:p>
        </p:txBody>
      </p:sp>
      <p:sp>
        <p:nvSpPr>
          <p:cNvPr id="8" name="Text 6"/>
          <p:cNvSpPr/>
          <p:nvPr/>
        </p:nvSpPr>
        <p:spPr>
          <a:xfrm>
            <a:off x="620979" y="1688753"/>
            <a:ext cx="7902041" cy="209550"/>
          </a:xfrm>
          <a:prstGeom prst="rect">
            <a:avLst/>
          </a:prstGeom>
          <a:noFill/>
          <a:ln/>
        </p:spPr>
        <p:txBody>
          <a:bodyPr wrap="square" lIns="0" tIns="0" rIns="0" bIns="0" rtlCol="0" anchor="t"/>
          <a:lstStyle/>
          <a:p>
            <a:pPr algn="ctr" indent="0" marL="0">
              <a:spcBef>
                <a:spcPts val="1200"/>
              </a:spcBef>
              <a:spcAft>
                <a:spcPts val="1200"/>
              </a:spcAft>
              <a:buNone/>
            </a:pPr>
            <a:r>
              <a:rPr lang="en-US" sz="1200" dirty="0">
                <a:solidFill>
                  <a:srgbClr val="FFFFFF"/>
                </a:solidFill>
                <a:latin typeface="Arial" pitchFamily="34" charset="0"/>
                <a:ea typeface="Arial" pitchFamily="34" charset="-122"/>
                <a:cs typeface="Arial" pitchFamily="34" charset="-120"/>
              </a:rPr>
              <a:t>将连接权重矩阵约束在 </a:t>
            </a:r>
            <a:pPr algn="ctr" indent="0" marL="0">
              <a:spcBef>
                <a:spcPts val="1200"/>
              </a:spcBef>
              <a:spcAft>
                <a:spcPts val="1200"/>
              </a:spcAft>
              <a:buNone/>
            </a:pPr>
            <a:r>
              <a:rPr lang="en-US" sz="1200" b="1" dirty="0">
                <a:solidFill>
                  <a:srgbClr val="B165FB"/>
                </a:solidFill>
                <a:latin typeface="Arial" pitchFamily="34" charset="0"/>
                <a:ea typeface="Arial" pitchFamily="34" charset="-122"/>
                <a:cs typeface="Arial" pitchFamily="34" charset="-120"/>
              </a:rPr>
              <a:t>双随机矩阵流形</a:t>
            </a:r>
            <a:pPr algn="ctr" indent="0" marL="0">
              <a:spcBef>
                <a:spcPts val="1200"/>
              </a:spcBef>
              <a:spcAft>
                <a:spcPts val="1200"/>
              </a:spcAft>
              <a:buNone/>
            </a:pPr>
            <a:r>
              <a:rPr lang="en-US" sz="1200" dirty="0">
                <a:solidFill>
                  <a:srgbClr val="FFFFFF"/>
                </a:solidFill>
                <a:latin typeface="Arial" pitchFamily="34" charset="0"/>
                <a:ea typeface="Arial" pitchFamily="34" charset="-122"/>
                <a:cs typeface="Arial" pitchFamily="34" charset="-120"/>
              </a:rPr>
              <a:t> 上 (Doubly Stochastic Matrix)</a:t>
            </a:r>
            <a:endParaRPr lang="en-US" sz="1200" dirty="0"/>
          </a:p>
        </p:txBody>
      </p:sp>
      <p:sp>
        <p:nvSpPr>
          <p:cNvPr id="9" name="Text 7"/>
          <p:cNvSpPr/>
          <p:nvPr/>
        </p:nvSpPr>
        <p:spPr>
          <a:xfrm>
            <a:off x="507950" y="2279154"/>
            <a:ext cx="1955899" cy="1326952"/>
          </a:xfrm>
          <a:prstGeom prst="roundRect">
            <a:avLst>
              <a:gd name="adj" fmla="val 5742"/>
            </a:avLst>
          </a:prstGeom>
          <a:solidFill>
            <a:srgbClr val="F0FFF0"/>
          </a:solidFill>
          <a:ln w="19050">
            <a:solidFill>
              <a:srgbClr val="40695B"/>
            </a:solidFill>
          </a:ln>
        </p:spPr>
        <p:txBody>
          <a:bodyPr wrap="square" rtlCol="0" anchor="ctr"/>
          <a:lstStyle/>
          <a:p>
            <a:pPr indent="0" marL="0">
              <a:buNone/>
            </a:pPr>
            <a:endParaRPr lang="en-US" dirty="0"/>
          </a:p>
        </p:txBody>
      </p:sp>
      <p:sp>
        <p:nvSpPr>
          <p:cNvPr id="10" name="Text 8"/>
          <p:cNvSpPr/>
          <p:nvPr/>
        </p:nvSpPr>
        <p:spPr>
          <a:xfrm>
            <a:off x="611353" y="2628305"/>
            <a:ext cx="1749094" cy="304800"/>
          </a:xfrm>
          <a:prstGeom prst="rect">
            <a:avLst/>
          </a:prstGeom>
          <a:noFill/>
          <a:ln/>
        </p:spPr>
        <p:txBody>
          <a:bodyPr wrap="square" lIns="0" tIns="0" rIns="0" bIns="0" rtlCol="0" anchor="t"/>
          <a:lstStyle/>
          <a:p>
            <a:pPr algn="ctr" indent="0" marL="0">
              <a:spcBef>
                <a:spcPts val="1800"/>
              </a:spcBef>
              <a:spcAft>
                <a:spcPts val="200"/>
              </a:spcAft>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611353" y="3047405"/>
            <a:ext cx="1749094" cy="323850"/>
          </a:xfrm>
          <a:prstGeom prst="rect">
            <a:avLst/>
          </a:prstGeom>
          <a:noFill/>
          <a:ln/>
        </p:spPr>
        <p:txBody>
          <a:bodyPr wrap="square" lIns="0" tIns="0" rIns="0" bIns="0" rtlCol="0" anchor="t"/>
          <a:lstStyle/>
          <a:p>
            <a:pPr algn="ctr" indent="0" marL="0">
              <a:spcBef>
                <a:spcPts val="900"/>
              </a:spcBef>
              <a:spcAft>
                <a:spcPts val="900"/>
              </a:spcAft>
              <a:buNone/>
            </a:pPr>
            <a:r>
              <a:rPr lang="en-US" sz="900" b="1" dirty="0">
                <a:solidFill>
                  <a:srgbClr val="333333"/>
                </a:solidFill>
                <a:latin typeface="Arial" pitchFamily="34" charset="0"/>
                <a:ea typeface="Arial" pitchFamily="34" charset="-122"/>
                <a:cs typeface="Arial" pitchFamily="34" charset="-120"/>
              </a:rPr>
              <a:t>保持稳定</a:t>
            </a:r>
            <a:pPr algn="ctr" indent="0" marL="0">
              <a:spcBef>
                <a:spcPts val="900"/>
              </a:spcBef>
              <a:spcAft>
                <a:spcPts val="900"/>
              </a:spcAft>
              <a:buNone/>
            </a:pPr>
            <a:endParaRPr lang="en-US" sz="900" dirty="0"/>
          </a:p>
          <a:p>
            <a:pPr algn="ctr" indent="0" marL="0">
              <a:spcBef>
                <a:spcPts val="900"/>
              </a:spcBef>
              <a:spcAft>
                <a:spcPts val="900"/>
              </a:spcAft>
              <a:buNone/>
            </a:pPr>
            <a:r>
              <a:rPr lang="en-US" sz="900" dirty="0">
                <a:solidFill>
                  <a:srgbClr val="333333"/>
                </a:solidFill>
                <a:latin typeface="Arial" pitchFamily="34" charset="0"/>
                <a:ea typeface="Arial" pitchFamily="34" charset="-122"/>
                <a:cs typeface="Arial" pitchFamily="34" charset="-120"/>
              </a:rPr>
              <a:t>恒等映射属性恢复</a:t>
            </a:r>
            <a:endParaRPr lang="en-US" sz="900" dirty="0"/>
          </a:p>
        </p:txBody>
      </p:sp>
      <p:sp>
        <p:nvSpPr>
          <p:cNvPr id="12" name="Text 10"/>
          <p:cNvSpPr/>
          <p:nvPr/>
        </p:nvSpPr>
        <p:spPr>
          <a:xfrm>
            <a:off x="2565350" y="2279154"/>
            <a:ext cx="1955899" cy="1326952"/>
          </a:xfrm>
          <a:prstGeom prst="roundRect">
            <a:avLst>
              <a:gd name="adj" fmla="val 5742"/>
            </a:avLst>
          </a:prstGeom>
          <a:solidFill>
            <a:srgbClr val="F0FFF0"/>
          </a:solidFill>
          <a:ln w="19050">
            <a:solidFill>
              <a:srgbClr val="40695B"/>
            </a:solidFill>
          </a:ln>
        </p:spPr>
        <p:txBody>
          <a:bodyPr wrap="square" rtlCol="0" anchor="ctr"/>
          <a:lstStyle/>
          <a:p>
            <a:pPr indent="0" marL="0">
              <a:buNone/>
            </a:pPr>
            <a:endParaRPr lang="en-US" dirty="0"/>
          </a:p>
        </p:txBody>
      </p:sp>
      <p:sp>
        <p:nvSpPr>
          <p:cNvPr id="13" name="Text 11"/>
          <p:cNvSpPr/>
          <p:nvPr/>
        </p:nvSpPr>
        <p:spPr>
          <a:xfrm>
            <a:off x="2668753" y="2628305"/>
            <a:ext cx="1749094" cy="304800"/>
          </a:xfrm>
          <a:prstGeom prst="rect">
            <a:avLst/>
          </a:prstGeom>
          <a:noFill/>
          <a:ln/>
        </p:spPr>
        <p:txBody>
          <a:bodyPr wrap="square" lIns="0" tIns="0" rIns="0" bIns="0" rtlCol="0" anchor="t"/>
          <a:lstStyle/>
          <a:p>
            <a:pPr algn="ctr" indent="0" marL="0">
              <a:spcBef>
                <a:spcPts val="1800"/>
              </a:spcBef>
              <a:spcAft>
                <a:spcPts val="200"/>
              </a:spcAft>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2668753" y="3047405"/>
            <a:ext cx="1749094" cy="323850"/>
          </a:xfrm>
          <a:prstGeom prst="rect">
            <a:avLst/>
          </a:prstGeom>
          <a:noFill/>
          <a:ln/>
        </p:spPr>
        <p:txBody>
          <a:bodyPr wrap="square" lIns="0" tIns="0" rIns="0" bIns="0" rtlCol="0" anchor="t"/>
          <a:lstStyle/>
          <a:p>
            <a:pPr algn="ctr" indent="0" marL="0">
              <a:spcBef>
                <a:spcPts val="900"/>
              </a:spcBef>
              <a:spcAft>
                <a:spcPts val="900"/>
              </a:spcAft>
              <a:buNone/>
            </a:pPr>
            <a:r>
              <a:rPr lang="en-US" sz="900" b="1" dirty="0">
                <a:solidFill>
                  <a:srgbClr val="333333"/>
                </a:solidFill>
                <a:latin typeface="Arial" pitchFamily="34" charset="0"/>
                <a:ea typeface="Arial" pitchFamily="34" charset="-122"/>
                <a:cs typeface="Arial" pitchFamily="34" charset="-120"/>
              </a:rPr>
              <a:t>保留性能</a:t>
            </a:r>
            <a:pPr algn="ctr" indent="0" marL="0">
              <a:spcBef>
                <a:spcPts val="900"/>
              </a:spcBef>
              <a:spcAft>
                <a:spcPts val="900"/>
              </a:spcAft>
              <a:buNone/>
            </a:pPr>
            <a:endParaRPr lang="en-US" sz="900" dirty="0"/>
          </a:p>
          <a:p>
            <a:pPr algn="ctr" indent="0" marL="0">
              <a:spcBef>
                <a:spcPts val="900"/>
              </a:spcBef>
              <a:spcAft>
                <a:spcPts val="900"/>
              </a:spcAft>
              <a:buNone/>
            </a:pPr>
            <a:r>
              <a:rPr lang="en-US" sz="900" dirty="0">
                <a:solidFill>
                  <a:srgbClr val="333333"/>
                </a:solidFill>
                <a:latin typeface="Arial" pitchFamily="34" charset="0"/>
                <a:ea typeface="Arial" pitchFamily="34" charset="-122"/>
                <a:cs typeface="Arial" pitchFamily="34" charset="-120"/>
              </a:rPr>
              <a:t>多流架构优势保留</a:t>
            </a:r>
            <a:endParaRPr lang="en-US" sz="900" dirty="0"/>
          </a:p>
        </p:txBody>
      </p:sp>
      <p:sp>
        <p:nvSpPr>
          <p:cNvPr id="15" name="Text 13"/>
          <p:cNvSpPr/>
          <p:nvPr/>
        </p:nvSpPr>
        <p:spPr>
          <a:xfrm>
            <a:off x="4622750" y="2279154"/>
            <a:ext cx="1955899" cy="1326952"/>
          </a:xfrm>
          <a:prstGeom prst="roundRect">
            <a:avLst>
              <a:gd name="adj" fmla="val 5742"/>
            </a:avLst>
          </a:prstGeom>
          <a:solidFill>
            <a:srgbClr val="F0FFF0"/>
          </a:solidFill>
          <a:ln w="19050">
            <a:solidFill>
              <a:srgbClr val="40695B"/>
            </a:solidFill>
          </a:ln>
        </p:spPr>
        <p:txBody>
          <a:bodyPr wrap="square" rtlCol="0" anchor="ctr"/>
          <a:lstStyle/>
          <a:p>
            <a:pPr indent="0" marL="0">
              <a:buNone/>
            </a:pPr>
            <a:endParaRPr lang="en-US" dirty="0"/>
          </a:p>
        </p:txBody>
      </p:sp>
      <p:sp>
        <p:nvSpPr>
          <p:cNvPr id="16" name="Text 14"/>
          <p:cNvSpPr/>
          <p:nvPr/>
        </p:nvSpPr>
        <p:spPr>
          <a:xfrm>
            <a:off x="4726153" y="2628305"/>
            <a:ext cx="1749094" cy="304800"/>
          </a:xfrm>
          <a:prstGeom prst="rect">
            <a:avLst/>
          </a:prstGeom>
          <a:noFill/>
          <a:ln/>
        </p:spPr>
        <p:txBody>
          <a:bodyPr wrap="square" lIns="0" tIns="0" rIns="0" bIns="0" rtlCol="0" anchor="t"/>
          <a:lstStyle/>
          <a:p>
            <a:pPr algn="ctr" indent="0" marL="0">
              <a:spcBef>
                <a:spcPts val="1800"/>
              </a:spcBef>
              <a:spcAft>
                <a:spcPts val="200"/>
              </a:spcAft>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4726153" y="3047405"/>
            <a:ext cx="1749094" cy="323850"/>
          </a:xfrm>
          <a:prstGeom prst="rect">
            <a:avLst/>
          </a:prstGeom>
          <a:noFill/>
          <a:ln/>
        </p:spPr>
        <p:txBody>
          <a:bodyPr wrap="square" lIns="0" tIns="0" rIns="0" bIns="0" rtlCol="0" anchor="t"/>
          <a:lstStyle/>
          <a:p>
            <a:pPr algn="ctr" indent="0" marL="0">
              <a:spcBef>
                <a:spcPts val="900"/>
              </a:spcBef>
              <a:spcAft>
                <a:spcPts val="900"/>
              </a:spcAft>
              <a:buNone/>
            </a:pPr>
            <a:r>
              <a:rPr lang="en-US" sz="900" b="1" dirty="0">
                <a:solidFill>
                  <a:srgbClr val="333333"/>
                </a:solidFill>
                <a:latin typeface="Arial" pitchFamily="34" charset="0"/>
                <a:ea typeface="Arial" pitchFamily="34" charset="-122"/>
                <a:cs typeface="Arial" pitchFamily="34" charset="-120"/>
              </a:rPr>
              <a:t>零额外参数</a:t>
            </a:r>
            <a:pPr algn="ctr" indent="0" marL="0">
              <a:spcBef>
                <a:spcPts val="900"/>
              </a:spcBef>
              <a:spcAft>
                <a:spcPts val="900"/>
              </a:spcAft>
              <a:buNone/>
            </a:pPr>
            <a:endParaRPr lang="en-US" sz="900" dirty="0"/>
          </a:p>
          <a:p>
            <a:pPr algn="ctr" indent="0" marL="0">
              <a:spcBef>
                <a:spcPts val="900"/>
              </a:spcBef>
              <a:spcAft>
                <a:spcPts val="900"/>
              </a:spcAft>
              <a:buNone/>
            </a:pPr>
            <a:r>
              <a:rPr lang="en-US" sz="900" dirty="0">
                <a:solidFill>
                  <a:srgbClr val="333333"/>
                </a:solidFill>
                <a:latin typeface="Arial" pitchFamily="34" charset="0"/>
                <a:ea typeface="Arial" pitchFamily="34" charset="-122"/>
                <a:cs typeface="Arial" pitchFamily="34" charset="-120"/>
              </a:rPr>
              <a:t>不增加超参数</a:t>
            </a:r>
            <a:endParaRPr lang="en-US" sz="900" dirty="0"/>
          </a:p>
        </p:txBody>
      </p:sp>
      <p:sp>
        <p:nvSpPr>
          <p:cNvPr id="18" name="Text 16"/>
          <p:cNvSpPr/>
          <p:nvPr/>
        </p:nvSpPr>
        <p:spPr>
          <a:xfrm>
            <a:off x="6680150" y="2279154"/>
            <a:ext cx="1955899" cy="1326952"/>
          </a:xfrm>
          <a:prstGeom prst="roundRect">
            <a:avLst>
              <a:gd name="adj" fmla="val 5742"/>
            </a:avLst>
          </a:prstGeom>
          <a:solidFill>
            <a:srgbClr val="F0FFF0"/>
          </a:solidFill>
          <a:ln w="19050">
            <a:solidFill>
              <a:srgbClr val="40695B"/>
            </a:solidFill>
          </a:ln>
        </p:spPr>
        <p:txBody>
          <a:bodyPr wrap="square" rtlCol="0" anchor="ctr"/>
          <a:lstStyle/>
          <a:p>
            <a:pPr indent="0" marL="0">
              <a:buNone/>
            </a:pPr>
            <a:endParaRPr lang="en-US" dirty="0"/>
          </a:p>
        </p:txBody>
      </p:sp>
      <p:sp>
        <p:nvSpPr>
          <p:cNvPr id="19" name="Text 17"/>
          <p:cNvSpPr/>
          <p:nvPr/>
        </p:nvSpPr>
        <p:spPr>
          <a:xfrm>
            <a:off x="6783553" y="2628305"/>
            <a:ext cx="1749094" cy="304800"/>
          </a:xfrm>
          <a:prstGeom prst="rect">
            <a:avLst/>
          </a:prstGeom>
          <a:noFill/>
          <a:ln/>
        </p:spPr>
        <p:txBody>
          <a:bodyPr wrap="square" lIns="0" tIns="0" rIns="0" bIns="0" rtlCol="0" anchor="t"/>
          <a:lstStyle/>
          <a:p>
            <a:pPr algn="ctr" indent="0" marL="0">
              <a:spcBef>
                <a:spcPts val="1800"/>
              </a:spcBef>
              <a:spcAft>
                <a:spcPts val="200"/>
              </a:spcAft>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6783553" y="3047405"/>
            <a:ext cx="1749094" cy="323850"/>
          </a:xfrm>
          <a:prstGeom prst="rect">
            <a:avLst/>
          </a:prstGeom>
          <a:noFill/>
          <a:ln/>
        </p:spPr>
        <p:txBody>
          <a:bodyPr wrap="square" lIns="0" tIns="0" rIns="0" bIns="0" rtlCol="0" anchor="t"/>
          <a:lstStyle/>
          <a:p>
            <a:pPr algn="ctr" indent="0" marL="0">
              <a:spcBef>
                <a:spcPts val="900"/>
              </a:spcBef>
              <a:spcAft>
                <a:spcPts val="900"/>
              </a:spcAft>
              <a:buNone/>
            </a:pPr>
            <a:r>
              <a:rPr lang="en-US" sz="900" b="1" dirty="0">
                <a:solidFill>
                  <a:srgbClr val="333333"/>
                </a:solidFill>
                <a:latin typeface="Arial" pitchFamily="34" charset="0"/>
                <a:ea typeface="Arial" pitchFamily="34" charset="-122"/>
                <a:cs typeface="Arial" pitchFamily="34" charset="-120"/>
              </a:rPr>
              <a:t>数学可证</a:t>
            </a:r>
            <a:pPr algn="ctr" indent="0" marL="0">
              <a:spcBef>
                <a:spcPts val="900"/>
              </a:spcBef>
              <a:spcAft>
                <a:spcPts val="900"/>
              </a:spcAft>
              <a:buNone/>
            </a:pPr>
            <a:endParaRPr lang="en-US" sz="900" dirty="0"/>
          </a:p>
          <a:p>
            <a:pPr algn="ctr" indent="0" marL="0">
              <a:spcBef>
                <a:spcPts val="900"/>
              </a:spcBef>
              <a:spcAft>
                <a:spcPts val="900"/>
              </a:spcAft>
              <a:buNone/>
            </a:pPr>
            <a:r>
              <a:rPr lang="en-US" sz="900" dirty="0">
                <a:solidFill>
                  <a:srgbClr val="333333"/>
                </a:solidFill>
                <a:latin typeface="Arial" pitchFamily="34" charset="0"/>
                <a:ea typeface="Arial" pitchFamily="34" charset="-122"/>
                <a:cs typeface="Arial" pitchFamily="34" charset="-120"/>
              </a:rPr>
              <a:t>严格理论保证</a:t>
            </a:r>
            <a:endParaRPr lang="en-US" sz="900" dirty="0"/>
          </a:p>
        </p:txBody>
      </p:sp>
      <p:sp>
        <p:nvSpPr>
          <p:cNvPr id="21" name="Text 19"/>
          <p:cNvSpPr/>
          <p:nvPr/>
        </p:nvSpPr>
        <p:spPr>
          <a:xfrm>
            <a:off x="507950" y="3707606"/>
            <a:ext cx="8128099" cy="637877"/>
          </a:xfrm>
          <a:prstGeom prst="roundRect">
            <a:avLst>
              <a:gd name="adj" fmla="val 11946"/>
            </a:avLst>
          </a:prstGeom>
          <a:solidFill>
            <a:srgbClr val="40695B"/>
          </a:solidFill>
          <a:ln/>
        </p:spPr>
        <p:txBody>
          <a:bodyPr wrap="square" rtlCol="0" anchor="ctr"/>
          <a:lstStyle/>
          <a:p>
            <a:pPr indent="0" marL="0">
              <a:buNone/>
            </a:pPr>
            <a:endParaRPr lang="en-US" dirty="0"/>
          </a:p>
        </p:txBody>
      </p:sp>
      <p:sp>
        <p:nvSpPr>
          <p:cNvPr id="22" name="Text 20"/>
          <p:cNvSpPr/>
          <p:nvPr/>
        </p:nvSpPr>
        <p:spPr>
          <a:xfrm>
            <a:off x="634901" y="3936057"/>
            <a:ext cx="8031682" cy="180975"/>
          </a:xfrm>
          <a:prstGeom prst="rect">
            <a:avLst/>
          </a:prstGeom>
          <a:noFill/>
          <a:ln/>
        </p:spPr>
        <p:txBody>
          <a:bodyPr wrap="square" lIns="0" tIns="0" rIns="0" bIns="0" rtlCol="0" anchor="t"/>
          <a:lstStyle/>
          <a:p>
            <a:pPr algn="l" indent="0" marL="0">
              <a:spcBef>
                <a:spcPts val="1000"/>
              </a:spcBef>
              <a:spcAft>
                <a:spcPts val="1000"/>
              </a:spcAft>
              <a:buNone/>
            </a:pPr>
            <a:r>
              <a:rPr lang="en-US" sz="1000" i="1" dirty="0">
                <a:solidFill>
                  <a:srgbClr val="FFFFFF"/>
                </a:solidFill>
                <a:latin typeface="Arial" pitchFamily="34" charset="0"/>
                <a:ea typeface="Arial" pitchFamily="34" charset="-122"/>
                <a:cs typeface="Arial" pitchFamily="34" charset="-120"/>
              </a:rPr>
              <a:t>「这不是黑客手段，而是原则性约束。我们没有限制模型能学什么，只是确保它学的方式是稳定的。」</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Shape 1"/>
          <p:cNvSpPr/>
          <p:nvPr/>
        </p:nvSpPr>
        <p:spPr>
          <a:xfrm>
            <a:off x="546050" y="228600"/>
            <a:ext cx="0" cy="390525"/>
          </a:xfrm>
          <a:prstGeom prst="line">
            <a:avLst/>
          </a:prstGeom>
          <a:noFill/>
          <a:ln w="76200">
            <a:solidFill>
              <a:srgbClr val="40695B"/>
            </a:solidFill>
            <a:prstDash val="solid"/>
          </a:ln>
        </p:spPr>
      </p:sp>
      <p:sp>
        <p:nvSpPr>
          <p:cNvPr id="4" name="Text 2"/>
          <p:cNvSpPr/>
          <p:nvPr/>
        </p:nvSpPr>
        <p:spPr>
          <a:xfrm>
            <a:off x="774650" y="22860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双随机矩阵的定义</a:t>
            </a:r>
            <a:endParaRPr lang="en-US" sz="2200" dirty="0"/>
          </a:p>
        </p:txBody>
      </p:sp>
      <p:sp>
        <p:nvSpPr>
          <p:cNvPr id="5" name="Text 3"/>
          <p:cNvSpPr/>
          <p:nvPr/>
        </p:nvSpPr>
        <p:spPr>
          <a:xfrm>
            <a:off x="507950" y="746075"/>
            <a:ext cx="4762500" cy="2383631"/>
          </a:xfrm>
          <a:prstGeom prst="roundRect">
            <a:avLst>
              <a:gd name="adj" fmla="val 3197"/>
            </a:avLst>
          </a:prstGeom>
          <a:solidFill>
            <a:srgbClr val="F5F5F7"/>
          </a:solidFill>
          <a:ln/>
        </p:spPr>
        <p:txBody>
          <a:bodyPr wrap="square" rtlCol="0" anchor="ctr"/>
          <a:lstStyle/>
          <a:p>
            <a:pPr indent="0" marL="0">
              <a:buNone/>
            </a:pPr>
            <a:endParaRPr lang="en-US" dirty="0"/>
          </a:p>
        </p:txBody>
      </p:sp>
      <p:sp>
        <p:nvSpPr>
          <p:cNvPr id="6" name="Text 4"/>
          <p:cNvSpPr/>
          <p:nvPr/>
        </p:nvSpPr>
        <p:spPr>
          <a:xfrm>
            <a:off x="660350" y="1025426"/>
            <a:ext cx="4546854" cy="209550"/>
          </a:xfrm>
          <a:prstGeom prst="rect">
            <a:avLst/>
          </a:prstGeom>
          <a:noFill/>
          <a:ln/>
        </p:spPr>
        <p:txBody>
          <a:bodyPr wrap="square" lIns="0" tIns="0" rIns="0" bIns="0" rtlCol="0" anchor="t"/>
          <a:lstStyle/>
          <a:p>
            <a:pPr algn="l" indent="0" marL="0">
              <a:spcBef>
                <a:spcPts val="1200"/>
              </a:spcBef>
              <a:spcAft>
                <a:spcPts val="800"/>
              </a:spcAft>
              <a:buNone/>
            </a:pPr>
            <a:r>
              <a:rPr lang="en-US" sz="1200" b="1" dirty="0">
                <a:solidFill>
                  <a:srgbClr val="181B24"/>
                </a:solidFill>
                <a:latin typeface="Arial" pitchFamily="34" charset="0"/>
                <a:ea typeface="Arial" pitchFamily="34" charset="-122"/>
                <a:cs typeface="Arial" pitchFamily="34" charset="-120"/>
              </a:rPr>
              <a:t>双随机矩阵的三个性质：</a:t>
            </a:r>
            <a:endParaRPr lang="en-US" sz="1200" dirty="0"/>
          </a:p>
        </p:txBody>
      </p:sp>
      <p:sp>
        <p:nvSpPr>
          <p:cNvPr id="7" name="Text 5"/>
          <p:cNvSpPr/>
          <p:nvPr/>
        </p:nvSpPr>
        <p:spPr>
          <a:xfrm>
            <a:off x="660350" y="1461790"/>
            <a:ext cx="228600" cy="228600"/>
          </a:xfrm>
          <a:prstGeom prst="roundRect">
            <a:avLst>
              <a:gd name="adj" fmla="val 400000"/>
            </a:avLst>
          </a:prstGeom>
          <a:solidFill>
            <a:srgbClr val="40695B"/>
          </a:solidFill>
          <a:ln/>
        </p:spPr>
        <p:txBody>
          <a:bodyPr wrap="square" rtlCol="0" anchor="ctr"/>
          <a:lstStyle/>
          <a:p>
            <a:pPr indent="0" marL="0">
              <a:buNone/>
            </a:pPr>
            <a:endParaRPr lang="en-US" dirty="0"/>
          </a:p>
        </p:txBody>
      </p:sp>
      <p:sp>
        <p:nvSpPr>
          <p:cNvPr id="8" name="Text 6"/>
          <p:cNvSpPr/>
          <p:nvPr/>
        </p:nvSpPr>
        <p:spPr>
          <a:xfrm>
            <a:off x="739229" y="1504652"/>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Text 7"/>
          <p:cNvSpPr/>
          <p:nvPr/>
        </p:nvSpPr>
        <p:spPr>
          <a:xfrm>
            <a:off x="1015901" y="1476077"/>
            <a:ext cx="1376109" cy="200025"/>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333333"/>
                </a:solidFill>
                <a:latin typeface="Arial" pitchFamily="34" charset="0"/>
                <a:ea typeface="Arial" pitchFamily="34" charset="-122"/>
                <a:cs typeface="Arial" pitchFamily="34" charset="-120"/>
              </a:rPr>
              <a:t>所有元素 </a:t>
            </a:r>
            <a:pPr algn="l" indent="0" marL="0">
              <a:spcBef>
                <a:spcPts val="1100"/>
              </a:spcBef>
              <a:spcAft>
                <a:spcPts val="1100"/>
              </a:spcAft>
              <a:buNone/>
            </a:pPr>
            <a:r>
              <a:rPr lang="en-US" sz="1100" b="1" dirty="0">
                <a:solidFill>
                  <a:srgbClr val="333333"/>
                </a:solidFill>
                <a:latin typeface="Arial" pitchFamily="34" charset="0"/>
                <a:ea typeface="Arial" pitchFamily="34" charset="-122"/>
                <a:cs typeface="Arial" pitchFamily="34" charset="-120"/>
              </a:rPr>
              <a:t>非负</a:t>
            </a:r>
            <a:pPr algn="l" indent="0" marL="0">
              <a:spcBef>
                <a:spcPts val="1100"/>
              </a:spcBef>
              <a:spcAft>
                <a:spcPts val="1100"/>
              </a:spcAft>
              <a:buNone/>
            </a:pPr>
            <a:r>
              <a:rPr lang="en-US" sz="1100" dirty="0">
                <a:solidFill>
                  <a:srgbClr val="333333"/>
                </a:solidFill>
                <a:latin typeface="Arial" pitchFamily="34" charset="0"/>
                <a:ea typeface="Arial" pitchFamily="34" charset="-122"/>
                <a:cs typeface="Arial" pitchFamily="34" charset="-120"/>
              </a:rPr>
              <a:t>（≥ 0）</a:t>
            </a:r>
            <a:endParaRPr lang="en-US" sz="1100" dirty="0"/>
          </a:p>
        </p:txBody>
      </p:sp>
      <p:sp>
        <p:nvSpPr>
          <p:cNvPr id="10" name="Text 8"/>
          <p:cNvSpPr/>
          <p:nvPr/>
        </p:nvSpPr>
        <p:spPr>
          <a:xfrm>
            <a:off x="660350" y="2017216"/>
            <a:ext cx="228600" cy="228600"/>
          </a:xfrm>
          <a:prstGeom prst="roundRect">
            <a:avLst>
              <a:gd name="adj" fmla="val 400000"/>
            </a:avLst>
          </a:prstGeom>
          <a:solidFill>
            <a:srgbClr val="40695B"/>
          </a:solidFill>
          <a:ln/>
        </p:spPr>
        <p:txBody>
          <a:bodyPr wrap="square" rtlCol="0" anchor="ctr"/>
          <a:lstStyle/>
          <a:p>
            <a:pPr indent="0" marL="0">
              <a:buNone/>
            </a:pPr>
            <a:endParaRPr lang="en-US" dirty="0"/>
          </a:p>
        </p:txBody>
      </p:sp>
      <p:sp>
        <p:nvSpPr>
          <p:cNvPr id="11" name="Text 9"/>
          <p:cNvSpPr/>
          <p:nvPr/>
        </p:nvSpPr>
        <p:spPr>
          <a:xfrm>
            <a:off x="739229" y="2060079"/>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2" name="Text 10"/>
          <p:cNvSpPr/>
          <p:nvPr/>
        </p:nvSpPr>
        <p:spPr>
          <a:xfrm>
            <a:off x="1015901" y="2031504"/>
            <a:ext cx="1523664" cy="200025"/>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333333"/>
                </a:solidFill>
                <a:latin typeface="Arial" pitchFamily="34" charset="0"/>
                <a:ea typeface="Arial" pitchFamily="34" charset="-122"/>
                <a:cs typeface="Arial" pitchFamily="34" charset="-120"/>
              </a:rPr>
              <a:t>每一</a:t>
            </a:r>
            <a:pPr algn="l" indent="0" marL="0">
              <a:spcBef>
                <a:spcPts val="1100"/>
              </a:spcBef>
              <a:spcAft>
                <a:spcPts val="1100"/>
              </a:spcAft>
              <a:buNone/>
            </a:pPr>
            <a:r>
              <a:rPr lang="en-US" sz="1100" b="1" dirty="0">
                <a:solidFill>
                  <a:srgbClr val="333333"/>
                </a:solidFill>
                <a:latin typeface="Arial" pitchFamily="34" charset="0"/>
                <a:ea typeface="Arial" pitchFamily="34" charset="-122"/>
                <a:cs typeface="Arial" pitchFamily="34" charset="-120"/>
              </a:rPr>
              <a:t>行</a:t>
            </a:r>
            <a:pPr algn="l" indent="0" marL="0">
              <a:spcBef>
                <a:spcPts val="1100"/>
              </a:spcBef>
              <a:spcAft>
                <a:spcPts val="1100"/>
              </a:spcAft>
              <a:buNone/>
            </a:pPr>
            <a:r>
              <a:rPr lang="en-US" sz="1100" dirty="0">
                <a:solidFill>
                  <a:srgbClr val="333333"/>
                </a:solidFill>
                <a:latin typeface="Arial" pitchFamily="34" charset="0"/>
                <a:ea typeface="Arial" pitchFamily="34" charset="-122"/>
                <a:cs typeface="Arial" pitchFamily="34" charset="-120"/>
              </a:rPr>
              <a:t>的元素加起来 = 1</a:t>
            </a:r>
            <a:endParaRPr lang="en-US" sz="1100" dirty="0"/>
          </a:p>
        </p:txBody>
      </p:sp>
      <p:sp>
        <p:nvSpPr>
          <p:cNvPr id="13" name="Text 11"/>
          <p:cNvSpPr/>
          <p:nvPr/>
        </p:nvSpPr>
        <p:spPr>
          <a:xfrm>
            <a:off x="660350" y="2572643"/>
            <a:ext cx="228600" cy="228600"/>
          </a:xfrm>
          <a:prstGeom prst="roundRect">
            <a:avLst>
              <a:gd name="adj" fmla="val 400000"/>
            </a:avLst>
          </a:prstGeom>
          <a:solidFill>
            <a:srgbClr val="40695B"/>
          </a:solidFill>
          <a:ln/>
        </p:spPr>
        <p:txBody>
          <a:bodyPr wrap="square" rtlCol="0" anchor="ctr"/>
          <a:lstStyle/>
          <a:p>
            <a:pPr indent="0" marL="0">
              <a:buNone/>
            </a:pPr>
            <a:endParaRPr lang="en-US" dirty="0"/>
          </a:p>
        </p:txBody>
      </p:sp>
      <p:sp>
        <p:nvSpPr>
          <p:cNvPr id="14" name="Text 12"/>
          <p:cNvSpPr/>
          <p:nvPr/>
        </p:nvSpPr>
        <p:spPr>
          <a:xfrm>
            <a:off x="739229" y="2615505"/>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Text 13"/>
          <p:cNvSpPr/>
          <p:nvPr/>
        </p:nvSpPr>
        <p:spPr>
          <a:xfrm>
            <a:off x="1015901" y="2586930"/>
            <a:ext cx="1523664" cy="200025"/>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333333"/>
                </a:solidFill>
                <a:latin typeface="Arial" pitchFamily="34" charset="0"/>
                <a:ea typeface="Arial" pitchFamily="34" charset="-122"/>
                <a:cs typeface="Arial" pitchFamily="34" charset="-120"/>
              </a:rPr>
              <a:t>每一</a:t>
            </a:r>
            <a:pPr algn="l" indent="0" marL="0">
              <a:spcBef>
                <a:spcPts val="1100"/>
              </a:spcBef>
              <a:spcAft>
                <a:spcPts val="1100"/>
              </a:spcAft>
              <a:buNone/>
            </a:pPr>
            <a:r>
              <a:rPr lang="en-US" sz="1100" b="1" dirty="0">
                <a:solidFill>
                  <a:srgbClr val="333333"/>
                </a:solidFill>
                <a:latin typeface="Arial" pitchFamily="34" charset="0"/>
                <a:ea typeface="Arial" pitchFamily="34" charset="-122"/>
                <a:cs typeface="Arial" pitchFamily="34" charset="-120"/>
              </a:rPr>
              <a:t>列</a:t>
            </a:r>
            <a:pPr algn="l" indent="0" marL="0">
              <a:spcBef>
                <a:spcPts val="1100"/>
              </a:spcBef>
              <a:spcAft>
                <a:spcPts val="1100"/>
              </a:spcAft>
              <a:buNone/>
            </a:pPr>
            <a:r>
              <a:rPr lang="en-US" sz="1100" dirty="0">
                <a:solidFill>
                  <a:srgbClr val="333333"/>
                </a:solidFill>
                <a:latin typeface="Arial" pitchFamily="34" charset="0"/>
                <a:ea typeface="Arial" pitchFamily="34" charset="-122"/>
                <a:cs typeface="Arial" pitchFamily="34" charset="-120"/>
              </a:rPr>
              <a:t>的元素加起来 = 1</a:t>
            </a:r>
            <a:endParaRPr lang="en-US" sz="1100" dirty="0"/>
          </a:p>
        </p:txBody>
      </p:sp>
      <p:sp>
        <p:nvSpPr>
          <p:cNvPr id="16" name="Text 14"/>
          <p:cNvSpPr/>
          <p:nvPr/>
        </p:nvSpPr>
        <p:spPr>
          <a:xfrm>
            <a:off x="507950" y="3231207"/>
            <a:ext cx="4762500" cy="924223"/>
          </a:xfrm>
          <a:prstGeom prst="roundRect">
            <a:avLst>
              <a:gd name="adj" fmla="val 8245"/>
            </a:avLst>
          </a:prstGeom>
          <a:solidFill>
            <a:srgbClr val="40695B"/>
          </a:solidFill>
          <a:ln/>
        </p:spPr>
        <p:txBody>
          <a:bodyPr wrap="square" rtlCol="0" anchor="ctr"/>
          <a:lstStyle/>
          <a:p>
            <a:pPr indent="0" marL="0">
              <a:buNone/>
            </a:pPr>
            <a:endParaRPr lang="en-US" dirty="0"/>
          </a:p>
        </p:txBody>
      </p:sp>
      <p:sp>
        <p:nvSpPr>
          <p:cNvPr id="17" name="Text 15"/>
          <p:cNvSpPr/>
          <p:nvPr/>
        </p:nvSpPr>
        <p:spPr>
          <a:xfrm>
            <a:off x="660350" y="3497759"/>
            <a:ext cx="4546854" cy="39112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数学直觉：</a:t>
            </a:r>
            <a:pPr algn="l" indent="0" marL="0">
              <a:lnSpc>
                <a:spcPts val="154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双随机矩阵把输入"重新分配"到输出，但总量不变。就像把一杯水倒入多个杯子，每个杯子得到一定比例，但水的总量不会增加。</a:t>
            </a:r>
            <a:endParaRPr lang="en-US" sz="1100" dirty="0"/>
          </a:p>
        </p:txBody>
      </p:sp>
      <p:sp>
        <p:nvSpPr>
          <p:cNvPr id="18" name="Text 16"/>
          <p:cNvSpPr/>
          <p:nvPr/>
        </p:nvSpPr>
        <p:spPr>
          <a:xfrm>
            <a:off x="5460950" y="746075"/>
            <a:ext cx="3175099" cy="1891903"/>
          </a:xfrm>
          <a:prstGeom prst="roundRect">
            <a:avLst>
              <a:gd name="adj" fmla="val 4028"/>
            </a:avLst>
          </a:prstGeom>
          <a:solidFill>
            <a:srgbClr val="181B24"/>
          </a:solidFill>
          <a:ln/>
        </p:spPr>
        <p:txBody>
          <a:bodyPr wrap="square" rtlCol="0" anchor="ctr"/>
          <a:lstStyle/>
          <a:p>
            <a:pPr indent="0" marL="0">
              <a:buNone/>
            </a:pPr>
            <a:endParaRPr lang="en-US" dirty="0"/>
          </a:p>
        </p:txBody>
      </p:sp>
      <p:sp>
        <p:nvSpPr>
          <p:cNvPr id="19" name="Text 17"/>
          <p:cNvSpPr/>
          <p:nvPr/>
        </p:nvSpPr>
        <p:spPr>
          <a:xfrm>
            <a:off x="5584647" y="1025426"/>
            <a:ext cx="2927705" cy="180975"/>
          </a:xfrm>
          <a:prstGeom prst="rect">
            <a:avLst/>
          </a:prstGeom>
          <a:noFill/>
          <a:ln/>
        </p:spPr>
        <p:txBody>
          <a:bodyPr wrap="square" lIns="0" tIns="0" rIns="0" bIns="0" rtlCol="0" anchor="t"/>
          <a:lstStyle/>
          <a:p>
            <a:pPr algn="ctr" indent="0" marL="0">
              <a:spcBef>
                <a:spcPts val="1000"/>
              </a:spcBef>
              <a:spcAft>
                <a:spcPts val="600"/>
              </a:spcAft>
              <a:buNone/>
            </a:pPr>
            <a:r>
              <a:rPr lang="en-US" sz="1000" dirty="0">
                <a:solidFill>
                  <a:srgbClr val="B165FB"/>
                </a:solidFill>
                <a:latin typeface="Arial" pitchFamily="34" charset="0"/>
                <a:ea typeface="Arial" pitchFamily="34" charset="-122"/>
                <a:cs typeface="Arial" pitchFamily="34" charset="-120"/>
              </a:rPr>
              <a:t>示例：3×3 双随机矩阵</a:t>
            </a:r>
            <a:endParaRPr lang="en-US" sz="1000" dirty="0"/>
          </a:p>
        </p:txBody>
      </p:sp>
      <p:sp>
        <p:nvSpPr>
          <p:cNvPr id="20" name="Text 18"/>
          <p:cNvSpPr/>
          <p:nvPr/>
        </p:nvSpPr>
        <p:spPr>
          <a:xfrm>
            <a:off x="6179920" y="1333351"/>
            <a:ext cx="518109" cy="171450"/>
          </a:xfrm>
          <a:prstGeom prst="rect">
            <a:avLst/>
          </a:prstGeom>
          <a:noFill/>
          <a:ln/>
        </p:spPr>
        <p:txBody>
          <a:bodyPr wrap="square" lIns="0" tIns="0" rIns="0" bIns="0" rtlCol="0" anchor="t"/>
          <a:lstStyle/>
          <a:p>
            <a:pPr algn="ctr" indent="0" marL="0">
              <a:buNone/>
            </a:pPr>
            <a:r>
              <a:rPr lang="en-US" sz="1200" dirty="0">
                <a:solidFill>
                  <a:srgbClr val="FFFFFF"/>
                </a:solidFill>
                <a:latin typeface="monospace" pitchFamily="34" charset="0"/>
                <a:ea typeface="monospace" pitchFamily="34" charset="-122"/>
                <a:cs typeface="monospace" pitchFamily="34" charset="-120"/>
              </a:rPr>
              <a:t>0.5</a:t>
            </a:r>
            <a:endParaRPr lang="en-US" sz="1200" dirty="0"/>
          </a:p>
        </p:txBody>
      </p:sp>
      <p:sp>
        <p:nvSpPr>
          <p:cNvPr id="21" name="Text 19"/>
          <p:cNvSpPr/>
          <p:nvPr/>
        </p:nvSpPr>
        <p:spPr>
          <a:xfrm>
            <a:off x="6789371" y="1333351"/>
            <a:ext cx="518109" cy="171450"/>
          </a:xfrm>
          <a:prstGeom prst="rect">
            <a:avLst/>
          </a:prstGeom>
          <a:noFill/>
          <a:ln/>
        </p:spPr>
        <p:txBody>
          <a:bodyPr wrap="square" lIns="0" tIns="0" rIns="0" bIns="0" rtlCol="0" anchor="t"/>
          <a:lstStyle/>
          <a:p>
            <a:pPr algn="ctr" indent="0" marL="0">
              <a:buNone/>
            </a:pPr>
            <a:r>
              <a:rPr lang="en-US" sz="1200" dirty="0">
                <a:solidFill>
                  <a:srgbClr val="FFFFFF"/>
                </a:solidFill>
                <a:latin typeface="monospace" pitchFamily="34" charset="0"/>
                <a:ea typeface="monospace" pitchFamily="34" charset="-122"/>
                <a:cs typeface="monospace" pitchFamily="34" charset="-120"/>
              </a:rPr>
              <a:t>0.3</a:t>
            </a:r>
            <a:endParaRPr lang="en-US" sz="1200" dirty="0"/>
          </a:p>
        </p:txBody>
      </p:sp>
      <p:sp>
        <p:nvSpPr>
          <p:cNvPr id="22" name="Text 20"/>
          <p:cNvSpPr/>
          <p:nvPr/>
        </p:nvSpPr>
        <p:spPr>
          <a:xfrm>
            <a:off x="7398822" y="1333351"/>
            <a:ext cx="518109" cy="171450"/>
          </a:xfrm>
          <a:prstGeom prst="rect">
            <a:avLst/>
          </a:prstGeom>
          <a:noFill/>
          <a:ln/>
        </p:spPr>
        <p:txBody>
          <a:bodyPr wrap="square" lIns="0" tIns="0" rIns="0" bIns="0" rtlCol="0" anchor="t"/>
          <a:lstStyle/>
          <a:p>
            <a:pPr algn="ctr" indent="0" marL="0">
              <a:buNone/>
            </a:pPr>
            <a:r>
              <a:rPr lang="en-US" sz="1200" dirty="0">
                <a:solidFill>
                  <a:srgbClr val="FFFFFF"/>
                </a:solidFill>
                <a:latin typeface="monospace" pitchFamily="34" charset="0"/>
                <a:ea typeface="monospace" pitchFamily="34" charset="-122"/>
                <a:cs typeface="monospace" pitchFamily="34" charset="-120"/>
              </a:rPr>
              <a:t>0.2</a:t>
            </a:r>
            <a:endParaRPr lang="en-US" sz="1200" dirty="0"/>
          </a:p>
        </p:txBody>
      </p:sp>
      <p:sp>
        <p:nvSpPr>
          <p:cNvPr id="23" name="Text 21"/>
          <p:cNvSpPr/>
          <p:nvPr/>
        </p:nvSpPr>
        <p:spPr>
          <a:xfrm>
            <a:off x="6179920" y="1606302"/>
            <a:ext cx="518109" cy="171450"/>
          </a:xfrm>
          <a:prstGeom prst="rect">
            <a:avLst/>
          </a:prstGeom>
          <a:noFill/>
          <a:ln/>
        </p:spPr>
        <p:txBody>
          <a:bodyPr wrap="square" lIns="0" tIns="0" rIns="0" bIns="0" rtlCol="0" anchor="t"/>
          <a:lstStyle/>
          <a:p>
            <a:pPr algn="ctr" indent="0" marL="0">
              <a:buNone/>
            </a:pPr>
            <a:r>
              <a:rPr lang="en-US" sz="1200" dirty="0">
                <a:solidFill>
                  <a:srgbClr val="FFFFFF"/>
                </a:solidFill>
                <a:latin typeface="monospace" pitchFamily="34" charset="0"/>
                <a:ea typeface="monospace" pitchFamily="34" charset="-122"/>
                <a:cs typeface="monospace" pitchFamily="34" charset="-120"/>
              </a:rPr>
              <a:t>0.2</a:t>
            </a:r>
            <a:endParaRPr lang="en-US" sz="1200" dirty="0"/>
          </a:p>
        </p:txBody>
      </p:sp>
      <p:sp>
        <p:nvSpPr>
          <p:cNvPr id="24" name="Text 22"/>
          <p:cNvSpPr/>
          <p:nvPr/>
        </p:nvSpPr>
        <p:spPr>
          <a:xfrm>
            <a:off x="6789371" y="1606302"/>
            <a:ext cx="518109" cy="171450"/>
          </a:xfrm>
          <a:prstGeom prst="rect">
            <a:avLst/>
          </a:prstGeom>
          <a:noFill/>
          <a:ln/>
        </p:spPr>
        <p:txBody>
          <a:bodyPr wrap="square" lIns="0" tIns="0" rIns="0" bIns="0" rtlCol="0" anchor="t"/>
          <a:lstStyle/>
          <a:p>
            <a:pPr algn="ctr" indent="0" marL="0">
              <a:buNone/>
            </a:pPr>
            <a:r>
              <a:rPr lang="en-US" sz="1200" dirty="0">
                <a:solidFill>
                  <a:srgbClr val="FFFFFF"/>
                </a:solidFill>
                <a:latin typeface="monospace" pitchFamily="34" charset="0"/>
                <a:ea typeface="monospace" pitchFamily="34" charset="-122"/>
                <a:cs typeface="monospace" pitchFamily="34" charset="-120"/>
              </a:rPr>
              <a:t>0.5</a:t>
            </a:r>
            <a:endParaRPr lang="en-US" sz="1200" dirty="0"/>
          </a:p>
        </p:txBody>
      </p:sp>
      <p:sp>
        <p:nvSpPr>
          <p:cNvPr id="25" name="Text 23"/>
          <p:cNvSpPr/>
          <p:nvPr/>
        </p:nvSpPr>
        <p:spPr>
          <a:xfrm>
            <a:off x="7398822" y="1606302"/>
            <a:ext cx="518109" cy="171450"/>
          </a:xfrm>
          <a:prstGeom prst="rect">
            <a:avLst/>
          </a:prstGeom>
          <a:noFill/>
          <a:ln/>
        </p:spPr>
        <p:txBody>
          <a:bodyPr wrap="square" lIns="0" tIns="0" rIns="0" bIns="0" rtlCol="0" anchor="t"/>
          <a:lstStyle/>
          <a:p>
            <a:pPr algn="ctr" indent="0" marL="0">
              <a:buNone/>
            </a:pPr>
            <a:r>
              <a:rPr lang="en-US" sz="1200" dirty="0">
                <a:solidFill>
                  <a:srgbClr val="FFFFFF"/>
                </a:solidFill>
                <a:latin typeface="monospace" pitchFamily="34" charset="0"/>
                <a:ea typeface="monospace" pitchFamily="34" charset="-122"/>
                <a:cs typeface="monospace" pitchFamily="34" charset="-120"/>
              </a:rPr>
              <a:t>0.3</a:t>
            </a:r>
            <a:endParaRPr lang="en-US" sz="1200" dirty="0"/>
          </a:p>
        </p:txBody>
      </p:sp>
      <p:sp>
        <p:nvSpPr>
          <p:cNvPr id="26" name="Text 24"/>
          <p:cNvSpPr/>
          <p:nvPr/>
        </p:nvSpPr>
        <p:spPr>
          <a:xfrm>
            <a:off x="6179920" y="1879253"/>
            <a:ext cx="518109" cy="171450"/>
          </a:xfrm>
          <a:prstGeom prst="rect">
            <a:avLst/>
          </a:prstGeom>
          <a:noFill/>
          <a:ln/>
        </p:spPr>
        <p:txBody>
          <a:bodyPr wrap="square" lIns="0" tIns="0" rIns="0" bIns="0" rtlCol="0" anchor="t"/>
          <a:lstStyle/>
          <a:p>
            <a:pPr algn="ctr" indent="0" marL="0">
              <a:buNone/>
            </a:pPr>
            <a:r>
              <a:rPr lang="en-US" sz="1200" dirty="0">
                <a:solidFill>
                  <a:srgbClr val="FFFFFF"/>
                </a:solidFill>
                <a:latin typeface="monospace" pitchFamily="34" charset="0"/>
                <a:ea typeface="monospace" pitchFamily="34" charset="-122"/>
                <a:cs typeface="monospace" pitchFamily="34" charset="-120"/>
              </a:rPr>
              <a:t>0.3</a:t>
            </a:r>
            <a:endParaRPr lang="en-US" sz="1200" dirty="0"/>
          </a:p>
        </p:txBody>
      </p:sp>
      <p:sp>
        <p:nvSpPr>
          <p:cNvPr id="27" name="Text 25"/>
          <p:cNvSpPr/>
          <p:nvPr/>
        </p:nvSpPr>
        <p:spPr>
          <a:xfrm>
            <a:off x="6789371" y="1879253"/>
            <a:ext cx="518109" cy="171450"/>
          </a:xfrm>
          <a:prstGeom prst="rect">
            <a:avLst/>
          </a:prstGeom>
          <a:noFill/>
          <a:ln/>
        </p:spPr>
        <p:txBody>
          <a:bodyPr wrap="square" lIns="0" tIns="0" rIns="0" bIns="0" rtlCol="0" anchor="t"/>
          <a:lstStyle/>
          <a:p>
            <a:pPr algn="ctr" indent="0" marL="0">
              <a:buNone/>
            </a:pPr>
            <a:r>
              <a:rPr lang="en-US" sz="1200" dirty="0">
                <a:solidFill>
                  <a:srgbClr val="FFFFFF"/>
                </a:solidFill>
                <a:latin typeface="monospace" pitchFamily="34" charset="0"/>
                <a:ea typeface="monospace" pitchFamily="34" charset="-122"/>
                <a:cs typeface="monospace" pitchFamily="34" charset="-120"/>
              </a:rPr>
              <a:t>0.2</a:t>
            </a:r>
            <a:endParaRPr lang="en-US" sz="1200" dirty="0"/>
          </a:p>
        </p:txBody>
      </p:sp>
      <p:sp>
        <p:nvSpPr>
          <p:cNvPr id="28" name="Text 26"/>
          <p:cNvSpPr/>
          <p:nvPr/>
        </p:nvSpPr>
        <p:spPr>
          <a:xfrm>
            <a:off x="7398822" y="1879253"/>
            <a:ext cx="518109" cy="171450"/>
          </a:xfrm>
          <a:prstGeom prst="rect">
            <a:avLst/>
          </a:prstGeom>
          <a:noFill/>
          <a:ln/>
        </p:spPr>
        <p:txBody>
          <a:bodyPr wrap="square" lIns="0" tIns="0" rIns="0" bIns="0" rtlCol="0" anchor="t"/>
          <a:lstStyle/>
          <a:p>
            <a:pPr algn="ctr" indent="0" marL="0">
              <a:buNone/>
            </a:pPr>
            <a:r>
              <a:rPr lang="en-US" sz="1200" dirty="0">
                <a:solidFill>
                  <a:srgbClr val="FFFFFF"/>
                </a:solidFill>
                <a:latin typeface="monospace" pitchFamily="34" charset="0"/>
                <a:ea typeface="monospace" pitchFamily="34" charset="-122"/>
                <a:cs typeface="monospace" pitchFamily="34" charset="-120"/>
              </a:rPr>
              <a:t>0.5</a:t>
            </a:r>
            <a:endParaRPr lang="en-US" sz="1200" dirty="0"/>
          </a:p>
        </p:txBody>
      </p:sp>
      <p:sp>
        <p:nvSpPr>
          <p:cNvPr id="29" name="Text 27"/>
          <p:cNvSpPr/>
          <p:nvPr/>
        </p:nvSpPr>
        <p:spPr>
          <a:xfrm>
            <a:off x="5584647" y="2177653"/>
            <a:ext cx="2927705" cy="180975"/>
          </a:xfrm>
          <a:prstGeom prst="rect">
            <a:avLst/>
          </a:prstGeom>
          <a:noFill/>
          <a:ln/>
        </p:spPr>
        <p:txBody>
          <a:bodyPr wrap="square" lIns="0" tIns="0" rIns="0" bIns="0" rtlCol="0" anchor="t"/>
          <a:lstStyle/>
          <a:p>
            <a:pPr algn="ctr" indent="0" marL="0">
              <a:spcBef>
                <a:spcPts val="600"/>
              </a:spcBef>
              <a:spcAft>
                <a:spcPts val="1000"/>
              </a:spcAft>
              <a:buNone/>
            </a:pPr>
            <a:r>
              <a:rPr lang="en-US" sz="1000" dirty="0">
                <a:solidFill>
                  <a:srgbClr val="40695B"/>
                </a:solidFill>
                <a:latin typeface="Arial" pitchFamily="34" charset="0"/>
                <a:ea typeface="Arial" pitchFamily="34" charset="-122"/>
                <a:cs typeface="Arial" pitchFamily="34" charset="-120"/>
              </a:rPr>
              <a:t>行和 = 列和 = 1 ✓</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40695B"/>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为什么双随机矩阵有效？</a:t>
            </a:r>
            <a:endParaRPr lang="en-US" sz="2200" dirty="0"/>
          </a:p>
        </p:txBody>
      </p:sp>
      <p:sp>
        <p:nvSpPr>
          <p:cNvPr id="5" name="Text 3"/>
          <p:cNvSpPr/>
          <p:nvPr/>
        </p:nvSpPr>
        <p:spPr>
          <a:xfrm>
            <a:off x="507950" y="834926"/>
            <a:ext cx="2624733" cy="1529804"/>
          </a:xfrm>
          <a:prstGeom prst="rect">
            <a:avLst/>
          </a:prstGeom>
          <a:solidFill>
            <a:srgbClr val="F0FFF0"/>
          </a:solidFill>
          <a:ln/>
        </p:spPr>
        <p:txBody>
          <a:bodyPr wrap="square" rtlCol="0" anchor="ctr"/>
          <a:lstStyle/>
          <a:p>
            <a:pPr indent="0" marL="0">
              <a:buNone/>
            </a:pPr>
            <a:endParaRPr lang="en-US" dirty="0"/>
          </a:p>
        </p:txBody>
      </p:sp>
      <p:sp>
        <p:nvSpPr>
          <p:cNvPr id="6" name="Shape 4"/>
          <p:cNvSpPr/>
          <p:nvPr/>
        </p:nvSpPr>
        <p:spPr>
          <a:xfrm>
            <a:off x="531763" y="834926"/>
            <a:ext cx="0" cy="1529804"/>
          </a:xfrm>
          <a:prstGeom prst="line">
            <a:avLst/>
          </a:prstGeom>
          <a:noFill/>
          <a:ln w="47625">
            <a:solidFill>
              <a:srgbClr val="40695B"/>
            </a:solidFill>
            <a:prstDash val="solid"/>
          </a:ln>
        </p:spPr>
      </p:sp>
      <p:sp>
        <p:nvSpPr>
          <p:cNvPr id="7" name="Text 5"/>
          <p:cNvSpPr/>
          <p:nvPr/>
        </p:nvSpPr>
        <p:spPr>
          <a:xfrm>
            <a:off x="682526" y="1114276"/>
            <a:ext cx="2369671" cy="209550"/>
          </a:xfrm>
          <a:prstGeom prst="rect">
            <a:avLst/>
          </a:prstGeom>
          <a:noFill/>
          <a:ln/>
        </p:spPr>
        <p:txBody>
          <a:bodyPr wrap="square" lIns="0" tIns="0" rIns="0" bIns="0" rtlCol="0" anchor="t"/>
          <a:lstStyle/>
          <a:p>
            <a:pPr algn="l" indent="0" marL="0">
              <a:spcBef>
                <a:spcPts val="1200"/>
              </a:spcBef>
              <a:spcAft>
                <a:spcPts val="600"/>
              </a:spcAft>
              <a:buNone/>
            </a:pPr>
            <a:r>
              <a:rPr lang="en-US" sz="1200" b="1" dirty="0">
                <a:solidFill>
                  <a:srgbClr val="40695B"/>
                </a:solidFill>
                <a:latin typeface="Arial" pitchFamily="34" charset="0"/>
                <a:ea typeface="Arial" pitchFamily="34" charset="-122"/>
                <a:cs typeface="Arial" pitchFamily="34" charset="-120"/>
              </a:rPr>
              <a:t>凸组合特性</a:t>
            </a:r>
            <a:endParaRPr lang="en-US" sz="1200" dirty="0"/>
          </a:p>
        </p:txBody>
      </p:sp>
      <p:sp>
        <p:nvSpPr>
          <p:cNvPr id="8" name="Text 6"/>
          <p:cNvSpPr/>
          <p:nvPr/>
        </p:nvSpPr>
        <p:spPr>
          <a:xfrm>
            <a:off x="682526" y="1450777"/>
            <a:ext cx="2369671" cy="355402"/>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输出是输入各分量的</a:t>
            </a:r>
            <a:pPr algn="l" indent="0" marL="0">
              <a:lnSpc>
                <a:spcPts val="1400"/>
              </a:lnSpc>
              <a:spcBef>
                <a:spcPts val="1000"/>
              </a:spcBef>
              <a:spcAft>
                <a:spcPts val="1000"/>
              </a:spcAft>
              <a:buNone/>
            </a:pPr>
            <a:r>
              <a:rPr lang="en-US" sz="1000" b="1" dirty="0">
                <a:solidFill>
                  <a:srgbClr val="333333"/>
                </a:solidFill>
                <a:latin typeface="Arial" pitchFamily="34" charset="0"/>
                <a:ea typeface="Arial" pitchFamily="34" charset="-122"/>
                <a:cs typeface="Arial" pitchFamily="34" charset="-120"/>
              </a:rPr>
              <a:t>加权平均</a:t>
            </a:r>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（凸组合），结果不会超过输入的最大值。</a:t>
            </a:r>
            <a:endParaRPr lang="en-US" sz="1000" dirty="0"/>
          </a:p>
        </p:txBody>
      </p:sp>
      <p:sp>
        <p:nvSpPr>
          <p:cNvPr id="9" name="Text 7"/>
          <p:cNvSpPr/>
          <p:nvPr/>
        </p:nvSpPr>
        <p:spPr>
          <a:xfrm>
            <a:off x="682526" y="1933129"/>
            <a:ext cx="2369671" cy="177701"/>
          </a:xfrm>
          <a:prstGeom prst="rect">
            <a:avLst/>
          </a:prstGeom>
          <a:noFill/>
          <a:ln/>
        </p:spPr>
        <p:txBody>
          <a:bodyPr wrap="square" lIns="0" tIns="0" rIns="0" bIns="0" rtlCol="0" anchor="t"/>
          <a:lstStyle/>
          <a:p>
            <a:pPr algn="l" indent="0" marL="0">
              <a:lnSpc>
                <a:spcPts val="1400"/>
              </a:lnSpc>
              <a:spcBef>
                <a:spcPts val="400"/>
              </a:spcBef>
              <a:spcAft>
                <a:spcPts val="1000"/>
              </a:spcAft>
              <a:buNone/>
            </a:pPr>
            <a:r>
              <a:rPr lang="en-US" sz="1000" dirty="0">
                <a:solidFill>
                  <a:srgbClr val="333333"/>
                </a:solidFill>
                <a:latin typeface="Arial" pitchFamily="34" charset="0"/>
                <a:ea typeface="Arial" pitchFamily="34" charset="-122"/>
                <a:cs typeface="Arial" pitchFamily="34" charset="-120"/>
              </a:rPr>
              <a:t>信号不会被无限放大！</a:t>
            </a:r>
            <a:endParaRPr lang="en-US" sz="1000" dirty="0"/>
          </a:p>
        </p:txBody>
      </p:sp>
      <p:sp>
        <p:nvSpPr>
          <p:cNvPr id="10" name="Text 8"/>
          <p:cNvSpPr/>
          <p:nvPr/>
        </p:nvSpPr>
        <p:spPr>
          <a:xfrm>
            <a:off x="3259634" y="834926"/>
            <a:ext cx="2624733" cy="1529804"/>
          </a:xfrm>
          <a:prstGeom prst="rect">
            <a:avLst/>
          </a:prstGeom>
          <a:solidFill>
            <a:srgbClr val="F0FFF0"/>
          </a:solidFill>
          <a:ln/>
        </p:spPr>
        <p:txBody>
          <a:bodyPr wrap="square" rtlCol="0" anchor="ctr"/>
          <a:lstStyle/>
          <a:p>
            <a:pPr indent="0" marL="0">
              <a:buNone/>
            </a:pPr>
            <a:endParaRPr lang="en-US" dirty="0"/>
          </a:p>
        </p:txBody>
      </p:sp>
      <p:sp>
        <p:nvSpPr>
          <p:cNvPr id="11" name="Shape 9"/>
          <p:cNvSpPr/>
          <p:nvPr/>
        </p:nvSpPr>
        <p:spPr>
          <a:xfrm>
            <a:off x="3283446" y="834926"/>
            <a:ext cx="0" cy="1529804"/>
          </a:xfrm>
          <a:prstGeom prst="line">
            <a:avLst/>
          </a:prstGeom>
          <a:noFill/>
          <a:ln w="47625">
            <a:solidFill>
              <a:srgbClr val="40695B"/>
            </a:solidFill>
            <a:prstDash val="solid"/>
          </a:ln>
        </p:spPr>
      </p:sp>
      <p:sp>
        <p:nvSpPr>
          <p:cNvPr id="12" name="Text 10"/>
          <p:cNvSpPr/>
          <p:nvPr/>
        </p:nvSpPr>
        <p:spPr>
          <a:xfrm>
            <a:off x="3434209" y="1114276"/>
            <a:ext cx="2369671" cy="209550"/>
          </a:xfrm>
          <a:prstGeom prst="rect">
            <a:avLst/>
          </a:prstGeom>
          <a:noFill/>
          <a:ln/>
        </p:spPr>
        <p:txBody>
          <a:bodyPr wrap="square" lIns="0" tIns="0" rIns="0" bIns="0" rtlCol="0" anchor="t"/>
          <a:lstStyle/>
          <a:p>
            <a:pPr algn="l" indent="0" marL="0">
              <a:spcBef>
                <a:spcPts val="1200"/>
              </a:spcBef>
              <a:spcAft>
                <a:spcPts val="600"/>
              </a:spcAft>
              <a:buNone/>
            </a:pPr>
            <a:r>
              <a:rPr lang="en-US" sz="1200" b="1" dirty="0">
                <a:solidFill>
                  <a:srgbClr val="40695B"/>
                </a:solidFill>
                <a:latin typeface="Arial" pitchFamily="34" charset="0"/>
                <a:ea typeface="Arial" pitchFamily="34" charset="-122"/>
                <a:cs typeface="Arial" pitchFamily="34" charset="-120"/>
              </a:rPr>
              <a:t>能量守恒</a:t>
            </a:r>
            <a:endParaRPr lang="en-US" sz="1200" dirty="0"/>
          </a:p>
        </p:txBody>
      </p:sp>
      <p:sp>
        <p:nvSpPr>
          <p:cNvPr id="13" name="Text 11"/>
          <p:cNvSpPr/>
          <p:nvPr/>
        </p:nvSpPr>
        <p:spPr>
          <a:xfrm>
            <a:off x="3434209" y="1450777"/>
            <a:ext cx="2369671" cy="355402"/>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行和=1 保证每个输出是"公平分配"，列和=1 保证每个输入被"完整使用"。</a:t>
            </a:r>
            <a:endParaRPr lang="en-US" sz="1000" dirty="0"/>
          </a:p>
        </p:txBody>
      </p:sp>
      <p:sp>
        <p:nvSpPr>
          <p:cNvPr id="14" name="Text 12"/>
          <p:cNvSpPr/>
          <p:nvPr/>
        </p:nvSpPr>
        <p:spPr>
          <a:xfrm>
            <a:off x="3434209" y="1933129"/>
            <a:ext cx="2369671" cy="177701"/>
          </a:xfrm>
          <a:prstGeom prst="rect">
            <a:avLst/>
          </a:prstGeom>
          <a:noFill/>
          <a:ln/>
        </p:spPr>
        <p:txBody>
          <a:bodyPr wrap="square" lIns="0" tIns="0" rIns="0" bIns="0" rtlCol="0" anchor="t"/>
          <a:lstStyle/>
          <a:p>
            <a:pPr algn="l" indent="0" marL="0">
              <a:lnSpc>
                <a:spcPts val="1400"/>
              </a:lnSpc>
              <a:spcBef>
                <a:spcPts val="400"/>
              </a:spcBef>
              <a:spcAft>
                <a:spcPts val="1000"/>
              </a:spcAft>
              <a:buNone/>
            </a:pPr>
            <a:r>
              <a:rPr lang="en-US" sz="1000" dirty="0">
                <a:solidFill>
                  <a:srgbClr val="333333"/>
                </a:solidFill>
                <a:latin typeface="Arial" pitchFamily="34" charset="0"/>
                <a:ea typeface="Arial" pitchFamily="34" charset="-122"/>
                <a:cs typeface="Arial" pitchFamily="34" charset="-120"/>
              </a:rPr>
              <a:t>信息不会凭空产生或消失。</a:t>
            </a:r>
            <a:endParaRPr lang="en-US" sz="1000" dirty="0"/>
          </a:p>
        </p:txBody>
      </p:sp>
      <p:sp>
        <p:nvSpPr>
          <p:cNvPr id="15" name="Text 13"/>
          <p:cNvSpPr/>
          <p:nvPr/>
        </p:nvSpPr>
        <p:spPr>
          <a:xfrm>
            <a:off x="6011317" y="834926"/>
            <a:ext cx="2624733" cy="1529804"/>
          </a:xfrm>
          <a:prstGeom prst="rect">
            <a:avLst/>
          </a:prstGeom>
          <a:solidFill>
            <a:srgbClr val="F0FFF0"/>
          </a:solidFill>
          <a:ln/>
        </p:spPr>
        <p:txBody>
          <a:bodyPr wrap="square" rtlCol="0" anchor="ctr"/>
          <a:lstStyle/>
          <a:p>
            <a:pPr indent="0" marL="0">
              <a:buNone/>
            </a:pPr>
            <a:endParaRPr lang="en-US" dirty="0"/>
          </a:p>
        </p:txBody>
      </p:sp>
      <p:sp>
        <p:nvSpPr>
          <p:cNvPr id="16" name="Shape 14"/>
          <p:cNvSpPr/>
          <p:nvPr/>
        </p:nvSpPr>
        <p:spPr>
          <a:xfrm>
            <a:off x="6035129" y="834926"/>
            <a:ext cx="0" cy="1529804"/>
          </a:xfrm>
          <a:prstGeom prst="line">
            <a:avLst/>
          </a:prstGeom>
          <a:noFill/>
          <a:ln w="47625">
            <a:solidFill>
              <a:srgbClr val="40695B"/>
            </a:solidFill>
            <a:prstDash val="solid"/>
          </a:ln>
        </p:spPr>
      </p:sp>
      <p:sp>
        <p:nvSpPr>
          <p:cNvPr id="17" name="Text 15"/>
          <p:cNvSpPr/>
          <p:nvPr/>
        </p:nvSpPr>
        <p:spPr>
          <a:xfrm>
            <a:off x="6185892" y="1114276"/>
            <a:ext cx="2369671" cy="209550"/>
          </a:xfrm>
          <a:prstGeom prst="rect">
            <a:avLst/>
          </a:prstGeom>
          <a:noFill/>
          <a:ln/>
        </p:spPr>
        <p:txBody>
          <a:bodyPr wrap="square" lIns="0" tIns="0" rIns="0" bIns="0" rtlCol="0" anchor="t"/>
          <a:lstStyle/>
          <a:p>
            <a:pPr algn="l" indent="0" marL="0">
              <a:spcBef>
                <a:spcPts val="1200"/>
              </a:spcBef>
              <a:spcAft>
                <a:spcPts val="600"/>
              </a:spcAft>
              <a:buNone/>
            </a:pPr>
            <a:r>
              <a:rPr lang="en-US" sz="1200" b="1" dirty="0">
                <a:solidFill>
                  <a:srgbClr val="40695B"/>
                </a:solidFill>
                <a:latin typeface="Arial" pitchFamily="34" charset="0"/>
                <a:ea typeface="Arial" pitchFamily="34" charset="-122"/>
                <a:cs typeface="Arial" pitchFamily="34" charset="-120"/>
              </a:rPr>
              <a:t>谱范数有界</a:t>
            </a:r>
            <a:endParaRPr lang="en-US" sz="1200" dirty="0"/>
          </a:p>
        </p:txBody>
      </p:sp>
      <p:sp>
        <p:nvSpPr>
          <p:cNvPr id="18" name="Text 16"/>
          <p:cNvSpPr/>
          <p:nvPr/>
        </p:nvSpPr>
        <p:spPr>
          <a:xfrm>
            <a:off x="6185892" y="1450777"/>
            <a:ext cx="2369671" cy="355402"/>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双随机矩阵的谱范数（最大奇异值）恒 ≤ 1。变换是"非扩张的"。</a:t>
            </a:r>
            <a:endParaRPr lang="en-US" sz="1000" dirty="0"/>
          </a:p>
        </p:txBody>
      </p:sp>
      <p:sp>
        <p:nvSpPr>
          <p:cNvPr id="19" name="Text 17"/>
          <p:cNvSpPr/>
          <p:nvPr/>
        </p:nvSpPr>
        <p:spPr>
          <a:xfrm>
            <a:off x="6185892" y="1933129"/>
            <a:ext cx="2369671" cy="177701"/>
          </a:xfrm>
          <a:prstGeom prst="rect">
            <a:avLst/>
          </a:prstGeom>
          <a:noFill/>
          <a:ln/>
        </p:spPr>
        <p:txBody>
          <a:bodyPr wrap="square" lIns="0" tIns="0" rIns="0" bIns="0" rtlCol="0" anchor="t"/>
          <a:lstStyle/>
          <a:p>
            <a:pPr algn="l" indent="0" marL="0">
              <a:lnSpc>
                <a:spcPts val="1400"/>
              </a:lnSpc>
              <a:spcBef>
                <a:spcPts val="400"/>
              </a:spcBef>
              <a:spcAft>
                <a:spcPts val="1000"/>
              </a:spcAft>
              <a:buNone/>
            </a:pPr>
            <a:r>
              <a:rPr lang="en-US" sz="1000" dirty="0">
                <a:solidFill>
                  <a:srgbClr val="333333"/>
                </a:solidFill>
                <a:latin typeface="Arial" pitchFamily="34" charset="0"/>
                <a:ea typeface="Arial" pitchFamily="34" charset="-122"/>
                <a:cs typeface="Arial" pitchFamily="34" charset="-120"/>
              </a:rPr>
              <a:t>数学上可证明稳定！</a:t>
            </a:r>
            <a:endParaRPr lang="en-US" sz="1000" dirty="0"/>
          </a:p>
        </p:txBody>
      </p:sp>
      <p:sp>
        <p:nvSpPr>
          <p:cNvPr id="20" name="Text 18"/>
          <p:cNvSpPr/>
          <p:nvPr/>
        </p:nvSpPr>
        <p:spPr>
          <a:xfrm>
            <a:off x="507950" y="2491680"/>
            <a:ext cx="8128099" cy="1257151"/>
          </a:xfrm>
          <a:prstGeom prst="roundRect">
            <a:avLst>
              <a:gd name="adj" fmla="val 6061"/>
            </a:avLst>
          </a:prstGeom>
          <a:solidFill>
            <a:srgbClr val="181B24"/>
          </a:solidFill>
          <a:ln/>
        </p:spPr>
        <p:txBody>
          <a:bodyPr wrap="square" rtlCol="0" anchor="ctr"/>
          <a:lstStyle/>
          <a:p>
            <a:pPr indent="0" marL="0">
              <a:buNone/>
            </a:pPr>
            <a:endParaRPr lang="en-US" dirty="0"/>
          </a:p>
        </p:txBody>
      </p:sp>
      <p:sp>
        <p:nvSpPr>
          <p:cNvPr id="21" name="Text 19"/>
          <p:cNvSpPr/>
          <p:nvPr/>
        </p:nvSpPr>
        <p:spPr>
          <a:xfrm>
            <a:off x="620979" y="2847231"/>
            <a:ext cx="7902041" cy="238125"/>
          </a:xfrm>
          <a:prstGeom prst="rect">
            <a:avLst/>
          </a:prstGeom>
          <a:noFill/>
          <a:ln/>
        </p:spPr>
        <p:txBody>
          <a:bodyPr wrap="square" lIns="0" tIns="0" rIns="0" bIns="0" rtlCol="0" anchor="t"/>
          <a:lstStyle/>
          <a:p>
            <a:pPr algn="ctr" indent="0" marL="0">
              <a:spcBef>
                <a:spcPts val="1600"/>
              </a:spcBef>
              <a:spcAft>
                <a:spcPts val="1600"/>
              </a:spcAft>
              <a:buNone/>
            </a:pPr>
            <a:r>
              <a:rPr lang="en-US" sz="1600" b="1" dirty="0">
                <a:solidFill>
                  <a:srgbClr val="B165FB"/>
                </a:solidFill>
                <a:latin typeface="Georgia" pitchFamily="34" charset="0"/>
                <a:ea typeface="Georgia" pitchFamily="34" charset="-122"/>
                <a:cs typeface="Georgia" pitchFamily="34" charset="-120"/>
              </a:rPr>
              <a:t>||Ax|| ≤ ||x||</a:t>
            </a:r>
            <a:endParaRPr lang="en-US" sz="1600" dirty="0"/>
          </a:p>
        </p:txBody>
      </p:sp>
      <p:sp>
        <p:nvSpPr>
          <p:cNvPr id="22" name="Text 20"/>
          <p:cNvSpPr/>
          <p:nvPr/>
        </p:nvSpPr>
        <p:spPr>
          <a:xfrm>
            <a:off x="620979" y="3288506"/>
            <a:ext cx="7902041" cy="180975"/>
          </a:xfrm>
          <a:prstGeom prst="rect">
            <a:avLst/>
          </a:prstGeom>
          <a:noFill/>
          <a:ln/>
        </p:spPr>
        <p:txBody>
          <a:bodyPr wrap="square" lIns="0" tIns="0" rIns="0" bIns="0" rtlCol="0" anchor="t"/>
          <a:lstStyle/>
          <a:p>
            <a:pPr algn="ctr" indent="0" marL="0">
              <a:spcBef>
                <a:spcPts val="600"/>
              </a:spcBef>
              <a:spcAft>
                <a:spcPts val="1000"/>
              </a:spcAft>
              <a:buNone/>
            </a:pPr>
            <a:r>
              <a:rPr lang="en-US" sz="1000" dirty="0">
                <a:solidFill>
                  <a:srgbClr val="888888"/>
                </a:solidFill>
                <a:latin typeface="Arial" pitchFamily="34" charset="0"/>
                <a:ea typeface="Arial" pitchFamily="34" charset="-122"/>
                <a:cs typeface="Arial" pitchFamily="34" charset="-120"/>
              </a:rPr>
              <a:t>对于双随机矩阵 A，输出向量的范数不会超过输入向量的范数</a:t>
            </a:r>
            <a:endParaRPr lang="en-US" sz="1000" dirty="0"/>
          </a:p>
        </p:txBody>
      </p:sp>
      <p:sp>
        <p:nvSpPr>
          <p:cNvPr id="23" name="Text 21"/>
          <p:cNvSpPr/>
          <p:nvPr/>
        </p:nvSpPr>
        <p:spPr>
          <a:xfrm>
            <a:off x="507950" y="3875782"/>
            <a:ext cx="8128099" cy="924223"/>
          </a:xfrm>
          <a:prstGeom prst="roundRect">
            <a:avLst>
              <a:gd name="adj" fmla="val 8245"/>
            </a:avLst>
          </a:prstGeom>
          <a:solidFill>
            <a:srgbClr val="40695B"/>
          </a:solidFill>
          <a:ln/>
        </p:spPr>
        <p:txBody>
          <a:bodyPr wrap="square" rtlCol="0" anchor="ctr"/>
          <a:lstStyle/>
          <a:p>
            <a:pPr indent="0" marL="0">
              <a:buNone/>
            </a:pPr>
            <a:endParaRPr lang="en-US" dirty="0"/>
          </a:p>
        </p:txBody>
      </p:sp>
      <p:sp>
        <p:nvSpPr>
          <p:cNvPr id="24" name="Text 22"/>
          <p:cNvSpPr/>
          <p:nvPr/>
        </p:nvSpPr>
        <p:spPr>
          <a:xfrm>
            <a:off x="660350" y="4142333"/>
            <a:ext cx="7979765" cy="39112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关键洞察：</a:t>
            </a:r>
            <a:pPr algn="l" indent="0" marL="0">
              <a:lnSpc>
                <a:spcPts val="154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双随机矩阵本质上是一种"排列的凸组合"——它可以任意混合和重排信息，但永远不会放大信号。这正是恒等映射所需要的核心属性！</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Shape 1"/>
          <p:cNvSpPr/>
          <p:nvPr/>
        </p:nvSpPr>
        <p:spPr>
          <a:xfrm>
            <a:off x="546050" y="190500"/>
            <a:ext cx="0" cy="352425"/>
          </a:xfrm>
          <a:prstGeom prst="line">
            <a:avLst/>
          </a:prstGeom>
          <a:noFill/>
          <a:ln w="76200">
            <a:solidFill>
              <a:srgbClr val="40695B"/>
            </a:solidFill>
            <a:prstDash val="solid"/>
          </a:ln>
        </p:spPr>
      </p:sp>
      <p:sp>
        <p:nvSpPr>
          <p:cNvPr id="4" name="Text 2"/>
          <p:cNvSpPr/>
          <p:nvPr/>
        </p:nvSpPr>
        <p:spPr>
          <a:xfrm>
            <a:off x="774650" y="190500"/>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Sinkhorn-Knopp 算法</a:t>
            </a:r>
            <a:endParaRPr lang="en-US" sz="2000" dirty="0"/>
          </a:p>
        </p:txBody>
      </p:sp>
      <p:sp>
        <p:nvSpPr>
          <p:cNvPr id="5" name="Text 3"/>
          <p:cNvSpPr/>
          <p:nvPr/>
        </p:nvSpPr>
        <p:spPr>
          <a:xfrm>
            <a:off x="507950" y="669875"/>
            <a:ext cx="8290661" cy="180975"/>
          </a:xfrm>
          <a:prstGeom prst="rect">
            <a:avLst/>
          </a:prstGeom>
          <a:noFill/>
          <a:ln/>
        </p:spPr>
        <p:txBody>
          <a:bodyPr wrap="square" lIns="0" tIns="0" rIns="0" bIns="0" rtlCol="0" anchor="t"/>
          <a:lstStyle/>
          <a:p>
            <a:pPr algn="l" indent="0" marL="0">
              <a:spcBef>
                <a:spcPts val="1000"/>
              </a:spcBef>
              <a:spcAft>
                <a:spcPts val="600"/>
              </a:spcAft>
              <a:buNone/>
            </a:pPr>
            <a:r>
              <a:rPr lang="en-US" sz="1000" dirty="0">
                <a:solidFill>
                  <a:srgbClr val="333333"/>
                </a:solidFill>
                <a:latin typeface="Arial" pitchFamily="34" charset="0"/>
                <a:ea typeface="Arial" pitchFamily="34" charset="-122"/>
                <a:cs typeface="Arial" pitchFamily="34" charset="-120"/>
              </a:rPr>
              <a:t>如何把任意矩阵转换成双随机矩阵？答案是经典的 </a:t>
            </a:r>
            <a:pPr algn="l" indent="0" marL="0">
              <a:spcBef>
                <a:spcPts val="1000"/>
              </a:spcBef>
              <a:spcAft>
                <a:spcPts val="600"/>
              </a:spcAft>
              <a:buNone/>
            </a:pPr>
            <a:r>
              <a:rPr lang="en-US" sz="1000" b="1" dirty="0">
                <a:solidFill>
                  <a:srgbClr val="333333"/>
                </a:solidFill>
                <a:latin typeface="Arial" pitchFamily="34" charset="0"/>
                <a:ea typeface="Arial" pitchFamily="34" charset="-122"/>
                <a:cs typeface="Arial" pitchFamily="34" charset="-120"/>
              </a:rPr>
              <a:t>Sinkhorn-Knopp</a:t>
            </a:r>
            <a:pPr algn="l" indent="0" marL="0">
              <a:spcBef>
                <a:spcPts val="1000"/>
              </a:spcBef>
              <a:spcAft>
                <a:spcPts val="600"/>
              </a:spcAft>
              <a:buNone/>
            </a:pPr>
            <a:r>
              <a:rPr lang="en-US" sz="1000" dirty="0">
                <a:solidFill>
                  <a:srgbClr val="333333"/>
                </a:solidFill>
                <a:latin typeface="Arial" pitchFamily="34" charset="0"/>
                <a:ea typeface="Arial" pitchFamily="34" charset="-122"/>
                <a:cs typeface="Arial" pitchFamily="34" charset="-120"/>
              </a:rPr>
              <a:t> 迭代算法：</a:t>
            </a:r>
            <a:endParaRPr lang="en-US" sz="1000" dirty="0"/>
          </a:p>
        </p:txBody>
      </p:sp>
      <p:sp>
        <p:nvSpPr>
          <p:cNvPr id="6" name="Text 4"/>
          <p:cNvSpPr/>
          <p:nvPr/>
        </p:nvSpPr>
        <p:spPr>
          <a:xfrm>
            <a:off x="507950" y="927050"/>
            <a:ext cx="8128099" cy="2196257"/>
          </a:xfrm>
          <a:prstGeom prst="roundRect">
            <a:avLst>
              <a:gd name="adj" fmla="val 3470"/>
            </a:avLst>
          </a:prstGeom>
          <a:solidFill>
            <a:srgbClr val="181B24"/>
          </a:solidFill>
          <a:ln/>
        </p:spPr>
        <p:txBody>
          <a:bodyPr wrap="square" rtlCol="0" anchor="ctr"/>
          <a:lstStyle/>
          <a:p>
            <a:pPr indent="0" marL="0">
              <a:buNone/>
            </a:pPr>
            <a:endParaRPr lang="en-US" dirty="0"/>
          </a:p>
        </p:txBody>
      </p:sp>
      <p:sp>
        <p:nvSpPr>
          <p:cNvPr id="7" name="Text 5"/>
          <p:cNvSpPr/>
          <p:nvPr/>
        </p:nvSpPr>
        <p:spPr>
          <a:xfrm>
            <a:off x="660350" y="1182439"/>
            <a:ext cx="228600" cy="228600"/>
          </a:xfrm>
          <a:prstGeom prst="roundRect">
            <a:avLst>
              <a:gd name="adj" fmla="val 400000"/>
            </a:avLst>
          </a:prstGeom>
          <a:solidFill>
            <a:srgbClr val="B165FB"/>
          </a:solidFill>
          <a:ln/>
        </p:spPr>
        <p:txBody>
          <a:bodyPr wrap="square" rtlCol="0" anchor="ctr"/>
          <a:lstStyle/>
          <a:p>
            <a:pPr indent="0" marL="0">
              <a:buNone/>
            </a:pPr>
            <a:endParaRPr lang="en-US" dirty="0"/>
          </a:p>
        </p:txBody>
      </p:sp>
      <p:sp>
        <p:nvSpPr>
          <p:cNvPr id="8" name="Text 6"/>
          <p:cNvSpPr/>
          <p:nvPr/>
        </p:nvSpPr>
        <p:spPr>
          <a:xfrm>
            <a:off x="742801" y="1230064"/>
            <a:ext cx="64972"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9" name="Text 7"/>
          <p:cNvSpPr/>
          <p:nvPr/>
        </p:nvSpPr>
        <p:spPr>
          <a:xfrm>
            <a:off x="990451" y="1206252"/>
            <a:ext cx="2367394" cy="1809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取指数：</a:t>
            </a:r>
            <a:pPr algn="l" indent="0" marL="0">
              <a:spcBef>
                <a:spcPts val="1000"/>
              </a:spcBef>
              <a:spcAft>
                <a:spcPts val="1000"/>
              </a:spcAft>
              <a:buNone/>
            </a:pPr>
            <a:r>
              <a:rPr lang="en-US" sz="1000" dirty="0">
                <a:solidFill>
                  <a:srgbClr val="B165FB"/>
                </a:solidFill>
                <a:latin typeface="Arial" pitchFamily="34" charset="0"/>
                <a:ea typeface="Arial" pitchFamily="34" charset="-122"/>
                <a:cs typeface="Arial" pitchFamily="34" charset="-120"/>
              </a:rPr>
              <a:t>A = exp(W)</a:t>
            </a:r>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 确保所有元素非负</a:t>
            </a:r>
            <a:endParaRPr lang="en-US" sz="1000" dirty="0"/>
          </a:p>
        </p:txBody>
      </p:sp>
      <p:sp>
        <p:nvSpPr>
          <p:cNvPr id="10" name="Text 8"/>
          <p:cNvSpPr/>
          <p:nvPr/>
        </p:nvSpPr>
        <p:spPr>
          <a:xfrm>
            <a:off x="660350" y="1668066"/>
            <a:ext cx="228600" cy="228600"/>
          </a:xfrm>
          <a:prstGeom prst="roundRect">
            <a:avLst>
              <a:gd name="adj" fmla="val 400000"/>
            </a:avLst>
          </a:prstGeom>
          <a:solidFill>
            <a:srgbClr val="B165FB"/>
          </a:solidFill>
          <a:ln/>
        </p:spPr>
        <p:txBody>
          <a:bodyPr wrap="square" rtlCol="0" anchor="ctr"/>
          <a:lstStyle/>
          <a:p>
            <a:pPr indent="0" marL="0">
              <a:buNone/>
            </a:pPr>
            <a:endParaRPr lang="en-US" dirty="0"/>
          </a:p>
        </p:txBody>
      </p:sp>
      <p:sp>
        <p:nvSpPr>
          <p:cNvPr id="11" name="Text 9"/>
          <p:cNvSpPr/>
          <p:nvPr/>
        </p:nvSpPr>
        <p:spPr>
          <a:xfrm>
            <a:off x="742801" y="1715691"/>
            <a:ext cx="64972"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2" name="Text 10"/>
          <p:cNvSpPr/>
          <p:nvPr/>
        </p:nvSpPr>
        <p:spPr>
          <a:xfrm>
            <a:off x="990451" y="1691878"/>
            <a:ext cx="2905845" cy="1809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行归一化：</a:t>
            </a:r>
            <a:pPr algn="l" indent="0" marL="0">
              <a:spcBef>
                <a:spcPts val="1000"/>
              </a:spcBef>
              <a:spcAft>
                <a:spcPts val="1000"/>
              </a:spcAft>
              <a:buNone/>
            </a:pPr>
            <a:r>
              <a:rPr lang="en-US" sz="1000" dirty="0">
                <a:solidFill>
                  <a:srgbClr val="B165FB"/>
                </a:solidFill>
                <a:latin typeface="Arial" pitchFamily="34" charset="0"/>
                <a:ea typeface="Arial" pitchFamily="34" charset="-122"/>
                <a:cs typeface="Arial" pitchFamily="34" charset="-120"/>
              </a:rPr>
              <a:t>A = A / sum(A, dim=1)</a:t>
            </a:r>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 每行和为1</a:t>
            </a:r>
            <a:endParaRPr lang="en-US" sz="1000" dirty="0"/>
          </a:p>
        </p:txBody>
      </p:sp>
      <p:sp>
        <p:nvSpPr>
          <p:cNvPr id="13" name="Text 11"/>
          <p:cNvSpPr/>
          <p:nvPr/>
        </p:nvSpPr>
        <p:spPr>
          <a:xfrm>
            <a:off x="660350" y="2153692"/>
            <a:ext cx="228600" cy="228600"/>
          </a:xfrm>
          <a:prstGeom prst="roundRect">
            <a:avLst>
              <a:gd name="adj" fmla="val 400000"/>
            </a:avLst>
          </a:prstGeom>
          <a:solidFill>
            <a:srgbClr val="B165FB"/>
          </a:solidFill>
          <a:ln/>
        </p:spPr>
        <p:txBody>
          <a:bodyPr wrap="square" rtlCol="0" anchor="ctr"/>
          <a:lstStyle/>
          <a:p>
            <a:pPr indent="0" marL="0">
              <a:buNone/>
            </a:pPr>
            <a:endParaRPr lang="en-US" dirty="0"/>
          </a:p>
        </p:txBody>
      </p:sp>
      <p:sp>
        <p:nvSpPr>
          <p:cNvPr id="14" name="Text 12"/>
          <p:cNvSpPr/>
          <p:nvPr/>
        </p:nvSpPr>
        <p:spPr>
          <a:xfrm>
            <a:off x="742801" y="2201317"/>
            <a:ext cx="64972"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5" name="Text 13"/>
          <p:cNvSpPr/>
          <p:nvPr/>
        </p:nvSpPr>
        <p:spPr>
          <a:xfrm>
            <a:off x="990451" y="2177504"/>
            <a:ext cx="2905845" cy="1809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列归一化：</a:t>
            </a:r>
            <a:pPr algn="l" indent="0" marL="0">
              <a:spcBef>
                <a:spcPts val="1000"/>
              </a:spcBef>
              <a:spcAft>
                <a:spcPts val="1000"/>
              </a:spcAft>
              <a:buNone/>
            </a:pPr>
            <a:r>
              <a:rPr lang="en-US" sz="1000" dirty="0">
                <a:solidFill>
                  <a:srgbClr val="B165FB"/>
                </a:solidFill>
                <a:latin typeface="Arial" pitchFamily="34" charset="0"/>
                <a:ea typeface="Arial" pitchFamily="34" charset="-122"/>
                <a:cs typeface="Arial" pitchFamily="34" charset="-120"/>
              </a:rPr>
              <a:t>A = A / sum(A, dim=0)</a:t>
            </a:r>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 每列和为1</a:t>
            </a:r>
            <a:endParaRPr lang="en-US" sz="1000" dirty="0"/>
          </a:p>
        </p:txBody>
      </p:sp>
      <p:sp>
        <p:nvSpPr>
          <p:cNvPr id="16" name="Text 14"/>
          <p:cNvSpPr/>
          <p:nvPr/>
        </p:nvSpPr>
        <p:spPr>
          <a:xfrm>
            <a:off x="660350" y="2639318"/>
            <a:ext cx="228600" cy="228600"/>
          </a:xfrm>
          <a:prstGeom prst="roundRect">
            <a:avLst>
              <a:gd name="adj" fmla="val 400000"/>
            </a:avLst>
          </a:prstGeom>
          <a:solidFill>
            <a:srgbClr val="B165FB"/>
          </a:solidFill>
          <a:ln/>
        </p:spPr>
        <p:txBody>
          <a:bodyPr wrap="square" rtlCol="0" anchor="ctr"/>
          <a:lstStyle/>
          <a:p>
            <a:pPr indent="0" marL="0">
              <a:buNone/>
            </a:pPr>
            <a:endParaRPr lang="en-US" dirty="0"/>
          </a:p>
        </p:txBody>
      </p:sp>
      <p:sp>
        <p:nvSpPr>
          <p:cNvPr id="17" name="Text 15"/>
          <p:cNvSpPr/>
          <p:nvPr/>
        </p:nvSpPr>
        <p:spPr>
          <a:xfrm>
            <a:off x="742801" y="2686943"/>
            <a:ext cx="64972"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8" name="Text 16"/>
          <p:cNvSpPr/>
          <p:nvPr/>
        </p:nvSpPr>
        <p:spPr>
          <a:xfrm>
            <a:off x="990451" y="2663130"/>
            <a:ext cx="2698480" cy="1809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重复步骤 2-3，直到收敛（通常 </a:t>
            </a:r>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3 次迭代</a:t>
            </a:r>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即可）</a:t>
            </a:r>
            <a:endParaRPr lang="en-US" sz="1000" dirty="0"/>
          </a:p>
        </p:txBody>
      </p:sp>
      <p:sp>
        <p:nvSpPr>
          <p:cNvPr id="19" name="Text 17"/>
          <p:cNvSpPr/>
          <p:nvPr/>
        </p:nvSpPr>
        <p:spPr>
          <a:xfrm>
            <a:off x="507950" y="3199507"/>
            <a:ext cx="1955899" cy="968127"/>
          </a:xfrm>
          <a:prstGeom prst="roundRect">
            <a:avLst>
              <a:gd name="adj" fmla="val 7871"/>
            </a:avLst>
          </a:prstGeom>
          <a:solidFill>
            <a:srgbClr val="F0FFF0"/>
          </a:solidFill>
          <a:ln w="9525">
            <a:solidFill>
              <a:srgbClr val="40695B"/>
            </a:solidFill>
          </a:ln>
        </p:spPr>
        <p:txBody>
          <a:bodyPr wrap="square" rtlCol="0" anchor="ctr"/>
          <a:lstStyle/>
          <a:p>
            <a:pPr indent="0" marL="0">
              <a:buNone/>
            </a:pPr>
            <a:endParaRPr lang="en-US" dirty="0"/>
          </a:p>
        </p:txBody>
      </p:sp>
      <p:sp>
        <p:nvSpPr>
          <p:cNvPr id="20" name="Text 18"/>
          <p:cNvSpPr/>
          <p:nvPr/>
        </p:nvSpPr>
        <p:spPr>
          <a:xfrm>
            <a:off x="575831" y="3412182"/>
            <a:ext cx="1820138" cy="180975"/>
          </a:xfrm>
          <a:prstGeom prst="rect">
            <a:avLst/>
          </a:prstGeom>
          <a:noFill/>
          <a:ln/>
        </p:spPr>
        <p:txBody>
          <a:bodyPr wrap="square" lIns="0" tIns="0" rIns="0" bIns="0" rtlCol="0" anchor="t"/>
          <a:lstStyle/>
          <a:p>
            <a:pPr algn="ctr" indent="0" marL="0">
              <a:spcBef>
                <a:spcPts val="1000"/>
              </a:spcBef>
              <a:spcAft>
                <a:spcPts val="200"/>
              </a:spcAft>
              <a:buNone/>
            </a:pPr>
            <a:r>
              <a:rPr lang="en-US" sz="1000" b="1" dirty="0">
                <a:solidFill>
                  <a:srgbClr val="40695B"/>
                </a:solidFill>
                <a:latin typeface="Arial" pitchFamily="34" charset="0"/>
                <a:ea typeface="Arial" pitchFamily="34" charset="-122"/>
                <a:cs typeface="Arial" pitchFamily="34" charset="-120"/>
              </a:rPr>
              <a:t>计算高效</a:t>
            </a:r>
            <a:endParaRPr lang="en-US" sz="1000" dirty="0"/>
          </a:p>
        </p:txBody>
      </p:sp>
      <p:sp>
        <p:nvSpPr>
          <p:cNvPr id="21" name="Text 19"/>
          <p:cNvSpPr/>
          <p:nvPr/>
        </p:nvSpPr>
        <p:spPr>
          <a:xfrm>
            <a:off x="575831" y="3694658"/>
            <a:ext cx="1820138" cy="285750"/>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仅需矩阵-向量乘法</a:t>
            </a:r>
            <a:endParaRPr lang="en-US" sz="800" dirty="0"/>
          </a:p>
          <a:p>
            <a:pPr algn="ctr" indent="0" marL="0">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3次迭代达到精度</a:t>
            </a:r>
            <a:endParaRPr lang="en-US" sz="800" dirty="0"/>
          </a:p>
        </p:txBody>
      </p:sp>
      <p:sp>
        <p:nvSpPr>
          <p:cNvPr id="22" name="Text 20"/>
          <p:cNvSpPr/>
          <p:nvPr/>
        </p:nvSpPr>
        <p:spPr>
          <a:xfrm>
            <a:off x="2565350" y="3199507"/>
            <a:ext cx="1955899" cy="968127"/>
          </a:xfrm>
          <a:prstGeom prst="roundRect">
            <a:avLst>
              <a:gd name="adj" fmla="val 7871"/>
            </a:avLst>
          </a:prstGeom>
          <a:solidFill>
            <a:srgbClr val="F0FFF0"/>
          </a:solidFill>
          <a:ln w="9525">
            <a:solidFill>
              <a:srgbClr val="40695B"/>
            </a:solidFill>
          </a:ln>
        </p:spPr>
        <p:txBody>
          <a:bodyPr wrap="square" rtlCol="0" anchor="ctr"/>
          <a:lstStyle/>
          <a:p>
            <a:pPr indent="0" marL="0">
              <a:buNone/>
            </a:pPr>
            <a:endParaRPr lang="en-US" dirty="0"/>
          </a:p>
        </p:txBody>
      </p:sp>
      <p:sp>
        <p:nvSpPr>
          <p:cNvPr id="23" name="Text 21"/>
          <p:cNvSpPr/>
          <p:nvPr/>
        </p:nvSpPr>
        <p:spPr>
          <a:xfrm>
            <a:off x="2633231" y="3412182"/>
            <a:ext cx="1820138" cy="180975"/>
          </a:xfrm>
          <a:prstGeom prst="rect">
            <a:avLst/>
          </a:prstGeom>
          <a:noFill/>
          <a:ln/>
        </p:spPr>
        <p:txBody>
          <a:bodyPr wrap="square" lIns="0" tIns="0" rIns="0" bIns="0" rtlCol="0" anchor="t"/>
          <a:lstStyle/>
          <a:p>
            <a:pPr algn="ctr" indent="0" marL="0">
              <a:spcBef>
                <a:spcPts val="1000"/>
              </a:spcBef>
              <a:spcAft>
                <a:spcPts val="200"/>
              </a:spcAft>
              <a:buNone/>
            </a:pPr>
            <a:r>
              <a:rPr lang="en-US" sz="1000" b="1" dirty="0">
                <a:solidFill>
                  <a:srgbClr val="40695B"/>
                </a:solidFill>
                <a:latin typeface="Arial" pitchFamily="34" charset="0"/>
                <a:ea typeface="Arial" pitchFamily="34" charset="-122"/>
                <a:cs typeface="Arial" pitchFamily="34" charset="-120"/>
              </a:rPr>
              <a:t>可微分</a:t>
            </a:r>
            <a:endParaRPr lang="en-US" sz="1000" dirty="0"/>
          </a:p>
        </p:txBody>
      </p:sp>
      <p:sp>
        <p:nvSpPr>
          <p:cNvPr id="24" name="Text 22"/>
          <p:cNvSpPr/>
          <p:nvPr/>
        </p:nvSpPr>
        <p:spPr>
          <a:xfrm>
            <a:off x="2633231" y="3694658"/>
            <a:ext cx="1820138" cy="285750"/>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整个过程可自动求导</a:t>
            </a:r>
            <a:endParaRPr lang="en-US" sz="800" dirty="0"/>
          </a:p>
          <a:p>
            <a:pPr algn="ctr" indent="0" marL="0">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支持端到端训练</a:t>
            </a:r>
            <a:endParaRPr lang="en-US" sz="800" dirty="0"/>
          </a:p>
        </p:txBody>
      </p:sp>
      <p:sp>
        <p:nvSpPr>
          <p:cNvPr id="25" name="Text 23"/>
          <p:cNvSpPr/>
          <p:nvPr/>
        </p:nvSpPr>
        <p:spPr>
          <a:xfrm>
            <a:off x="4622750" y="3199507"/>
            <a:ext cx="1955899" cy="968127"/>
          </a:xfrm>
          <a:prstGeom prst="roundRect">
            <a:avLst>
              <a:gd name="adj" fmla="val 7871"/>
            </a:avLst>
          </a:prstGeom>
          <a:solidFill>
            <a:srgbClr val="F0FFF0"/>
          </a:solidFill>
          <a:ln w="9525">
            <a:solidFill>
              <a:srgbClr val="40695B"/>
            </a:solidFill>
          </a:ln>
        </p:spPr>
        <p:txBody>
          <a:bodyPr wrap="square" rtlCol="0" anchor="ctr"/>
          <a:lstStyle/>
          <a:p>
            <a:pPr indent="0" marL="0">
              <a:buNone/>
            </a:pPr>
            <a:endParaRPr lang="en-US" dirty="0"/>
          </a:p>
        </p:txBody>
      </p:sp>
      <p:sp>
        <p:nvSpPr>
          <p:cNvPr id="26" name="Text 24"/>
          <p:cNvSpPr/>
          <p:nvPr/>
        </p:nvSpPr>
        <p:spPr>
          <a:xfrm>
            <a:off x="4690631" y="3412182"/>
            <a:ext cx="1820138" cy="180975"/>
          </a:xfrm>
          <a:prstGeom prst="rect">
            <a:avLst/>
          </a:prstGeom>
          <a:noFill/>
          <a:ln/>
        </p:spPr>
        <p:txBody>
          <a:bodyPr wrap="square" lIns="0" tIns="0" rIns="0" bIns="0" rtlCol="0" anchor="t"/>
          <a:lstStyle/>
          <a:p>
            <a:pPr algn="ctr" indent="0" marL="0">
              <a:spcBef>
                <a:spcPts val="1000"/>
              </a:spcBef>
              <a:spcAft>
                <a:spcPts val="200"/>
              </a:spcAft>
              <a:buNone/>
            </a:pPr>
            <a:r>
              <a:rPr lang="en-US" sz="1000" b="1" dirty="0">
                <a:solidFill>
                  <a:srgbClr val="40695B"/>
                </a:solidFill>
                <a:latin typeface="Arial" pitchFamily="34" charset="0"/>
                <a:ea typeface="Arial" pitchFamily="34" charset="-122"/>
                <a:cs typeface="Arial" pitchFamily="34" charset="-120"/>
              </a:rPr>
              <a:t>数值稳定</a:t>
            </a:r>
            <a:endParaRPr lang="en-US" sz="1000" dirty="0"/>
          </a:p>
        </p:txBody>
      </p:sp>
      <p:sp>
        <p:nvSpPr>
          <p:cNvPr id="27" name="Text 25"/>
          <p:cNvSpPr/>
          <p:nvPr/>
        </p:nvSpPr>
        <p:spPr>
          <a:xfrm>
            <a:off x="4690631" y="3694658"/>
            <a:ext cx="1820138" cy="285750"/>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指数和归一化都是</a:t>
            </a:r>
            <a:endParaRPr lang="en-US" sz="800" dirty="0"/>
          </a:p>
          <a:p>
            <a:pPr algn="ctr" indent="0" marL="0">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数值上稳定的操作</a:t>
            </a:r>
            <a:endParaRPr lang="en-US" sz="800" dirty="0"/>
          </a:p>
        </p:txBody>
      </p:sp>
      <p:sp>
        <p:nvSpPr>
          <p:cNvPr id="28" name="Text 26"/>
          <p:cNvSpPr/>
          <p:nvPr/>
        </p:nvSpPr>
        <p:spPr>
          <a:xfrm>
            <a:off x="6680150" y="3199507"/>
            <a:ext cx="1955899" cy="968127"/>
          </a:xfrm>
          <a:prstGeom prst="roundRect">
            <a:avLst>
              <a:gd name="adj" fmla="val 7871"/>
            </a:avLst>
          </a:prstGeom>
          <a:solidFill>
            <a:srgbClr val="F0FFF0"/>
          </a:solidFill>
          <a:ln w="9525">
            <a:solidFill>
              <a:srgbClr val="40695B"/>
            </a:solidFill>
          </a:ln>
        </p:spPr>
        <p:txBody>
          <a:bodyPr wrap="square" rtlCol="0" anchor="ctr"/>
          <a:lstStyle/>
          <a:p>
            <a:pPr indent="0" marL="0">
              <a:buNone/>
            </a:pPr>
            <a:endParaRPr lang="en-US" dirty="0"/>
          </a:p>
        </p:txBody>
      </p:sp>
      <p:sp>
        <p:nvSpPr>
          <p:cNvPr id="29" name="Text 27"/>
          <p:cNvSpPr/>
          <p:nvPr/>
        </p:nvSpPr>
        <p:spPr>
          <a:xfrm>
            <a:off x="6748031" y="3412182"/>
            <a:ext cx="1820138" cy="180975"/>
          </a:xfrm>
          <a:prstGeom prst="rect">
            <a:avLst/>
          </a:prstGeom>
          <a:noFill/>
          <a:ln/>
        </p:spPr>
        <p:txBody>
          <a:bodyPr wrap="square" lIns="0" tIns="0" rIns="0" bIns="0" rtlCol="0" anchor="t"/>
          <a:lstStyle/>
          <a:p>
            <a:pPr algn="ctr" indent="0" marL="0">
              <a:spcBef>
                <a:spcPts val="1000"/>
              </a:spcBef>
              <a:spcAft>
                <a:spcPts val="200"/>
              </a:spcAft>
              <a:buNone/>
            </a:pPr>
            <a:r>
              <a:rPr lang="en-US" sz="1000" b="1" dirty="0">
                <a:solidFill>
                  <a:srgbClr val="40695B"/>
                </a:solidFill>
                <a:latin typeface="Arial" pitchFamily="34" charset="0"/>
                <a:ea typeface="Arial" pitchFamily="34" charset="-122"/>
                <a:cs typeface="Arial" pitchFamily="34" charset="-120"/>
              </a:rPr>
              <a:t>保证收敛</a:t>
            </a:r>
            <a:endParaRPr lang="en-US" sz="1000" dirty="0"/>
          </a:p>
        </p:txBody>
      </p:sp>
      <p:sp>
        <p:nvSpPr>
          <p:cNvPr id="30" name="Text 28"/>
          <p:cNvSpPr/>
          <p:nvPr/>
        </p:nvSpPr>
        <p:spPr>
          <a:xfrm>
            <a:off x="6748031" y="3694658"/>
            <a:ext cx="1820138" cy="285750"/>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有数学证明</a:t>
            </a:r>
            <a:endParaRPr lang="en-US" sz="800" dirty="0"/>
          </a:p>
          <a:p>
            <a:pPr algn="ctr" indent="0" marL="0">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一定收敛到双随机矩阵</a:t>
            </a:r>
            <a:endParaRPr lang="en-US" sz="800" dirty="0"/>
          </a:p>
        </p:txBody>
      </p:sp>
      <p:sp>
        <p:nvSpPr>
          <p:cNvPr id="31" name="Text 29"/>
          <p:cNvSpPr/>
          <p:nvPr/>
        </p:nvSpPr>
        <p:spPr>
          <a:xfrm>
            <a:off x="507950" y="4243834"/>
            <a:ext cx="8128099" cy="542925"/>
          </a:xfrm>
          <a:prstGeom prst="roundRect">
            <a:avLst>
              <a:gd name="adj" fmla="val 14035"/>
            </a:avLst>
          </a:prstGeom>
          <a:solidFill>
            <a:srgbClr val="40695B"/>
          </a:solidFill>
          <a:ln/>
        </p:spPr>
        <p:txBody>
          <a:bodyPr wrap="square" rtlCol="0" anchor="ctr"/>
          <a:lstStyle/>
          <a:p>
            <a:pPr indent="0" marL="0">
              <a:buNone/>
            </a:pPr>
            <a:endParaRPr lang="en-US" dirty="0"/>
          </a:p>
        </p:txBody>
      </p:sp>
      <p:sp>
        <p:nvSpPr>
          <p:cNvPr id="32" name="Text 30"/>
          <p:cNvSpPr/>
          <p:nvPr/>
        </p:nvSpPr>
        <p:spPr>
          <a:xfrm>
            <a:off x="634901" y="4434334"/>
            <a:ext cx="8031682" cy="161925"/>
          </a:xfrm>
          <a:prstGeom prst="rect">
            <a:avLst/>
          </a:prstGeom>
          <a:noFill/>
          <a:ln/>
        </p:spPr>
        <p:txBody>
          <a:bodyPr wrap="square" lIns="0" tIns="0" rIns="0" bIns="0" rtlCol="0" anchor="t"/>
          <a:lstStyle/>
          <a:p>
            <a:pPr algn="l" indent="0" marL="0">
              <a:spcBef>
                <a:spcPts val="900"/>
              </a:spcBef>
              <a:spcAft>
                <a:spcPts val="900"/>
              </a:spcAft>
              <a:buNone/>
            </a:pPr>
            <a:r>
              <a:rPr lang="en-US" sz="900" b="1" dirty="0">
                <a:solidFill>
                  <a:srgbClr val="FFFFFF"/>
                </a:solidFill>
                <a:latin typeface="Arial" pitchFamily="34" charset="0"/>
                <a:ea typeface="Arial" pitchFamily="34" charset="-122"/>
                <a:cs typeface="Arial" pitchFamily="34" charset="-120"/>
              </a:rPr>
              <a:t>实现简洁：</a:t>
            </a:r>
            <a:pPr algn="l" indent="0" marL="0">
              <a:spcBef>
                <a:spcPts val="900"/>
              </a:spcBef>
              <a:spcAft>
                <a:spcPts val="900"/>
              </a:spcAft>
              <a:buNone/>
            </a:pPr>
            <a:r>
              <a:rPr lang="en-US" sz="900" dirty="0">
                <a:solidFill>
                  <a:srgbClr val="FFFFFF"/>
                </a:solidFill>
                <a:latin typeface="Arial" pitchFamily="34" charset="0"/>
                <a:ea typeface="Arial" pitchFamily="34" charset="-122"/>
                <a:cs typeface="Arial" pitchFamily="34" charset="-120"/>
              </a:rPr>
              <a:t>整个 Sinkhorn 投影仅需约 </a:t>
            </a:r>
            <a:pPr algn="l" indent="0" marL="0">
              <a:spcBef>
                <a:spcPts val="900"/>
              </a:spcBef>
              <a:spcAft>
                <a:spcPts val="900"/>
              </a:spcAft>
              <a:buNone/>
            </a:pPr>
            <a:r>
              <a:rPr lang="en-US" sz="900" b="1" dirty="0">
                <a:solidFill>
                  <a:srgbClr val="FFFFFF"/>
                </a:solidFill>
                <a:latin typeface="Arial" pitchFamily="34" charset="0"/>
                <a:ea typeface="Arial" pitchFamily="34" charset="-122"/>
                <a:cs typeface="Arial" pitchFamily="34" charset="-120"/>
              </a:rPr>
              <a:t>10 行代码</a:t>
            </a:r>
            <a:pPr algn="l" indent="0" marL="0">
              <a:spcBef>
                <a:spcPts val="900"/>
              </a:spcBef>
              <a:spcAft>
                <a:spcPts val="900"/>
              </a:spcAft>
              <a:buNone/>
            </a:pPr>
            <a:r>
              <a:rPr lang="en-US" sz="900" dirty="0">
                <a:solidFill>
                  <a:srgbClr val="FFFFFF"/>
                </a:solidFill>
                <a:latin typeface="Arial" pitchFamily="34" charset="0"/>
                <a:ea typeface="Arial" pitchFamily="34" charset="-122"/>
                <a:cs typeface="Arial" pitchFamily="34" charset="-120"/>
              </a:rPr>
              <a:t>，却能带来显著的稳定性提升！</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Shape 1"/>
          <p:cNvSpPr/>
          <p:nvPr/>
        </p:nvSpPr>
        <p:spPr>
          <a:xfrm>
            <a:off x="546050" y="190500"/>
            <a:ext cx="0" cy="352425"/>
          </a:xfrm>
          <a:prstGeom prst="line">
            <a:avLst/>
          </a:prstGeom>
          <a:noFill/>
          <a:ln w="76200">
            <a:solidFill>
              <a:srgbClr val="40695B"/>
            </a:solidFill>
            <a:prstDash val="solid"/>
          </a:ln>
        </p:spPr>
      </p:sp>
      <p:sp>
        <p:nvSpPr>
          <p:cNvPr id="4" name="Text 2"/>
          <p:cNvSpPr/>
          <p:nvPr/>
        </p:nvSpPr>
        <p:spPr>
          <a:xfrm>
            <a:off x="774650" y="190500"/>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理论优势总结</a:t>
            </a:r>
            <a:endParaRPr lang="en-US" sz="2000" dirty="0"/>
          </a:p>
        </p:txBody>
      </p:sp>
      <p:sp>
        <p:nvSpPr>
          <p:cNvPr id="5" name="Text 3"/>
          <p:cNvSpPr/>
          <p:nvPr/>
        </p:nvSpPr>
        <p:spPr>
          <a:xfrm>
            <a:off x="507950" y="644426"/>
            <a:ext cx="8128099" cy="919758"/>
          </a:xfrm>
          <a:prstGeom prst="roundRect">
            <a:avLst>
              <a:gd name="adj" fmla="val 8285"/>
            </a:avLst>
          </a:prstGeom>
          <a:solidFill>
            <a:srgbClr val="F5F5F7"/>
          </a:solidFill>
          <a:ln/>
        </p:spPr>
        <p:txBody>
          <a:bodyPr wrap="square" rtlCol="0" anchor="ctr"/>
          <a:lstStyle/>
          <a:p>
            <a:pPr indent="0" marL="0">
              <a:buNone/>
            </a:pPr>
            <a:endParaRPr lang="en-US" dirty="0"/>
          </a:p>
        </p:txBody>
      </p:sp>
      <p:sp>
        <p:nvSpPr>
          <p:cNvPr id="6" name="Text 4"/>
          <p:cNvSpPr/>
          <p:nvPr/>
        </p:nvSpPr>
        <p:spPr>
          <a:xfrm>
            <a:off x="507950" y="644426"/>
            <a:ext cx="417909" cy="919758"/>
          </a:xfrm>
          <a:prstGeom prst="rect">
            <a:avLst/>
          </a:prstGeom>
          <a:solidFill>
            <a:srgbClr val="40695B"/>
          </a:solidFill>
          <a:ln/>
        </p:spPr>
        <p:txBody>
          <a:bodyPr wrap="square" rtlCol="0" anchor="ctr"/>
          <a:lstStyle/>
          <a:p>
            <a:pPr indent="0" marL="0">
              <a:buNone/>
            </a:pPr>
            <a:endParaRPr lang="en-US" dirty="0"/>
          </a:p>
        </p:txBody>
      </p:sp>
      <p:sp>
        <p:nvSpPr>
          <p:cNvPr id="7" name="Text 5"/>
          <p:cNvSpPr/>
          <p:nvPr/>
        </p:nvSpPr>
        <p:spPr>
          <a:xfrm>
            <a:off x="660350" y="985242"/>
            <a:ext cx="115372" cy="2381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6"/>
          <p:cNvSpPr/>
          <p:nvPr/>
        </p:nvSpPr>
        <p:spPr>
          <a:xfrm>
            <a:off x="1052810" y="885527"/>
            <a:ext cx="7605415" cy="200025"/>
          </a:xfrm>
          <a:prstGeom prst="rect">
            <a:avLst/>
          </a:prstGeom>
          <a:noFill/>
          <a:ln/>
        </p:spPr>
        <p:txBody>
          <a:bodyPr wrap="square" lIns="0" tIns="0" rIns="0" bIns="0" rtlCol="0" anchor="t"/>
          <a:lstStyle/>
          <a:p>
            <a:pPr algn="l" indent="0" marL="0">
              <a:spcBef>
                <a:spcPts val="1100"/>
              </a:spcBef>
              <a:spcAft>
                <a:spcPts val="200"/>
              </a:spcAft>
              <a:buNone/>
            </a:pPr>
            <a:r>
              <a:rPr lang="en-US" sz="1100" b="1" dirty="0">
                <a:solidFill>
                  <a:srgbClr val="181B24"/>
                </a:solidFill>
                <a:latin typeface="Arial" pitchFamily="34" charset="0"/>
                <a:ea typeface="Arial" pitchFamily="34" charset="-122"/>
                <a:cs typeface="Arial" pitchFamily="34" charset="-120"/>
              </a:rPr>
              <a:t>范数保持 (Norm Preservation)</a:t>
            </a:r>
            <a:endParaRPr lang="en-US" sz="1100" dirty="0"/>
          </a:p>
        </p:txBody>
      </p:sp>
      <p:sp>
        <p:nvSpPr>
          <p:cNvPr id="9" name="Text 7"/>
          <p:cNvSpPr/>
          <p:nvPr/>
        </p:nvSpPr>
        <p:spPr>
          <a:xfrm>
            <a:off x="1052810" y="1199852"/>
            <a:ext cx="7605415" cy="148530"/>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双随机矩阵的谱范数有界 ≤ 1，确保信号不会被放大，有效缓解梯度爆炸问题。</a:t>
            </a:r>
            <a:endParaRPr lang="en-US" sz="900" dirty="0"/>
          </a:p>
        </p:txBody>
      </p:sp>
      <p:sp>
        <p:nvSpPr>
          <p:cNvPr id="10" name="Text 8"/>
          <p:cNvSpPr/>
          <p:nvPr/>
        </p:nvSpPr>
        <p:spPr>
          <a:xfrm>
            <a:off x="507950" y="1640384"/>
            <a:ext cx="8128099" cy="919758"/>
          </a:xfrm>
          <a:prstGeom prst="roundRect">
            <a:avLst>
              <a:gd name="adj" fmla="val 8285"/>
            </a:avLst>
          </a:prstGeom>
          <a:solidFill>
            <a:srgbClr val="F5F5F7"/>
          </a:solidFill>
          <a:ln/>
        </p:spPr>
        <p:txBody>
          <a:bodyPr wrap="square" rtlCol="0" anchor="ctr"/>
          <a:lstStyle/>
          <a:p>
            <a:pPr indent="0" marL="0">
              <a:buNone/>
            </a:pPr>
            <a:endParaRPr lang="en-US" dirty="0"/>
          </a:p>
        </p:txBody>
      </p:sp>
      <p:sp>
        <p:nvSpPr>
          <p:cNvPr id="11" name="Text 9"/>
          <p:cNvSpPr/>
          <p:nvPr/>
        </p:nvSpPr>
        <p:spPr>
          <a:xfrm>
            <a:off x="507950" y="1640384"/>
            <a:ext cx="417909" cy="919758"/>
          </a:xfrm>
          <a:prstGeom prst="rect">
            <a:avLst/>
          </a:prstGeom>
          <a:solidFill>
            <a:srgbClr val="40695B"/>
          </a:solidFill>
          <a:ln/>
        </p:spPr>
        <p:txBody>
          <a:bodyPr wrap="square" rtlCol="0" anchor="ctr"/>
          <a:lstStyle/>
          <a:p>
            <a:pPr indent="0" marL="0">
              <a:buNone/>
            </a:pPr>
            <a:endParaRPr lang="en-US" dirty="0"/>
          </a:p>
        </p:txBody>
      </p:sp>
      <p:sp>
        <p:nvSpPr>
          <p:cNvPr id="12" name="Text 10"/>
          <p:cNvSpPr/>
          <p:nvPr/>
        </p:nvSpPr>
        <p:spPr>
          <a:xfrm>
            <a:off x="660350" y="1981200"/>
            <a:ext cx="115372" cy="2381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1052810" y="1881485"/>
            <a:ext cx="7605415" cy="200025"/>
          </a:xfrm>
          <a:prstGeom prst="rect">
            <a:avLst/>
          </a:prstGeom>
          <a:noFill/>
          <a:ln/>
        </p:spPr>
        <p:txBody>
          <a:bodyPr wrap="square" lIns="0" tIns="0" rIns="0" bIns="0" rtlCol="0" anchor="t"/>
          <a:lstStyle/>
          <a:p>
            <a:pPr algn="l" indent="0" marL="0">
              <a:spcBef>
                <a:spcPts val="1100"/>
              </a:spcBef>
              <a:spcAft>
                <a:spcPts val="200"/>
              </a:spcAft>
              <a:buNone/>
            </a:pPr>
            <a:r>
              <a:rPr lang="en-US" sz="1100" b="1" dirty="0">
                <a:solidFill>
                  <a:srgbClr val="181B24"/>
                </a:solidFill>
                <a:latin typeface="Arial" pitchFamily="34" charset="0"/>
                <a:ea typeface="Arial" pitchFamily="34" charset="-122"/>
                <a:cs typeface="Arial" pitchFamily="34" charset="-120"/>
              </a:rPr>
              <a:t>复合封闭性 (Composition Closure)</a:t>
            </a:r>
            <a:endParaRPr lang="en-US" sz="1100" dirty="0"/>
          </a:p>
        </p:txBody>
      </p:sp>
      <p:sp>
        <p:nvSpPr>
          <p:cNvPr id="14" name="Text 12"/>
          <p:cNvSpPr/>
          <p:nvPr/>
        </p:nvSpPr>
        <p:spPr>
          <a:xfrm>
            <a:off x="1052810" y="2195810"/>
            <a:ext cx="7605415" cy="148530"/>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两个双随机矩阵相乘，结果仍是双随机矩阵。保证了跨多层的稳定性。</a:t>
            </a:r>
            <a:endParaRPr lang="en-US" sz="900" dirty="0"/>
          </a:p>
        </p:txBody>
      </p:sp>
      <p:sp>
        <p:nvSpPr>
          <p:cNvPr id="15" name="Text 13"/>
          <p:cNvSpPr/>
          <p:nvPr/>
        </p:nvSpPr>
        <p:spPr>
          <a:xfrm>
            <a:off x="507950" y="2636341"/>
            <a:ext cx="8128099" cy="919758"/>
          </a:xfrm>
          <a:prstGeom prst="roundRect">
            <a:avLst>
              <a:gd name="adj" fmla="val 8285"/>
            </a:avLst>
          </a:prstGeom>
          <a:solidFill>
            <a:srgbClr val="F5F5F7"/>
          </a:solidFill>
          <a:ln/>
        </p:spPr>
        <p:txBody>
          <a:bodyPr wrap="square" rtlCol="0" anchor="ctr"/>
          <a:lstStyle/>
          <a:p>
            <a:pPr indent="0" marL="0">
              <a:buNone/>
            </a:pPr>
            <a:endParaRPr lang="en-US" dirty="0"/>
          </a:p>
        </p:txBody>
      </p:sp>
      <p:sp>
        <p:nvSpPr>
          <p:cNvPr id="16" name="Text 14"/>
          <p:cNvSpPr/>
          <p:nvPr/>
        </p:nvSpPr>
        <p:spPr>
          <a:xfrm>
            <a:off x="507950" y="2636341"/>
            <a:ext cx="417909" cy="919758"/>
          </a:xfrm>
          <a:prstGeom prst="rect">
            <a:avLst/>
          </a:prstGeom>
          <a:solidFill>
            <a:srgbClr val="40695B"/>
          </a:solidFill>
          <a:ln/>
        </p:spPr>
        <p:txBody>
          <a:bodyPr wrap="square" rtlCol="0" anchor="ctr"/>
          <a:lstStyle/>
          <a:p>
            <a:pPr indent="0" marL="0">
              <a:buNone/>
            </a:pPr>
            <a:endParaRPr lang="en-US" dirty="0"/>
          </a:p>
        </p:txBody>
      </p:sp>
      <p:sp>
        <p:nvSpPr>
          <p:cNvPr id="17" name="Text 15"/>
          <p:cNvSpPr/>
          <p:nvPr/>
        </p:nvSpPr>
        <p:spPr>
          <a:xfrm>
            <a:off x="660350" y="2977158"/>
            <a:ext cx="115372" cy="2381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16"/>
          <p:cNvSpPr/>
          <p:nvPr/>
        </p:nvSpPr>
        <p:spPr>
          <a:xfrm>
            <a:off x="1052810" y="2877443"/>
            <a:ext cx="7605415" cy="200025"/>
          </a:xfrm>
          <a:prstGeom prst="rect">
            <a:avLst/>
          </a:prstGeom>
          <a:noFill/>
          <a:ln/>
        </p:spPr>
        <p:txBody>
          <a:bodyPr wrap="square" lIns="0" tIns="0" rIns="0" bIns="0" rtlCol="0" anchor="t"/>
          <a:lstStyle/>
          <a:p>
            <a:pPr algn="l" indent="0" marL="0">
              <a:spcBef>
                <a:spcPts val="1100"/>
              </a:spcBef>
              <a:spcAft>
                <a:spcPts val="200"/>
              </a:spcAft>
              <a:buNone/>
            </a:pPr>
            <a:r>
              <a:rPr lang="en-US" sz="1100" b="1" dirty="0">
                <a:solidFill>
                  <a:srgbClr val="181B24"/>
                </a:solidFill>
                <a:latin typeface="Arial" pitchFamily="34" charset="0"/>
                <a:ea typeface="Arial" pitchFamily="34" charset="-122"/>
                <a:cs typeface="Arial" pitchFamily="34" charset="-120"/>
              </a:rPr>
              <a:t>几何解释 (Geometric Interpretation)</a:t>
            </a:r>
            <a:endParaRPr lang="en-US" sz="1100" dirty="0"/>
          </a:p>
        </p:txBody>
      </p:sp>
      <p:sp>
        <p:nvSpPr>
          <p:cNvPr id="19" name="Text 17"/>
          <p:cNvSpPr/>
          <p:nvPr/>
        </p:nvSpPr>
        <p:spPr>
          <a:xfrm>
            <a:off x="1052810" y="3191768"/>
            <a:ext cx="7605415" cy="148530"/>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双随机矩阵充当排列矩阵的凸组合，实现鲁棒的特征融合。</a:t>
            </a:r>
            <a:endParaRPr lang="en-US" sz="900" dirty="0"/>
          </a:p>
        </p:txBody>
      </p:sp>
      <p:sp>
        <p:nvSpPr>
          <p:cNvPr id="20" name="Text 18"/>
          <p:cNvSpPr/>
          <p:nvPr/>
        </p:nvSpPr>
        <p:spPr>
          <a:xfrm>
            <a:off x="507950" y="3657600"/>
            <a:ext cx="8128099" cy="685502"/>
          </a:xfrm>
          <a:prstGeom prst="roundRect">
            <a:avLst>
              <a:gd name="adj" fmla="val 11116"/>
            </a:avLst>
          </a:prstGeom>
          <a:solidFill>
            <a:srgbClr val="181B24"/>
          </a:solidFill>
          <a:ln/>
        </p:spPr>
        <p:txBody>
          <a:bodyPr wrap="square" rtlCol="0" anchor="ctr"/>
          <a:lstStyle/>
          <a:p>
            <a:pPr indent="0" marL="0">
              <a:buNone/>
            </a:pPr>
            <a:endParaRPr lang="en-US" dirty="0"/>
          </a:p>
        </p:txBody>
      </p:sp>
      <p:sp>
        <p:nvSpPr>
          <p:cNvPr id="21" name="Text 19"/>
          <p:cNvSpPr/>
          <p:nvPr/>
        </p:nvSpPr>
        <p:spPr>
          <a:xfrm>
            <a:off x="660350" y="3911501"/>
            <a:ext cx="7979765" cy="177701"/>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mHC 的理论贡献：证明了在满足双随机约束的条件下，</a:t>
            </a:r>
            <a:pPr algn="l" indent="0" marL="0">
              <a:lnSpc>
                <a:spcPts val="1400"/>
              </a:lnSpc>
              <a:spcBef>
                <a:spcPts val="1000"/>
              </a:spcBef>
              <a:spcAft>
                <a:spcPts val="1000"/>
              </a:spcAft>
              <a:buNone/>
            </a:pPr>
            <a:r>
              <a:rPr lang="en-US" sz="1000" dirty="0">
                <a:solidFill>
                  <a:srgbClr val="B165FB"/>
                </a:solidFill>
                <a:latin typeface="Arial" pitchFamily="34" charset="0"/>
                <a:ea typeface="Arial" pitchFamily="34" charset="-122"/>
                <a:cs typeface="Arial" pitchFamily="34" charset="-120"/>
              </a:rPr>
              <a:t>多流架构可以在不牺牲表达能力的前提下获得与单流残差连接相同的稳定性保证</a:t>
            </a:r>
            <a:pPr algn="l" indent="0" marL="0">
              <a:lnSpc>
                <a:spcPts val="1400"/>
              </a:lnSpc>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190500"/>
            <a:ext cx="0" cy="352425"/>
          </a:xfrm>
          <a:prstGeom prst="line">
            <a:avLst/>
          </a:prstGeom>
          <a:noFill/>
          <a:ln w="76200">
            <a:solidFill>
              <a:srgbClr val="B165FB"/>
            </a:solidFill>
            <a:prstDash val="solid"/>
          </a:ln>
        </p:spPr>
      </p:sp>
      <p:sp>
        <p:nvSpPr>
          <p:cNvPr id="4" name="Text 2"/>
          <p:cNvSpPr/>
          <p:nvPr/>
        </p:nvSpPr>
        <p:spPr>
          <a:xfrm>
            <a:off x="774650" y="190500"/>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架构对比</a:t>
            </a:r>
            <a:endParaRPr lang="en-US" sz="2000" dirty="0"/>
          </a:p>
        </p:txBody>
      </p:sp>
      <p:sp>
        <p:nvSpPr>
          <p:cNvPr id="5" name="Text 3"/>
          <p:cNvSpPr/>
          <p:nvPr/>
        </p:nvSpPr>
        <p:spPr>
          <a:xfrm>
            <a:off x="507950" y="644426"/>
            <a:ext cx="2641699" cy="1957388"/>
          </a:xfrm>
          <a:prstGeom prst="roundRect">
            <a:avLst>
              <a:gd name="adj" fmla="val 3893"/>
            </a:avLst>
          </a:prstGeom>
          <a:solidFill>
            <a:srgbClr val="F5F5F7"/>
          </a:solidFill>
          <a:ln w="19050">
            <a:solidFill>
              <a:srgbClr val="999999"/>
            </a:solidFill>
          </a:ln>
        </p:spPr>
        <p:txBody>
          <a:bodyPr wrap="square" rtlCol="0" anchor="ctr"/>
          <a:lstStyle/>
          <a:p>
            <a:pPr indent="0" marL="0">
              <a:buNone/>
            </a:pPr>
            <a:endParaRPr lang="en-US" dirty="0"/>
          </a:p>
        </p:txBody>
      </p:sp>
      <p:sp>
        <p:nvSpPr>
          <p:cNvPr id="6" name="Text 4"/>
          <p:cNvSpPr/>
          <p:nvPr/>
        </p:nvSpPr>
        <p:spPr>
          <a:xfrm>
            <a:off x="604495" y="879277"/>
            <a:ext cx="2448610" cy="161925"/>
          </a:xfrm>
          <a:prstGeom prst="rect">
            <a:avLst/>
          </a:prstGeom>
          <a:noFill/>
          <a:ln/>
        </p:spPr>
        <p:txBody>
          <a:bodyPr wrap="square" lIns="0" tIns="0" rIns="0" bIns="0" rtlCol="0" anchor="t"/>
          <a:lstStyle/>
          <a:p>
            <a:pPr algn="ctr" indent="0" marL="0">
              <a:spcBef>
                <a:spcPts val="900"/>
              </a:spcBef>
              <a:spcAft>
                <a:spcPts val="200"/>
              </a:spcAft>
              <a:buNone/>
            </a:pPr>
            <a:r>
              <a:rPr lang="en-US" sz="900" dirty="0">
                <a:solidFill>
                  <a:srgbClr val="666666"/>
                </a:solidFill>
                <a:latin typeface="Arial" pitchFamily="34" charset="0"/>
                <a:ea typeface="Arial" pitchFamily="34" charset="-122"/>
                <a:cs typeface="Arial" pitchFamily="34" charset="-120"/>
              </a:rPr>
              <a:t>(a) 标准残差连接</a:t>
            </a:r>
            <a:endParaRPr lang="en-US" sz="900" dirty="0"/>
          </a:p>
        </p:txBody>
      </p:sp>
      <p:sp>
        <p:nvSpPr>
          <p:cNvPr id="7" name="Text 5"/>
          <p:cNvSpPr/>
          <p:nvPr/>
        </p:nvSpPr>
        <p:spPr>
          <a:xfrm>
            <a:off x="604495" y="1180802"/>
            <a:ext cx="2448610" cy="152400"/>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666666"/>
                </a:solidFill>
                <a:latin typeface="Arial" pitchFamily="34" charset="0"/>
                <a:ea typeface="Arial" pitchFamily="34" charset="-122"/>
                <a:cs typeface="Arial" pitchFamily="34" charset="-120"/>
              </a:rPr>
              <a:t>Residual Connection</a:t>
            </a:r>
            <a:endParaRPr lang="en-US" sz="1100" dirty="0"/>
          </a:p>
        </p:txBody>
      </p:sp>
      <p:sp>
        <p:nvSpPr>
          <p:cNvPr id="8" name="Text 6"/>
          <p:cNvSpPr/>
          <p:nvPr/>
        </p:nvSpPr>
        <p:spPr>
          <a:xfrm>
            <a:off x="656261" y="1561654"/>
            <a:ext cx="2345079" cy="142875"/>
          </a:xfrm>
          <a:prstGeom prst="rect">
            <a:avLst/>
          </a:prstGeom>
          <a:noFill/>
          <a:ln/>
        </p:spPr>
        <p:txBody>
          <a:bodyPr wrap="square" lIns="0" tIns="0" rIns="0" bIns="0" rtlCol="0" anchor="t"/>
          <a:lstStyle/>
          <a:p>
            <a:pPr algn="ctr" indent="0" marL="0">
              <a:spcBef>
                <a:spcPts val="1000"/>
              </a:spcBef>
              <a:spcAft>
                <a:spcPts val="1000"/>
              </a:spcAft>
              <a:buNone/>
            </a:pPr>
            <a:r>
              <a:rPr lang="en-US" sz="1000" dirty="0">
                <a:solidFill>
                  <a:srgbClr val="000000"/>
                </a:solidFill>
                <a:latin typeface="Georgia" pitchFamily="34" charset="0"/>
                <a:ea typeface="Georgia" pitchFamily="34" charset="-122"/>
                <a:cs typeface="Georgia" pitchFamily="34" charset="-120"/>
              </a:rPr>
              <a:t>y = x + F(x)</a:t>
            </a:r>
            <a:endParaRPr lang="en-US" sz="1000" dirty="0"/>
          </a:p>
        </p:txBody>
      </p:sp>
      <p:sp>
        <p:nvSpPr>
          <p:cNvPr id="9" name="Text 7"/>
          <p:cNvSpPr/>
          <p:nvPr/>
        </p:nvSpPr>
        <p:spPr>
          <a:xfrm>
            <a:off x="628501" y="1983730"/>
            <a:ext cx="2448610" cy="396032"/>
          </a:xfrm>
          <a:prstGeom prst="rect">
            <a:avLst/>
          </a:prstGeom>
          <a:noFill/>
          <a:ln/>
        </p:spPr>
        <p:txBody>
          <a:bodyPr wrap="square" lIns="50800" tIns="0" rIns="50800" bIns="0" rtlCol="0" anchor="t"/>
          <a:lstStyle/>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单一信息流</a:t>
            </a:r>
            <a:endParaRPr lang="en-US" sz="800" dirty="0"/>
          </a:p>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恒等映射 ✓</a:t>
            </a:r>
            <a:endParaRPr lang="en-US" sz="800" dirty="0"/>
          </a:p>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通道受限于维度 C</a:t>
            </a:r>
            <a:endParaRPr lang="en-US" sz="800" dirty="0"/>
          </a:p>
        </p:txBody>
      </p:sp>
      <p:sp>
        <p:nvSpPr>
          <p:cNvPr id="10" name="Text 8"/>
          <p:cNvSpPr/>
          <p:nvPr/>
        </p:nvSpPr>
        <p:spPr>
          <a:xfrm>
            <a:off x="3251150" y="644426"/>
            <a:ext cx="2641699" cy="1957388"/>
          </a:xfrm>
          <a:prstGeom prst="roundRect">
            <a:avLst>
              <a:gd name="adj" fmla="val 3893"/>
            </a:avLst>
          </a:prstGeom>
          <a:solidFill>
            <a:srgbClr val="FFF5F5"/>
          </a:solidFill>
          <a:ln w="19050">
            <a:solidFill>
              <a:srgbClr val="E74C3C"/>
            </a:solidFill>
          </a:ln>
        </p:spPr>
        <p:txBody>
          <a:bodyPr wrap="square" rtlCol="0" anchor="ctr"/>
          <a:lstStyle/>
          <a:p>
            <a:pPr indent="0" marL="0">
              <a:buNone/>
            </a:pPr>
            <a:endParaRPr lang="en-US" dirty="0"/>
          </a:p>
        </p:txBody>
      </p:sp>
      <p:sp>
        <p:nvSpPr>
          <p:cNvPr id="11" name="Text 9"/>
          <p:cNvSpPr/>
          <p:nvPr/>
        </p:nvSpPr>
        <p:spPr>
          <a:xfrm>
            <a:off x="3347695" y="879277"/>
            <a:ext cx="2448610" cy="161925"/>
          </a:xfrm>
          <a:prstGeom prst="rect">
            <a:avLst/>
          </a:prstGeom>
          <a:noFill/>
          <a:ln/>
        </p:spPr>
        <p:txBody>
          <a:bodyPr wrap="square" lIns="0" tIns="0" rIns="0" bIns="0" rtlCol="0" anchor="t"/>
          <a:lstStyle/>
          <a:p>
            <a:pPr algn="ctr" indent="0" marL="0">
              <a:spcBef>
                <a:spcPts val="900"/>
              </a:spcBef>
              <a:spcAft>
                <a:spcPts val="200"/>
              </a:spcAft>
              <a:buNone/>
            </a:pPr>
            <a:r>
              <a:rPr lang="en-US" sz="900" dirty="0">
                <a:solidFill>
                  <a:srgbClr val="666666"/>
                </a:solidFill>
                <a:latin typeface="Arial" pitchFamily="34" charset="0"/>
                <a:ea typeface="Arial" pitchFamily="34" charset="-122"/>
                <a:cs typeface="Arial" pitchFamily="34" charset="-120"/>
              </a:rPr>
              <a:t>(b) 超连接</a:t>
            </a:r>
            <a:endParaRPr lang="en-US" sz="900" dirty="0"/>
          </a:p>
        </p:txBody>
      </p:sp>
      <p:sp>
        <p:nvSpPr>
          <p:cNvPr id="12" name="Text 10"/>
          <p:cNvSpPr/>
          <p:nvPr/>
        </p:nvSpPr>
        <p:spPr>
          <a:xfrm>
            <a:off x="3347695" y="1180802"/>
            <a:ext cx="2448610" cy="152400"/>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E74C3C"/>
                </a:solidFill>
                <a:latin typeface="Arial" pitchFamily="34" charset="0"/>
                <a:ea typeface="Arial" pitchFamily="34" charset="-122"/>
                <a:cs typeface="Arial" pitchFamily="34" charset="-120"/>
              </a:rPr>
              <a:t>Hyper-Connections</a:t>
            </a:r>
            <a:endParaRPr lang="en-US" sz="1100" dirty="0"/>
          </a:p>
        </p:txBody>
      </p:sp>
      <p:sp>
        <p:nvSpPr>
          <p:cNvPr id="13" name="Text 11"/>
          <p:cNvSpPr/>
          <p:nvPr/>
        </p:nvSpPr>
        <p:spPr>
          <a:xfrm>
            <a:off x="3399461" y="1561654"/>
            <a:ext cx="2345079" cy="142875"/>
          </a:xfrm>
          <a:prstGeom prst="rect">
            <a:avLst/>
          </a:prstGeom>
          <a:noFill/>
          <a:ln/>
        </p:spPr>
        <p:txBody>
          <a:bodyPr wrap="square" lIns="0" tIns="0" rIns="0" bIns="0" rtlCol="0" anchor="t"/>
          <a:lstStyle/>
          <a:p>
            <a:pPr algn="ctr" indent="0" marL="0">
              <a:spcBef>
                <a:spcPts val="1000"/>
              </a:spcBef>
              <a:spcAft>
                <a:spcPts val="1000"/>
              </a:spcAft>
              <a:buNone/>
            </a:pPr>
            <a:r>
              <a:rPr lang="en-US" sz="1000" dirty="0">
                <a:solidFill>
                  <a:srgbClr val="000000"/>
                </a:solidFill>
                <a:latin typeface="Georgia" pitchFamily="34" charset="0"/>
                <a:ea typeface="Georgia" pitchFamily="34" charset="-122"/>
                <a:cs typeface="Georgia" pitchFamily="34" charset="-120"/>
              </a:rPr>
              <a:t>y = H·x + H'·F(x)</a:t>
            </a:r>
            <a:endParaRPr lang="en-US" sz="1000" dirty="0"/>
          </a:p>
        </p:txBody>
      </p:sp>
      <p:sp>
        <p:nvSpPr>
          <p:cNvPr id="14" name="Text 12"/>
          <p:cNvSpPr/>
          <p:nvPr/>
        </p:nvSpPr>
        <p:spPr>
          <a:xfrm>
            <a:off x="3371701" y="1983730"/>
            <a:ext cx="2448610" cy="396032"/>
          </a:xfrm>
          <a:prstGeom prst="rect">
            <a:avLst/>
          </a:prstGeom>
          <a:noFill/>
          <a:ln/>
        </p:spPr>
        <p:txBody>
          <a:bodyPr wrap="square" lIns="50800" tIns="0" rIns="50800" bIns="0" rtlCol="0" anchor="t"/>
          <a:lstStyle/>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n 条并行信息流</a:t>
            </a:r>
            <a:endParaRPr lang="en-US" sz="800" dirty="0"/>
          </a:p>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恒等映射 ✗</a:t>
            </a:r>
            <a:endParaRPr lang="en-US" sz="800" dirty="0"/>
          </a:p>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信号放大风险</a:t>
            </a:r>
            <a:endParaRPr lang="en-US" sz="800" dirty="0"/>
          </a:p>
        </p:txBody>
      </p:sp>
      <p:sp>
        <p:nvSpPr>
          <p:cNvPr id="15" name="Text 13"/>
          <p:cNvSpPr/>
          <p:nvPr/>
        </p:nvSpPr>
        <p:spPr>
          <a:xfrm>
            <a:off x="5994350" y="644426"/>
            <a:ext cx="2641699" cy="1957388"/>
          </a:xfrm>
          <a:prstGeom prst="roundRect">
            <a:avLst>
              <a:gd name="adj" fmla="val 3893"/>
            </a:avLst>
          </a:prstGeom>
          <a:solidFill>
            <a:srgbClr val="F0FFF0"/>
          </a:solidFill>
          <a:ln w="19050">
            <a:solidFill>
              <a:srgbClr val="40695B"/>
            </a:solidFill>
          </a:ln>
        </p:spPr>
        <p:txBody>
          <a:bodyPr wrap="square" rtlCol="0" anchor="ctr"/>
          <a:lstStyle/>
          <a:p>
            <a:pPr indent="0" marL="0">
              <a:buNone/>
            </a:pPr>
            <a:endParaRPr lang="en-US" dirty="0"/>
          </a:p>
        </p:txBody>
      </p:sp>
      <p:sp>
        <p:nvSpPr>
          <p:cNvPr id="16" name="Text 14"/>
          <p:cNvSpPr/>
          <p:nvPr/>
        </p:nvSpPr>
        <p:spPr>
          <a:xfrm>
            <a:off x="6090895" y="879277"/>
            <a:ext cx="2448610" cy="161925"/>
          </a:xfrm>
          <a:prstGeom prst="rect">
            <a:avLst/>
          </a:prstGeom>
          <a:noFill/>
          <a:ln/>
        </p:spPr>
        <p:txBody>
          <a:bodyPr wrap="square" lIns="0" tIns="0" rIns="0" bIns="0" rtlCol="0" anchor="t"/>
          <a:lstStyle/>
          <a:p>
            <a:pPr algn="ctr" indent="0" marL="0">
              <a:spcBef>
                <a:spcPts val="900"/>
              </a:spcBef>
              <a:spcAft>
                <a:spcPts val="200"/>
              </a:spcAft>
              <a:buNone/>
            </a:pPr>
            <a:r>
              <a:rPr lang="en-US" sz="900" dirty="0">
                <a:solidFill>
                  <a:srgbClr val="666666"/>
                </a:solidFill>
                <a:latin typeface="Arial" pitchFamily="34" charset="0"/>
                <a:ea typeface="Arial" pitchFamily="34" charset="-122"/>
                <a:cs typeface="Arial" pitchFamily="34" charset="-120"/>
              </a:rPr>
              <a:t>(c) 流形约束超连接</a:t>
            </a:r>
            <a:endParaRPr lang="en-US" sz="900" dirty="0"/>
          </a:p>
        </p:txBody>
      </p:sp>
      <p:sp>
        <p:nvSpPr>
          <p:cNvPr id="17" name="Text 15"/>
          <p:cNvSpPr/>
          <p:nvPr/>
        </p:nvSpPr>
        <p:spPr>
          <a:xfrm>
            <a:off x="6090895" y="1180802"/>
            <a:ext cx="2448610" cy="152400"/>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40695B"/>
                </a:solidFill>
                <a:latin typeface="Arial" pitchFamily="34" charset="0"/>
                <a:ea typeface="Arial" pitchFamily="34" charset="-122"/>
                <a:cs typeface="Arial" pitchFamily="34" charset="-120"/>
              </a:rPr>
              <a:t>mHC</a:t>
            </a:r>
            <a:endParaRPr lang="en-US" sz="1100" dirty="0"/>
          </a:p>
        </p:txBody>
      </p:sp>
      <p:sp>
        <p:nvSpPr>
          <p:cNvPr id="18" name="Text 16"/>
          <p:cNvSpPr/>
          <p:nvPr/>
        </p:nvSpPr>
        <p:spPr>
          <a:xfrm>
            <a:off x="6142661" y="1561654"/>
            <a:ext cx="2345079" cy="142875"/>
          </a:xfrm>
          <a:prstGeom prst="rect">
            <a:avLst/>
          </a:prstGeom>
          <a:noFill/>
          <a:ln/>
        </p:spPr>
        <p:txBody>
          <a:bodyPr wrap="square" lIns="0" tIns="0" rIns="0" bIns="0" rtlCol="0" anchor="t"/>
          <a:lstStyle/>
          <a:p>
            <a:pPr algn="ctr" indent="0" marL="0">
              <a:spcBef>
                <a:spcPts val="1000"/>
              </a:spcBef>
              <a:spcAft>
                <a:spcPts val="1000"/>
              </a:spcAft>
              <a:buNone/>
            </a:pPr>
            <a:r>
              <a:rPr lang="en-US" sz="1000" dirty="0">
                <a:solidFill>
                  <a:srgbClr val="000000"/>
                </a:solidFill>
                <a:latin typeface="Georgia" pitchFamily="34" charset="0"/>
                <a:ea typeface="Georgia" pitchFamily="34" charset="-122"/>
                <a:cs typeface="Georgia" pitchFamily="34" charset="-120"/>
              </a:rPr>
              <a:t>y = DS(H)·x + DS(H')·F(x)</a:t>
            </a:r>
            <a:endParaRPr lang="en-US" sz="1000" dirty="0"/>
          </a:p>
        </p:txBody>
      </p:sp>
      <p:sp>
        <p:nvSpPr>
          <p:cNvPr id="19" name="Text 17"/>
          <p:cNvSpPr/>
          <p:nvPr/>
        </p:nvSpPr>
        <p:spPr>
          <a:xfrm>
            <a:off x="6114901" y="1983730"/>
            <a:ext cx="2448610" cy="396032"/>
          </a:xfrm>
          <a:prstGeom prst="rect">
            <a:avLst/>
          </a:prstGeom>
          <a:noFill/>
          <a:ln/>
        </p:spPr>
        <p:txBody>
          <a:bodyPr wrap="square" lIns="50800" tIns="0" rIns="50800" bIns="0" rtlCol="0" anchor="t"/>
          <a:lstStyle/>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n 条并行信息流</a:t>
            </a:r>
            <a:endParaRPr lang="en-US" sz="800" dirty="0"/>
          </a:p>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恒等映射 ✓ (恢复)</a:t>
            </a:r>
            <a:endParaRPr lang="en-US" sz="800" dirty="0"/>
          </a:p>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双随机约束保稳定</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Shape 1"/>
          <p:cNvSpPr/>
          <p:nvPr/>
        </p:nvSpPr>
        <p:spPr>
          <a:xfrm>
            <a:off x="546050" y="190500"/>
            <a:ext cx="0" cy="352425"/>
          </a:xfrm>
          <a:prstGeom prst="line">
            <a:avLst/>
          </a:prstGeom>
          <a:noFill/>
          <a:ln w="76200">
            <a:solidFill>
              <a:srgbClr val="40695B"/>
            </a:solidFill>
            <a:prstDash val="solid"/>
          </a:ln>
        </p:spPr>
      </p:sp>
      <p:sp>
        <p:nvSpPr>
          <p:cNvPr id="4" name="Text 2"/>
          <p:cNvSpPr/>
          <p:nvPr/>
        </p:nvSpPr>
        <p:spPr>
          <a:xfrm>
            <a:off x="774650" y="190500"/>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方案的优雅之处</a:t>
            </a:r>
            <a:endParaRPr lang="en-US" sz="2000" dirty="0"/>
          </a:p>
        </p:txBody>
      </p:sp>
      <p:sp>
        <p:nvSpPr>
          <p:cNvPr id="5" name="Text 3"/>
          <p:cNvSpPr/>
          <p:nvPr/>
        </p:nvSpPr>
        <p:spPr>
          <a:xfrm>
            <a:off x="507950" y="644426"/>
            <a:ext cx="2624733" cy="1760488"/>
          </a:xfrm>
          <a:prstGeom prst="roundRect">
            <a:avLst>
              <a:gd name="adj" fmla="val 4328"/>
            </a:avLst>
          </a:prstGeom>
          <a:solidFill>
            <a:srgbClr val="F5F5F7"/>
          </a:solidFill>
          <a:ln/>
        </p:spPr>
        <p:txBody>
          <a:bodyPr wrap="square" rtlCol="0" anchor="ctr"/>
          <a:lstStyle/>
          <a:p>
            <a:pPr indent="0" marL="0">
              <a:buNone/>
            </a:pPr>
            <a:endParaRPr lang="en-US" dirty="0"/>
          </a:p>
        </p:txBody>
      </p:sp>
      <p:sp>
        <p:nvSpPr>
          <p:cNvPr id="6" name="Text 4"/>
          <p:cNvSpPr/>
          <p:nvPr/>
        </p:nvSpPr>
        <p:spPr>
          <a:xfrm>
            <a:off x="611192" y="1050727"/>
            <a:ext cx="2418249" cy="361950"/>
          </a:xfrm>
          <a:prstGeom prst="rect">
            <a:avLst/>
          </a:prstGeom>
          <a:noFill/>
          <a:ln/>
        </p:spPr>
        <p:txBody>
          <a:bodyPr wrap="square" lIns="0" tIns="0" rIns="0" bIns="0" rtlCol="0" anchor="t"/>
          <a:lstStyle/>
          <a:p>
            <a:pPr algn="ctr" indent="0" marL="0">
              <a:spcBef>
                <a:spcPts val="2200"/>
              </a:spcBef>
              <a:spcAft>
                <a:spcPts val="400"/>
              </a:spcAft>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611192" y="1552277"/>
            <a:ext cx="2418249" cy="200025"/>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181B24"/>
                </a:solidFill>
                <a:latin typeface="Arial" pitchFamily="34" charset="0"/>
                <a:ea typeface="Arial" pitchFamily="34" charset="-122"/>
                <a:cs typeface="Arial" pitchFamily="34" charset="-120"/>
              </a:rPr>
              <a:t>零超参数</a:t>
            </a:r>
            <a:endParaRPr lang="en-US" sz="1100" dirty="0"/>
          </a:p>
        </p:txBody>
      </p:sp>
      <p:sp>
        <p:nvSpPr>
          <p:cNvPr id="8" name="Text 6"/>
          <p:cNvSpPr/>
          <p:nvPr/>
        </p:nvSpPr>
        <p:spPr>
          <a:xfrm>
            <a:off x="611192" y="1866602"/>
            <a:ext cx="2418249" cy="297061"/>
          </a:xfrm>
          <a:prstGeom prst="rect">
            <a:avLst/>
          </a:prstGeom>
          <a:noFill/>
          <a:ln/>
        </p:spPr>
        <p:txBody>
          <a:bodyPr wrap="square" lIns="0" tIns="0" rIns="0" bIns="0" rtlCol="0" anchor="t"/>
          <a:lstStyle/>
          <a:p>
            <a:pPr algn="ctr"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没有引入任何需要调节的新超参数，即插即用。</a:t>
            </a:r>
            <a:endParaRPr lang="en-US" sz="900" dirty="0"/>
          </a:p>
        </p:txBody>
      </p:sp>
      <p:sp>
        <p:nvSpPr>
          <p:cNvPr id="9" name="Text 7"/>
          <p:cNvSpPr/>
          <p:nvPr/>
        </p:nvSpPr>
        <p:spPr>
          <a:xfrm>
            <a:off x="3259634" y="644426"/>
            <a:ext cx="2624733" cy="1760488"/>
          </a:xfrm>
          <a:prstGeom prst="roundRect">
            <a:avLst>
              <a:gd name="adj" fmla="val 4328"/>
            </a:avLst>
          </a:prstGeom>
          <a:solidFill>
            <a:srgbClr val="F5F5F7"/>
          </a:solidFill>
          <a:ln/>
        </p:spPr>
        <p:txBody>
          <a:bodyPr wrap="square" rtlCol="0" anchor="ctr"/>
          <a:lstStyle/>
          <a:p>
            <a:pPr indent="0" marL="0">
              <a:buNone/>
            </a:pPr>
            <a:endParaRPr lang="en-US" dirty="0"/>
          </a:p>
        </p:txBody>
      </p:sp>
      <p:sp>
        <p:nvSpPr>
          <p:cNvPr id="10" name="Text 8"/>
          <p:cNvSpPr/>
          <p:nvPr/>
        </p:nvSpPr>
        <p:spPr>
          <a:xfrm>
            <a:off x="3362876" y="1050727"/>
            <a:ext cx="2418249" cy="361950"/>
          </a:xfrm>
          <a:prstGeom prst="rect">
            <a:avLst/>
          </a:prstGeom>
          <a:noFill/>
          <a:ln/>
        </p:spPr>
        <p:txBody>
          <a:bodyPr wrap="square" lIns="0" tIns="0" rIns="0" bIns="0" rtlCol="0" anchor="t"/>
          <a:lstStyle/>
          <a:p>
            <a:pPr algn="ctr" indent="0" marL="0">
              <a:spcBef>
                <a:spcPts val="2200"/>
              </a:spcBef>
              <a:spcAft>
                <a:spcPts val="400"/>
              </a:spcAft>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3362876" y="1552277"/>
            <a:ext cx="2418249" cy="200025"/>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181B24"/>
                </a:solidFill>
                <a:latin typeface="Arial" pitchFamily="34" charset="0"/>
                <a:ea typeface="Arial" pitchFamily="34" charset="-122"/>
                <a:cs typeface="Arial" pitchFamily="34" charset="-120"/>
              </a:rPr>
              <a:t>保留表达力</a:t>
            </a:r>
            <a:endParaRPr lang="en-US" sz="1100" dirty="0"/>
          </a:p>
        </p:txBody>
      </p:sp>
      <p:sp>
        <p:nvSpPr>
          <p:cNvPr id="12" name="Text 10"/>
          <p:cNvSpPr/>
          <p:nvPr/>
        </p:nvSpPr>
        <p:spPr>
          <a:xfrm>
            <a:off x="3362876" y="1866602"/>
            <a:ext cx="2418249" cy="297061"/>
          </a:xfrm>
          <a:prstGeom prst="rect">
            <a:avLst/>
          </a:prstGeom>
          <a:noFill/>
          <a:ln/>
        </p:spPr>
        <p:txBody>
          <a:bodyPr wrap="square" lIns="0" tIns="0" rIns="0" bIns="0" rtlCol="0" anchor="t"/>
          <a:lstStyle/>
          <a:p>
            <a:pPr algn="ctr"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没有改变模型能学什么，只是约束了学习的方式。</a:t>
            </a:r>
            <a:endParaRPr lang="en-US" sz="900" dirty="0"/>
          </a:p>
        </p:txBody>
      </p:sp>
      <p:sp>
        <p:nvSpPr>
          <p:cNvPr id="13" name="Text 11"/>
          <p:cNvSpPr/>
          <p:nvPr/>
        </p:nvSpPr>
        <p:spPr>
          <a:xfrm>
            <a:off x="6011317" y="644426"/>
            <a:ext cx="2624733" cy="1760488"/>
          </a:xfrm>
          <a:prstGeom prst="roundRect">
            <a:avLst>
              <a:gd name="adj" fmla="val 4328"/>
            </a:avLst>
          </a:prstGeom>
          <a:solidFill>
            <a:srgbClr val="F5F5F7"/>
          </a:solidFill>
          <a:ln/>
        </p:spPr>
        <p:txBody>
          <a:bodyPr wrap="square" rtlCol="0" anchor="ctr"/>
          <a:lstStyle/>
          <a:p>
            <a:pPr indent="0" marL="0">
              <a:buNone/>
            </a:pPr>
            <a:endParaRPr lang="en-US" dirty="0"/>
          </a:p>
        </p:txBody>
      </p:sp>
      <p:sp>
        <p:nvSpPr>
          <p:cNvPr id="14" name="Text 12"/>
          <p:cNvSpPr/>
          <p:nvPr/>
        </p:nvSpPr>
        <p:spPr>
          <a:xfrm>
            <a:off x="6114559" y="1050727"/>
            <a:ext cx="2418249" cy="361950"/>
          </a:xfrm>
          <a:prstGeom prst="rect">
            <a:avLst/>
          </a:prstGeom>
          <a:noFill/>
          <a:ln/>
        </p:spPr>
        <p:txBody>
          <a:bodyPr wrap="square" lIns="0" tIns="0" rIns="0" bIns="0" rtlCol="0" anchor="t"/>
          <a:lstStyle/>
          <a:p>
            <a:pPr algn="ctr" indent="0" marL="0">
              <a:spcBef>
                <a:spcPts val="2200"/>
              </a:spcBef>
              <a:spcAft>
                <a:spcPts val="400"/>
              </a:spcAft>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6114559" y="1552277"/>
            <a:ext cx="2418249" cy="200025"/>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181B24"/>
                </a:solidFill>
                <a:latin typeface="Arial" pitchFamily="34" charset="0"/>
                <a:ea typeface="Arial" pitchFamily="34" charset="-122"/>
                <a:cs typeface="Arial" pitchFamily="34" charset="-120"/>
              </a:rPr>
              <a:t>数学可证</a:t>
            </a:r>
            <a:endParaRPr lang="en-US" sz="1100" dirty="0"/>
          </a:p>
        </p:txBody>
      </p:sp>
      <p:sp>
        <p:nvSpPr>
          <p:cNvPr id="16" name="Text 14"/>
          <p:cNvSpPr/>
          <p:nvPr/>
        </p:nvSpPr>
        <p:spPr>
          <a:xfrm>
            <a:off x="6114559" y="1866602"/>
            <a:ext cx="2418249" cy="148530"/>
          </a:xfrm>
          <a:prstGeom prst="rect">
            <a:avLst/>
          </a:prstGeom>
          <a:noFill/>
          <a:ln/>
        </p:spPr>
        <p:txBody>
          <a:bodyPr wrap="square" lIns="0" tIns="0" rIns="0" bIns="0" rtlCol="0" anchor="t"/>
          <a:lstStyle/>
          <a:p>
            <a:pPr algn="ctr"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安全边界有严格的数学证明，不是经验性的。</a:t>
            </a:r>
            <a:endParaRPr lang="en-US" sz="900" dirty="0"/>
          </a:p>
        </p:txBody>
      </p:sp>
      <p:sp>
        <p:nvSpPr>
          <p:cNvPr id="17" name="Text 15"/>
          <p:cNvSpPr/>
          <p:nvPr/>
        </p:nvSpPr>
        <p:spPr>
          <a:xfrm>
            <a:off x="507950" y="2506414"/>
            <a:ext cx="8128099" cy="1273076"/>
          </a:xfrm>
          <a:prstGeom prst="roundRect">
            <a:avLst>
              <a:gd name="adj" fmla="val 5986"/>
            </a:avLst>
          </a:prstGeom>
          <a:solidFill>
            <a:srgbClr val="181B24"/>
          </a:solidFill>
          <a:ln/>
        </p:spPr>
        <p:txBody>
          <a:bodyPr wrap="square" rtlCol="0" anchor="ctr"/>
          <a:lstStyle/>
          <a:p>
            <a:pPr indent="0" marL="0">
              <a:buNone/>
            </a:pPr>
            <a:endParaRPr lang="en-US" dirty="0"/>
          </a:p>
        </p:txBody>
      </p:sp>
      <p:sp>
        <p:nvSpPr>
          <p:cNvPr id="18" name="Text 16"/>
          <p:cNvSpPr/>
          <p:nvPr/>
        </p:nvSpPr>
        <p:spPr>
          <a:xfrm>
            <a:off x="660350" y="2747665"/>
            <a:ext cx="3892728" cy="190500"/>
          </a:xfrm>
          <a:prstGeom prst="rect">
            <a:avLst/>
          </a:prstGeom>
          <a:noFill/>
          <a:ln/>
        </p:spPr>
        <p:txBody>
          <a:bodyPr wrap="square" lIns="0" tIns="0" rIns="0" bIns="0" rtlCol="0" anchor="t"/>
          <a:lstStyle/>
          <a:p>
            <a:pPr algn="l" indent="0" marL="0">
              <a:spcBef>
                <a:spcPts val="900"/>
              </a:spcBef>
              <a:spcAft>
                <a:spcPts val="300"/>
              </a:spcAft>
              <a:buNone/>
            </a:pPr>
            <a:r>
              <a:rPr lang="en-US" sz="900" dirty="0">
                <a:solidFill>
                  <a:srgbClr val="E74C3C"/>
                </a:solidFill>
                <a:latin typeface="Arial" pitchFamily="34" charset="0"/>
                <a:ea typeface="Arial" pitchFamily="34" charset="-122"/>
                <a:cs typeface="Arial" pitchFamily="34" charset="-120"/>
              </a:rPr>
              <a:t>❌ 常见的"黑客手段"</a:t>
            </a:r>
            <a:endParaRPr lang="en-US" sz="900" dirty="0"/>
          </a:p>
        </p:txBody>
      </p:sp>
      <p:sp>
        <p:nvSpPr>
          <p:cNvPr id="19" name="Text 17"/>
          <p:cNvSpPr/>
          <p:nvPr/>
        </p:nvSpPr>
        <p:spPr>
          <a:xfrm>
            <a:off x="660350" y="3052465"/>
            <a:ext cx="3892728" cy="485775"/>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FFFFFF"/>
                </a:solidFill>
                <a:latin typeface="Arial" pitchFamily="34" charset="0"/>
                <a:ea typeface="Arial" pitchFamily="34" charset="-122"/>
                <a:cs typeface="Arial" pitchFamily="34" charset="-120"/>
              </a:rPr>
              <a:t>梯度裁剪 / Loss 缩放</a:t>
            </a:r>
            <a:endParaRPr lang="en-US" sz="900" dirty="0"/>
          </a:p>
          <a:p>
            <a:pPr algn="l" indent="0" marL="0">
              <a:spcBef>
                <a:spcPts val="900"/>
              </a:spcBef>
              <a:spcAft>
                <a:spcPts val="900"/>
              </a:spcAft>
              <a:buNone/>
            </a:pPr>
            <a:r>
              <a:rPr lang="en-US" sz="900" dirty="0">
                <a:solidFill>
                  <a:srgbClr val="FFFFFF"/>
                </a:solidFill>
                <a:latin typeface="Arial" pitchFamily="34" charset="0"/>
                <a:ea typeface="Arial" pitchFamily="34" charset="-122"/>
                <a:cs typeface="Arial" pitchFamily="34" charset="-120"/>
              </a:rPr>
              <a:t>权重衰减增强</a:t>
            </a:r>
            <a:endParaRPr lang="en-US" sz="900" dirty="0"/>
          </a:p>
          <a:p>
            <a:pPr algn="l" indent="0" marL="0">
              <a:spcBef>
                <a:spcPts val="900"/>
              </a:spcBef>
              <a:spcAft>
                <a:spcPts val="900"/>
              </a:spcAft>
              <a:buNone/>
            </a:pPr>
            <a:r>
              <a:rPr lang="en-US" sz="900" dirty="0">
                <a:solidFill>
                  <a:srgbClr val="FFFFFF"/>
                </a:solidFill>
                <a:latin typeface="Arial" pitchFamily="34" charset="0"/>
                <a:ea typeface="Arial" pitchFamily="34" charset="-122"/>
                <a:cs typeface="Arial" pitchFamily="34" charset="-120"/>
              </a:rPr>
              <a:t>学习率热身/衰减</a:t>
            </a:r>
            <a:endParaRPr lang="en-US" sz="900" dirty="0"/>
          </a:p>
        </p:txBody>
      </p:sp>
      <p:sp>
        <p:nvSpPr>
          <p:cNvPr id="20" name="Text 18"/>
          <p:cNvSpPr/>
          <p:nvPr/>
        </p:nvSpPr>
        <p:spPr>
          <a:xfrm>
            <a:off x="4667250" y="2747665"/>
            <a:ext cx="3892728" cy="190500"/>
          </a:xfrm>
          <a:prstGeom prst="rect">
            <a:avLst/>
          </a:prstGeom>
          <a:noFill/>
          <a:ln/>
        </p:spPr>
        <p:txBody>
          <a:bodyPr wrap="square" lIns="0" tIns="0" rIns="0" bIns="0" rtlCol="0" anchor="t"/>
          <a:lstStyle/>
          <a:p>
            <a:pPr algn="l" indent="0" marL="0">
              <a:spcBef>
                <a:spcPts val="900"/>
              </a:spcBef>
              <a:spcAft>
                <a:spcPts val="300"/>
              </a:spcAft>
              <a:buNone/>
            </a:pPr>
            <a:r>
              <a:rPr lang="en-US" sz="900" dirty="0">
                <a:solidFill>
                  <a:srgbClr val="40695B"/>
                </a:solidFill>
                <a:latin typeface="Arial" pitchFamily="34" charset="0"/>
                <a:ea typeface="Arial" pitchFamily="34" charset="-122"/>
                <a:cs typeface="Arial" pitchFamily="34" charset="-120"/>
              </a:rPr>
              <a:t>✅ mHC 的"原则性约束"</a:t>
            </a:r>
            <a:endParaRPr lang="en-US" sz="900" dirty="0"/>
          </a:p>
        </p:txBody>
      </p:sp>
      <p:sp>
        <p:nvSpPr>
          <p:cNvPr id="21" name="Text 19"/>
          <p:cNvSpPr/>
          <p:nvPr/>
        </p:nvSpPr>
        <p:spPr>
          <a:xfrm>
            <a:off x="4667250" y="3052465"/>
            <a:ext cx="3892728" cy="485775"/>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FFFFFF"/>
                </a:solidFill>
                <a:latin typeface="Arial" pitchFamily="34" charset="0"/>
                <a:ea typeface="Arial" pitchFamily="34" charset="-122"/>
                <a:cs typeface="Arial" pitchFamily="34" charset="-120"/>
              </a:rPr>
              <a:t>从数学上保证稳定</a:t>
            </a:r>
            <a:endParaRPr lang="en-US" sz="900" dirty="0"/>
          </a:p>
          <a:p>
            <a:pPr algn="l" indent="0" marL="0">
              <a:spcBef>
                <a:spcPts val="900"/>
              </a:spcBef>
              <a:spcAft>
                <a:spcPts val="900"/>
              </a:spcAft>
              <a:buNone/>
            </a:pPr>
            <a:r>
              <a:rPr lang="en-US" sz="900" dirty="0">
                <a:solidFill>
                  <a:srgbClr val="FFFFFF"/>
                </a:solidFill>
                <a:latin typeface="Arial" pitchFamily="34" charset="0"/>
                <a:ea typeface="Arial" pitchFamily="34" charset="-122"/>
                <a:cs typeface="Arial" pitchFamily="34" charset="-120"/>
              </a:rPr>
              <a:t>不需要试错调参</a:t>
            </a:r>
            <a:endParaRPr lang="en-US" sz="900" dirty="0"/>
          </a:p>
          <a:p>
            <a:pPr algn="l" indent="0" marL="0">
              <a:spcBef>
                <a:spcPts val="900"/>
              </a:spcBef>
              <a:spcAft>
                <a:spcPts val="900"/>
              </a:spcAft>
              <a:buNone/>
            </a:pPr>
            <a:r>
              <a:rPr lang="en-US" sz="900" dirty="0">
                <a:solidFill>
                  <a:srgbClr val="FFFFFF"/>
                </a:solidFill>
                <a:latin typeface="Arial" pitchFamily="34" charset="0"/>
                <a:ea typeface="Arial" pitchFamily="34" charset="-122"/>
                <a:cs typeface="Arial" pitchFamily="34" charset="-120"/>
              </a:rPr>
              <a:t>在任意规模都有效</a:t>
            </a:r>
            <a:endParaRPr lang="en-US" sz="900" dirty="0"/>
          </a:p>
        </p:txBody>
      </p:sp>
      <p:sp>
        <p:nvSpPr>
          <p:cNvPr id="22" name="Text 20"/>
          <p:cNvSpPr/>
          <p:nvPr/>
        </p:nvSpPr>
        <p:spPr>
          <a:xfrm>
            <a:off x="507950" y="3880991"/>
            <a:ext cx="8128099" cy="621804"/>
          </a:xfrm>
          <a:prstGeom prst="roundRect">
            <a:avLst>
              <a:gd name="adj" fmla="val 12255"/>
            </a:avLst>
          </a:prstGeom>
          <a:solidFill>
            <a:srgbClr val="40695B"/>
          </a:solidFill>
          <a:ln/>
        </p:spPr>
        <p:txBody>
          <a:bodyPr wrap="square" rtlCol="0" anchor="ctr"/>
          <a:lstStyle/>
          <a:p>
            <a:pPr indent="0" marL="0">
              <a:buNone/>
            </a:pPr>
            <a:endParaRPr lang="en-US" dirty="0"/>
          </a:p>
        </p:txBody>
      </p:sp>
      <p:sp>
        <p:nvSpPr>
          <p:cNvPr id="23" name="Text 21"/>
          <p:cNvSpPr/>
          <p:nvPr/>
        </p:nvSpPr>
        <p:spPr>
          <a:xfrm>
            <a:off x="634901" y="4109442"/>
            <a:ext cx="8031682"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i="1" dirty="0">
                <a:solidFill>
                  <a:srgbClr val="FFFFFF"/>
                </a:solidFill>
                <a:latin typeface="Arial" pitchFamily="34" charset="0"/>
                <a:ea typeface="Arial" pitchFamily="34" charset="-122"/>
                <a:cs typeface="Arial" pitchFamily="34" charset="-120"/>
              </a:rPr>
              <a:t>「最好的解决方案往往不是添加更多控制，而是找到问题的本质，然后用最小的改动消除根源。」</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B165FB"/>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守恒定律视角</a:t>
            </a:r>
            <a:endParaRPr lang="en-US" sz="2200" dirty="0"/>
          </a:p>
        </p:txBody>
      </p:sp>
      <p:sp>
        <p:nvSpPr>
          <p:cNvPr id="5" name="Text 3"/>
          <p:cNvSpPr/>
          <p:nvPr/>
        </p:nvSpPr>
        <p:spPr>
          <a:xfrm>
            <a:off x="507950" y="860375"/>
            <a:ext cx="8290661" cy="209550"/>
          </a:xfrm>
          <a:prstGeom prst="rect">
            <a:avLst/>
          </a:prstGeom>
          <a:noFill/>
          <a:ln/>
        </p:spPr>
        <p:txBody>
          <a:bodyPr wrap="square" lIns="0" tIns="0" rIns="0" bIns="0" rtlCol="0" anchor="t"/>
          <a:lstStyle/>
          <a:p>
            <a:pPr algn="l" indent="0" marL="0">
              <a:spcBef>
                <a:spcPts val="1200"/>
              </a:spcBef>
              <a:spcAft>
                <a:spcPts val="1200"/>
              </a:spcAft>
              <a:buNone/>
            </a:pPr>
            <a:r>
              <a:rPr lang="en-US" sz="1200" dirty="0">
                <a:solidFill>
                  <a:srgbClr val="333333"/>
                </a:solidFill>
                <a:latin typeface="Arial" pitchFamily="34" charset="0"/>
                <a:ea typeface="Arial" pitchFamily="34" charset="-122"/>
                <a:cs typeface="Arial" pitchFamily="34" charset="-120"/>
              </a:rPr>
              <a:t>从物理学的角度理解：残差连接相当于神经网络中的</a:t>
            </a:r>
            <a:pPr algn="l" indent="0" marL="0">
              <a:spcBef>
                <a:spcPts val="1200"/>
              </a:spcBef>
              <a:spcAft>
                <a:spcPts val="1200"/>
              </a:spcAft>
              <a:buNone/>
            </a:pPr>
            <a:r>
              <a:rPr lang="en-US" sz="1200" b="1" dirty="0">
                <a:solidFill>
                  <a:srgbClr val="333333"/>
                </a:solidFill>
                <a:latin typeface="Arial" pitchFamily="34" charset="0"/>
                <a:ea typeface="Arial" pitchFamily="34" charset="-122"/>
                <a:cs typeface="Arial" pitchFamily="34" charset="-120"/>
              </a:rPr>
              <a:t>"信号守恒定律"</a:t>
            </a:r>
            <a:endParaRPr lang="en-US" sz="1200" dirty="0"/>
          </a:p>
        </p:txBody>
      </p:sp>
      <p:sp>
        <p:nvSpPr>
          <p:cNvPr id="6" name="Text 4"/>
          <p:cNvSpPr/>
          <p:nvPr/>
        </p:nvSpPr>
        <p:spPr>
          <a:xfrm>
            <a:off x="1569690" y="1260425"/>
            <a:ext cx="927050" cy="1295251"/>
          </a:xfrm>
          <a:prstGeom prst="roundRect">
            <a:avLst>
              <a:gd name="adj" fmla="val 8220"/>
            </a:avLst>
          </a:prstGeom>
          <a:solidFill>
            <a:srgbClr val="F5F5F7"/>
          </a:solidFill>
          <a:ln w="19050">
            <a:solidFill>
              <a:srgbClr val="666666"/>
            </a:solidFill>
          </a:ln>
        </p:spPr>
        <p:txBody>
          <a:bodyPr wrap="square" rtlCol="0" anchor="ctr"/>
          <a:lstStyle/>
          <a:p>
            <a:pPr indent="0" marL="0">
              <a:buNone/>
            </a:pPr>
            <a:endParaRPr lang="en-US" dirty="0"/>
          </a:p>
        </p:txBody>
      </p:sp>
      <p:sp>
        <p:nvSpPr>
          <p:cNvPr id="7" name="Text 5"/>
          <p:cNvSpPr/>
          <p:nvPr/>
        </p:nvSpPr>
        <p:spPr>
          <a:xfrm>
            <a:off x="1774161" y="1558826"/>
            <a:ext cx="518109" cy="180975"/>
          </a:xfrm>
          <a:prstGeom prst="rect">
            <a:avLst/>
          </a:prstGeom>
          <a:noFill/>
          <a:ln/>
        </p:spPr>
        <p:txBody>
          <a:bodyPr wrap="square" lIns="0" tIns="0" rIns="0" bIns="0" rtlCol="0" anchor="t"/>
          <a:lstStyle/>
          <a:p>
            <a:pPr algn="ctr" indent="0" marL="0">
              <a:spcBef>
                <a:spcPts val="1000"/>
              </a:spcBef>
              <a:spcAft>
                <a:spcPts val="400"/>
              </a:spcAft>
              <a:buNone/>
            </a:pPr>
            <a:r>
              <a:rPr lang="en-US" sz="1000" dirty="0">
                <a:solidFill>
                  <a:srgbClr val="666666"/>
                </a:solidFill>
                <a:latin typeface="Arial" pitchFamily="34" charset="0"/>
                <a:ea typeface="Arial" pitchFamily="34" charset="-122"/>
                <a:cs typeface="Arial" pitchFamily="34" charset="-120"/>
              </a:rPr>
              <a:t>输入信号</a:t>
            </a:r>
            <a:endParaRPr lang="en-US" sz="1000" dirty="0"/>
          </a:p>
        </p:txBody>
      </p:sp>
      <p:sp>
        <p:nvSpPr>
          <p:cNvPr id="8" name="Text 6"/>
          <p:cNvSpPr/>
          <p:nvPr/>
        </p:nvSpPr>
        <p:spPr>
          <a:xfrm>
            <a:off x="1774161" y="1942951"/>
            <a:ext cx="518109" cy="238125"/>
          </a:xfrm>
          <a:prstGeom prst="rect">
            <a:avLst/>
          </a:prstGeom>
          <a:noFill/>
          <a:ln/>
        </p:spPr>
        <p:txBody>
          <a:bodyPr wrap="square" lIns="0" tIns="0" rIns="0" bIns="0" rtlCol="0" anchor="t"/>
          <a:lstStyle/>
          <a:p>
            <a:pPr algn="ctr" indent="0" marL="0">
              <a:spcBef>
                <a:spcPts val="1600"/>
              </a:spcBef>
              <a:spcAft>
                <a:spcPts val="1600"/>
              </a:spcAft>
              <a:buNone/>
            </a:pPr>
            <a:r>
              <a:rPr lang="en-US" sz="1600" b="1" dirty="0">
                <a:solidFill>
                  <a:srgbClr val="000000"/>
                </a:solidFill>
                <a:latin typeface="Arial" pitchFamily="34" charset="0"/>
                <a:ea typeface="Arial" pitchFamily="34" charset="-122"/>
                <a:cs typeface="Arial" pitchFamily="34" charset="-120"/>
              </a:rPr>
              <a:t>1.0</a:t>
            </a:r>
            <a:endParaRPr lang="en-US" sz="1600" dirty="0"/>
          </a:p>
        </p:txBody>
      </p:sp>
      <p:sp>
        <p:nvSpPr>
          <p:cNvPr id="9" name="Text 7"/>
          <p:cNvSpPr/>
          <p:nvPr/>
        </p:nvSpPr>
        <p:spPr>
          <a:xfrm>
            <a:off x="2598241" y="1774627"/>
            <a:ext cx="233172" cy="266700"/>
          </a:xfrm>
          <a:prstGeom prst="rect">
            <a:avLst/>
          </a:prstGeom>
          <a:noFill/>
          <a:ln/>
        </p:spPr>
        <p:txBody>
          <a:bodyPr wrap="square" lIns="0" tIns="0" rIns="0" bIns="0" rtlCol="0" anchor="t"/>
          <a:lstStyle/>
          <a:p>
            <a:pPr algn="l" indent="0" marL="0">
              <a:spcBef>
                <a:spcPts val="1800"/>
              </a:spcBef>
              <a:spcAft>
                <a:spcPts val="1800"/>
              </a:spcAft>
              <a:buNone/>
            </a:pPr>
            <a:r>
              <a:rPr lang="en-US" sz="1800" dirty="0">
                <a:solidFill>
                  <a:srgbClr val="666666"/>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2928342" y="1260425"/>
            <a:ext cx="1216372" cy="1295251"/>
          </a:xfrm>
          <a:prstGeom prst="roundRect">
            <a:avLst>
              <a:gd name="adj" fmla="val 6265"/>
            </a:avLst>
          </a:prstGeom>
          <a:solidFill>
            <a:srgbClr val="F0FFF0"/>
          </a:solidFill>
          <a:ln w="19050">
            <a:solidFill>
              <a:srgbClr val="40695B"/>
            </a:solidFill>
          </a:ln>
        </p:spPr>
        <p:txBody>
          <a:bodyPr wrap="square" rtlCol="0" anchor="ctr"/>
          <a:lstStyle/>
          <a:p>
            <a:pPr indent="0" marL="0">
              <a:buNone/>
            </a:pPr>
            <a:endParaRPr lang="en-US" dirty="0"/>
          </a:p>
        </p:txBody>
      </p:sp>
      <p:sp>
        <p:nvSpPr>
          <p:cNvPr id="11" name="Text 9"/>
          <p:cNvSpPr/>
          <p:nvPr/>
        </p:nvSpPr>
        <p:spPr>
          <a:xfrm>
            <a:off x="3129919" y="1558826"/>
            <a:ext cx="813218" cy="180975"/>
          </a:xfrm>
          <a:prstGeom prst="rect">
            <a:avLst/>
          </a:prstGeom>
          <a:noFill/>
          <a:ln/>
        </p:spPr>
        <p:txBody>
          <a:bodyPr wrap="square" lIns="0" tIns="0" rIns="0" bIns="0" rtlCol="0" anchor="t"/>
          <a:lstStyle/>
          <a:p>
            <a:pPr algn="ctr" indent="0" marL="0">
              <a:spcBef>
                <a:spcPts val="1000"/>
              </a:spcBef>
              <a:spcAft>
                <a:spcPts val="400"/>
              </a:spcAft>
              <a:buNone/>
            </a:pPr>
            <a:r>
              <a:rPr lang="en-US" sz="1000" dirty="0">
                <a:solidFill>
                  <a:srgbClr val="666666"/>
                </a:solidFill>
                <a:latin typeface="Arial" pitchFamily="34" charset="0"/>
                <a:ea typeface="Arial" pitchFamily="34" charset="-122"/>
                <a:cs typeface="Arial" pitchFamily="34" charset="-120"/>
              </a:rPr>
              <a:t>ResNet (守恒)</a:t>
            </a:r>
            <a:endParaRPr lang="en-US" sz="1000" dirty="0"/>
          </a:p>
        </p:txBody>
      </p:sp>
      <p:sp>
        <p:nvSpPr>
          <p:cNvPr id="12" name="Text 10"/>
          <p:cNvSpPr/>
          <p:nvPr/>
        </p:nvSpPr>
        <p:spPr>
          <a:xfrm>
            <a:off x="3129919" y="1942951"/>
            <a:ext cx="813218" cy="238125"/>
          </a:xfrm>
          <a:prstGeom prst="rect">
            <a:avLst/>
          </a:prstGeom>
          <a:noFill/>
          <a:ln/>
        </p:spPr>
        <p:txBody>
          <a:bodyPr wrap="square" lIns="0" tIns="0" rIns="0" bIns="0" rtlCol="0" anchor="t"/>
          <a:lstStyle/>
          <a:p>
            <a:pPr algn="ctr" indent="0" marL="0">
              <a:spcBef>
                <a:spcPts val="1600"/>
              </a:spcBef>
              <a:spcAft>
                <a:spcPts val="1600"/>
              </a:spcAft>
              <a:buNone/>
            </a:pPr>
            <a:r>
              <a:rPr lang="en-US" sz="1600" b="1" dirty="0">
                <a:solidFill>
                  <a:srgbClr val="40695B"/>
                </a:solidFill>
                <a:latin typeface="Arial" pitchFamily="34" charset="0"/>
                <a:ea typeface="Arial" pitchFamily="34" charset="-122"/>
                <a:cs typeface="Arial" pitchFamily="34" charset="-120"/>
              </a:rPr>
              <a:t>1.0</a:t>
            </a:r>
            <a:endParaRPr lang="en-US" sz="1600" dirty="0"/>
          </a:p>
        </p:txBody>
      </p:sp>
      <p:sp>
        <p:nvSpPr>
          <p:cNvPr id="13" name="Text 11"/>
          <p:cNvSpPr/>
          <p:nvPr/>
        </p:nvSpPr>
        <p:spPr>
          <a:xfrm>
            <a:off x="4246215" y="1774627"/>
            <a:ext cx="233172" cy="266700"/>
          </a:xfrm>
          <a:prstGeom prst="rect">
            <a:avLst/>
          </a:prstGeom>
          <a:noFill/>
          <a:ln/>
        </p:spPr>
        <p:txBody>
          <a:bodyPr wrap="square" lIns="0" tIns="0" rIns="0" bIns="0" rtlCol="0" anchor="t"/>
          <a:lstStyle/>
          <a:p>
            <a:pPr algn="l" indent="0" marL="0">
              <a:spcBef>
                <a:spcPts val="1800"/>
              </a:spcBef>
              <a:spcAft>
                <a:spcPts val="1800"/>
              </a:spcAft>
              <a:buNone/>
            </a:pPr>
            <a:r>
              <a:rPr lang="en-US" sz="1800" dirty="0">
                <a:solidFill>
                  <a:srgbClr val="666666"/>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4576316" y="1260425"/>
            <a:ext cx="1230213" cy="1295251"/>
          </a:xfrm>
          <a:prstGeom prst="roundRect">
            <a:avLst>
              <a:gd name="adj" fmla="val 6194"/>
            </a:avLst>
          </a:prstGeom>
          <a:solidFill>
            <a:srgbClr val="FFF5F5"/>
          </a:solidFill>
          <a:ln w="19050">
            <a:solidFill>
              <a:srgbClr val="E74C3C"/>
            </a:solidFill>
          </a:ln>
        </p:spPr>
        <p:txBody>
          <a:bodyPr wrap="square" rtlCol="0" anchor="ctr"/>
          <a:lstStyle/>
          <a:p>
            <a:pPr indent="0" marL="0">
              <a:buNone/>
            </a:pPr>
            <a:endParaRPr lang="en-US" dirty="0"/>
          </a:p>
        </p:txBody>
      </p:sp>
      <p:sp>
        <p:nvSpPr>
          <p:cNvPr id="15" name="Text 13"/>
          <p:cNvSpPr/>
          <p:nvPr/>
        </p:nvSpPr>
        <p:spPr>
          <a:xfrm>
            <a:off x="4777755" y="1558826"/>
            <a:ext cx="827336" cy="180975"/>
          </a:xfrm>
          <a:prstGeom prst="rect">
            <a:avLst/>
          </a:prstGeom>
          <a:noFill/>
          <a:ln/>
        </p:spPr>
        <p:txBody>
          <a:bodyPr wrap="square" lIns="0" tIns="0" rIns="0" bIns="0" rtlCol="0" anchor="t"/>
          <a:lstStyle/>
          <a:p>
            <a:pPr algn="ctr" indent="0" marL="0">
              <a:spcBef>
                <a:spcPts val="1000"/>
              </a:spcBef>
              <a:spcAft>
                <a:spcPts val="400"/>
              </a:spcAft>
              <a:buNone/>
            </a:pPr>
            <a:r>
              <a:rPr lang="en-US" sz="1000" dirty="0">
                <a:solidFill>
                  <a:srgbClr val="666666"/>
                </a:solidFill>
                <a:latin typeface="Arial" pitchFamily="34" charset="0"/>
                <a:ea typeface="Arial" pitchFamily="34" charset="-122"/>
                <a:cs typeface="Arial" pitchFamily="34" charset="-120"/>
              </a:rPr>
              <a:t>HC (破坏守恒)</a:t>
            </a:r>
            <a:endParaRPr lang="en-US" sz="1000" dirty="0"/>
          </a:p>
        </p:txBody>
      </p:sp>
      <p:sp>
        <p:nvSpPr>
          <p:cNvPr id="16" name="Text 14"/>
          <p:cNvSpPr/>
          <p:nvPr/>
        </p:nvSpPr>
        <p:spPr>
          <a:xfrm>
            <a:off x="4777755" y="1942951"/>
            <a:ext cx="827336" cy="238125"/>
          </a:xfrm>
          <a:prstGeom prst="rect">
            <a:avLst/>
          </a:prstGeom>
          <a:noFill/>
          <a:ln/>
        </p:spPr>
        <p:txBody>
          <a:bodyPr wrap="square" lIns="0" tIns="0" rIns="0" bIns="0" rtlCol="0" anchor="t"/>
          <a:lstStyle/>
          <a:p>
            <a:pPr algn="ctr" indent="0" marL="0">
              <a:spcBef>
                <a:spcPts val="1600"/>
              </a:spcBef>
              <a:spcAft>
                <a:spcPts val="1600"/>
              </a:spcAft>
              <a:buNone/>
            </a:pPr>
            <a:r>
              <a:rPr lang="en-US" sz="1600" b="1" dirty="0">
                <a:solidFill>
                  <a:srgbClr val="E74C3C"/>
                </a:solidFill>
                <a:latin typeface="Arial" pitchFamily="34" charset="0"/>
                <a:ea typeface="Arial" pitchFamily="34" charset="-122"/>
                <a:cs typeface="Arial" pitchFamily="34" charset="-120"/>
              </a:rPr>
              <a:t>10924×</a:t>
            </a:r>
            <a:endParaRPr lang="en-US" sz="1600" dirty="0"/>
          </a:p>
        </p:txBody>
      </p:sp>
      <p:sp>
        <p:nvSpPr>
          <p:cNvPr id="17" name="Text 15"/>
          <p:cNvSpPr/>
          <p:nvPr/>
        </p:nvSpPr>
        <p:spPr>
          <a:xfrm>
            <a:off x="5908030" y="1774627"/>
            <a:ext cx="233172" cy="266700"/>
          </a:xfrm>
          <a:prstGeom prst="rect">
            <a:avLst/>
          </a:prstGeom>
          <a:noFill/>
          <a:ln/>
        </p:spPr>
        <p:txBody>
          <a:bodyPr wrap="square" lIns="0" tIns="0" rIns="0" bIns="0" rtlCol="0" anchor="t"/>
          <a:lstStyle/>
          <a:p>
            <a:pPr algn="l" indent="0" marL="0">
              <a:spcBef>
                <a:spcPts val="1800"/>
              </a:spcBef>
              <a:spcAft>
                <a:spcPts val="1800"/>
              </a:spcAft>
              <a:buNone/>
            </a:pPr>
            <a:r>
              <a:rPr lang="en-US" sz="1800" dirty="0">
                <a:solidFill>
                  <a:srgbClr val="666666"/>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6238131" y="1260425"/>
            <a:ext cx="1336030" cy="1295251"/>
          </a:xfrm>
          <a:prstGeom prst="roundRect">
            <a:avLst>
              <a:gd name="adj" fmla="val 5883"/>
            </a:avLst>
          </a:prstGeom>
          <a:solidFill>
            <a:srgbClr val="F0F0FF"/>
          </a:solidFill>
          <a:ln w="19050">
            <a:solidFill>
              <a:srgbClr val="B165FB"/>
            </a:solidFill>
          </a:ln>
        </p:spPr>
        <p:txBody>
          <a:bodyPr wrap="square" rtlCol="0" anchor="ctr"/>
          <a:lstStyle/>
          <a:p>
            <a:pPr indent="0" marL="0">
              <a:buNone/>
            </a:pPr>
            <a:endParaRPr lang="en-US" dirty="0"/>
          </a:p>
        </p:txBody>
      </p:sp>
      <p:sp>
        <p:nvSpPr>
          <p:cNvPr id="19" name="Text 17"/>
          <p:cNvSpPr/>
          <p:nvPr/>
        </p:nvSpPr>
        <p:spPr>
          <a:xfrm>
            <a:off x="6438512" y="1558826"/>
            <a:ext cx="935269" cy="180975"/>
          </a:xfrm>
          <a:prstGeom prst="rect">
            <a:avLst/>
          </a:prstGeom>
          <a:noFill/>
          <a:ln/>
        </p:spPr>
        <p:txBody>
          <a:bodyPr wrap="square" lIns="0" tIns="0" rIns="0" bIns="0" rtlCol="0" anchor="t"/>
          <a:lstStyle/>
          <a:p>
            <a:pPr algn="ctr" indent="0" marL="0">
              <a:spcBef>
                <a:spcPts val="1000"/>
              </a:spcBef>
              <a:spcAft>
                <a:spcPts val="400"/>
              </a:spcAft>
              <a:buNone/>
            </a:pPr>
            <a:r>
              <a:rPr lang="en-US" sz="1000" dirty="0">
                <a:solidFill>
                  <a:srgbClr val="666666"/>
                </a:solidFill>
                <a:latin typeface="Arial" pitchFamily="34" charset="0"/>
                <a:ea typeface="Arial" pitchFamily="34" charset="-122"/>
                <a:cs typeface="Arial" pitchFamily="34" charset="-120"/>
              </a:rPr>
              <a:t>mHC (恢复守恒)</a:t>
            </a:r>
            <a:endParaRPr lang="en-US" sz="1000" dirty="0"/>
          </a:p>
        </p:txBody>
      </p:sp>
      <p:sp>
        <p:nvSpPr>
          <p:cNvPr id="20" name="Text 18"/>
          <p:cNvSpPr/>
          <p:nvPr/>
        </p:nvSpPr>
        <p:spPr>
          <a:xfrm>
            <a:off x="6438512" y="1942951"/>
            <a:ext cx="935269" cy="238125"/>
          </a:xfrm>
          <a:prstGeom prst="rect">
            <a:avLst/>
          </a:prstGeom>
          <a:noFill/>
          <a:ln/>
        </p:spPr>
        <p:txBody>
          <a:bodyPr wrap="square" lIns="0" tIns="0" rIns="0" bIns="0" rtlCol="0" anchor="t"/>
          <a:lstStyle/>
          <a:p>
            <a:pPr algn="ctr" indent="0" marL="0">
              <a:spcBef>
                <a:spcPts val="1600"/>
              </a:spcBef>
              <a:spcAft>
                <a:spcPts val="1600"/>
              </a:spcAft>
              <a:buNone/>
            </a:pPr>
            <a:r>
              <a:rPr lang="en-US" sz="1600" b="1" dirty="0">
                <a:solidFill>
                  <a:srgbClr val="B165FB"/>
                </a:solidFill>
                <a:latin typeface="Arial" pitchFamily="34" charset="0"/>
                <a:ea typeface="Arial" pitchFamily="34" charset="-122"/>
                <a:cs typeface="Arial" pitchFamily="34" charset="-120"/>
              </a:rPr>
              <a:t>1.0</a:t>
            </a:r>
            <a:endParaRPr lang="en-US" sz="1600" dirty="0"/>
          </a:p>
        </p:txBody>
      </p:sp>
      <p:sp>
        <p:nvSpPr>
          <p:cNvPr id="21" name="Text 19"/>
          <p:cNvSpPr/>
          <p:nvPr/>
        </p:nvSpPr>
        <p:spPr>
          <a:xfrm>
            <a:off x="507950" y="2746177"/>
            <a:ext cx="8128099" cy="1330077"/>
          </a:xfrm>
          <a:prstGeom prst="roundRect">
            <a:avLst>
              <a:gd name="adj" fmla="val 5729"/>
            </a:avLst>
          </a:prstGeom>
          <a:solidFill>
            <a:srgbClr val="181B24"/>
          </a:solidFill>
          <a:ln/>
        </p:spPr>
        <p:txBody>
          <a:bodyPr wrap="square" rtlCol="0" anchor="ctr"/>
          <a:lstStyle/>
          <a:p>
            <a:pPr indent="0" marL="0">
              <a:buNone/>
            </a:pPr>
            <a:endParaRPr lang="en-US" dirty="0"/>
          </a:p>
        </p:txBody>
      </p:sp>
      <p:sp>
        <p:nvSpPr>
          <p:cNvPr id="22" name="Text 20"/>
          <p:cNvSpPr/>
          <p:nvPr/>
        </p:nvSpPr>
        <p:spPr>
          <a:xfrm>
            <a:off x="673897" y="3101727"/>
            <a:ext cx="2504474" cy="180975"/>
          </a:xfrm>
          <a:prstGeom prst="rect">
            <a:avLst/>
          </a:prstGeom>
          <a:noFill/>
          <a:ln/>
        </p:spPr>
        <p:txBody>
          <a:bodyPr wrap="square" lIns="0" tIns="0" rIns="0" bIns="0" rtlCol="0" anchor="t"/>
          <a:lstStyle/>
          <a:p>
            <a:pPr algn="ctr" indent="0" marL="0">
              <a:spcBef>
                <a:spcPts val="1000"/>
              </a:spcBef>
              <a:spcAft>
                <a:spcPts val="400"/>
              </a:spcAft>
              <a:buNone/>
            </a:pPr>
            <a:r>
              <a:rPr lang="en-US" sz="1000" dirty="0">
                <a:solidFill>
                  <a:srgbClr val="666666"/>
                </a:solidFill>
                <a:latin typeface="Arial" pitchFamily="34" charset="0"/>
                <a:ea typeface="Arial" pitchFamily="34" charset="-122"/>
                <a:cs typeface="Arial" pitchFamily="34" charset="-120"/>
              </a:rPr>
              <a:t>ResNet 64层后</a:t>
            </a:r>
            <a:endParaRPr lang="en-US" sz="1000" dirty="0"/>
          </a:p>
        </p:txBody>
      </p:sp>
      <p:sp>
        <p:nvSpPr>
          <p:cNvPr id="23" name="Text 21"/>
          <p:cNvSpPr/>
          <p:nvPr/>
        </p:nvSpPr>
        <p:spPr>
          <a:xfrm>
            <a:off x="673897" y="3460403"/>
            <a:ext cx="2504474" cy="209550"/>
          </a:xfrm>
          <a:prstGeom prst="rect">
            <a:avLst/>
          </a:prstGeom>
          <a:noFill/>
          <a:ln/>
        </p:spPr>
        <p:txBody>
          <a:bodyPr wrap="square" lIns="0" tIns="0" rIns="0" bIns="0" rtlCol="0" anchor="t"/>
          <a:lstStyle/>
          <a:p>
            <a:pPr algn="ctr" indent="0" marL="0">
              <a:spcBef>
                <a:spcPts val="1400"/>
              </a:spcBef>
              <a:spcAft>
                <a:spcPts val="1400"/>
              </a:spcAft>
              <a:buNone/>
            </a:pPr>
            <a:r>
              <a:rPr lang="en-US" sz="1400" b="1" dirty="0">
                <a:solidFill>
                  <a:srgbClr val="40695B"/>
                </a:solidFill>
                <a:latin typeface="Arial" pitchFamily="34" charset="0"/>
                <a:ea typeface="Arial" pitchFamily="34" charset="-122"/>
                <a:cs typeface="Arial" pitchFamily="34" charset="-120"/>
              </a:rPr>
              <a:t>1.000003×</a:t>
            </a:r>
            <a:endParaRPr lang="en-US" sz="1400" dirty="0"/>
          </a:p>
        </p:txBody>
      </p:sp>
      <p:sp>
        <p:nvSpPr>
          <p:cNvPr id="24" name="Text 22"/>
          <p:cNvSpPr/>
          <p:nvPr/>
        </p:nvSpPr>
        <p:spPr>
          <a:xfrm>
            <a:off x="3319763" y="3101727"/>
            <a:ext cx="2504474" cy="180975"/>
          </a:xfrm>
          <a:prstGeom prst="rect">
            <a:avLst/>
          </a:prstGeom>
          <a:noFill/>
          <a:ln/>
        </p:spPr>
        <p:txBody>
          <a:bodyPr wrap="square" lIns="0" tIns="0" rIns="0" bIns="0" rtlCol="0" anchor="t"/>
          <a:lstStyle/>
          <a:p>
            <a:pPr algn="ctr" indent="0" marL="0">
              <a:spcBef>
                <a:spcPts val="1000"/>
              </a:spcBef>
              <a:spcAft>
                <a:spcPts val="400"/>
              </a:spcAft>
              <a:buNone/>
            </a:pPr>
            <a:r>
              <a:rPr lang="en-US" sz="1000" dirty="0">
                <a:solidFill>
                  <a:srgbClr val="666666"/>
                </a:solidFill>
                <a:latin typeface="Arial" pitchFamily="34" charset="0"/>
                <a:ea typeface="Arial" pitchFamily="34" charset="-122"/>
                <a:cs typeface="Arial" pitchFamily="34" charset="-120"/>
              </a:rPr>
              <a:t>HC 64层后</a:t>
            </a:r>
            <a:endParaRPr lang="en-US" sz="1000" dirty="0"/>
          </a:p>
        </p:txBody>
      </p:sp>
      <p:sp>
        <p:nvSpPr>
          <p:cNvPr id="25" name="Text 23"/>
          <p:cNvSpPr/>
          <p:nvPr/>
        </p:nvSpPr>
        <p:spPr>
          <a:xfrm>
            <a:off x="3319763" y="3460403"/>
            <a:ext cx="2504474" cy="209550"/>
          </a:xfrm>
          <a:prstGeom prst="rect">
            <a:avLst/>
          </a:prstGeom>
          <a:noFill/>
          <a:ln/>
        </p:spPr>
        <p:txBody>
          <a:bodyPr wrap="square" lIns="0" tIns="0" rIns="0" bIns="0" rtlCol="0" anchor="t"/>
          <a:lstStyle/>
          <a:p>
            <a:pPr algn="ctr" indent="0" marL="0">
              <a:spcBef>
                <a:spcPts val="1400"/>
              </a:spcBef>
              <a:spcAft>
                <a:spcPts val="1400"/>
              </a:spcAft>
              <a:buNone/>
            </a:pPr>
            <a:r>
              <a:rPr lang="en-US" sz="1400" b="1" dirty="0">
                <a:solidFill>
                  <a:srgbClr val="E74C3C"/>
                </a:solidFill>
                <a:latin typeface="Arial" pitchFamily="34" charset="0"/>
                <a:ea typeface="Arial" pitchFamily="34" charset="-122"/>
                <a:cs typeface="Arial" pitchFamily="34" charset="-120"/>
              </a:rPr>
              <a:t>532×</a:t>
            </a:r>
            <a:endParaRPr lang="en-US" sz="1400" dirty="0"/>
          </a:p>
        </p:txBody>
      </p:sp>
      <p:sp>
        <p:nvSpPr>
          <p:cNvPr id="26" name="Text 24"/>
          <p:cNvSpPr/>
          <p:nvPr/>
        </p:nvSpPr>
        <p:spPr>
          <a:xfrm>
            <a:off x="5965630" y="3101727"/>
            <a:ext cx="2504474" cy="180975"/>
          </a:xfrm>
          <a:prstGeom prst="rect">
            <a:avLst/>
          </a:prstGeom>
          <a:noFill/>
          <a:ln/>
        </p:spPr>
        <p:txBody>
          <a:bodyPr wrap="square" lIns="0" tIns="0" rIns="0" bIns="0" rtlCol="0" anchor="t"/>
          <a:lstStyle/>
          <a:p>
            <a:pPr algn="ctr" indent="0" marL="0">
              <a:spcBef>
                <a:spcPts val="1000"/>
              </a:spcBef>
              <a:spcAft>
                <a:spcPts val="400"/>
              </a:spcAft>
              <a:buNone/>
            </a:pPr>
            <a:r>
              <a:rPr lang="en-US" sz="1000" dirty="0">
                <a:solidFill>
                  <a:srgbClr val="666666"/>
                </a:solidFill>
                <a:latin typeface="Arial" pitchFamily="34" charset="0"/>
                <a:ea typeface="Arial" pitchFamily="34" charset="-122"/>
                <a:cs typeface="Arial" pitchFamily="34" charset="-120"/>
              </a:rPr>
              <a:t>mHC 64层后</a:t>
            </a:r>
            <a:endParaRPr lang="en-US" sz="1000" dirty="0"/>
          </a:p>
        </p:txBody>
      </p:sp>
      <p:sp>
        <p:nvSpPr>
          <p:cNvPr id="27" name="Text 25"/>
          <p:cNvSpPr/>
          <p:nvPr/>
        </p:nvSpPr>
        <p:spPr>
          <a:xfrm>
            <a:off x="5965630" y="3460403"/>
            <a:ext cx="2504474" cy="209550"/>
          </a:xfrm>
          <a:prstGeom prst="rect">
            <a:avLst/>
          </a:prstGeom>
          <a:noFill/>
          <a:ln/>
        </p:spPr>
        <p:txBody>
          <a:bodyPr wrap="square" lIns="0" tIns="0" rIns="0" bIns="0" rtlCol="0" anchor="t"/>
          <a:lstStyle/>
          <a:p>
            <a:pPr algn="ctr" indent="0" marL="0">
              <a:spcBef>
                <a:spcPts val="1400"/>
              </a:spcBef>
              <a:spcAft>
                <a:spcPts val="1400"/>
              </a:spcAft>
              <a:buNone/>
            </a:pPr>
            <a:r>
              <a:rPr lang="en-US" sz="1400" b="1" dirty="0">
                <a:solidFill>
                  <a:srgbClr val="B165FB"/>
                </a:solidFill>
                <a:latin typeface="Arial" pitchFamily="34" charset="0"/>
                <a:ea typeface="Arial" pitchFamily="34" charset="-122"/>
                <a:cs typeface="Arial" pitchFamily="34" charset="-120"/>
              </a:rPr>
              <a:t>1.0×</a:t>
            </a:r>
            <a:endParaRPr lang="en-US" sz="1400" dirty="0"/>
          </a:p>
        </p:txBody>
      </p:sp>
      <p:sp>
        <p:nvSpPr>
          <p:cNvPr id="28" name="Text 26"/>
          <p:cNvSpPr/>
          <p:nvPr/>
        </p:nvSpPr>
        <p:spPr>
          <a:xfrm>
            <a:off x="507950" y="4203204"/>
            <a:ext cx="8128099" cy="924223"/>
          </a:xfrm>
          <a:prstGeom prst="roundRect">
            <a:avLst>
              <a:gd name="adj" fmla="val 8245"/>
            </a:avLst>
          </a:prstGeom>
          <a:solidFill>
            <a:srgbClr val="40695B"/>
          </a:solidFill>
          <a:ln/>
        </p:spPr>
        <p:txBody>
          <a:bodyPr wrap="square" rtlCol="0" anchor="ctr"/>
          <a:lstStyle/>
          <a:p>
            <a:pPr indent="0" marL="0">
              <a:buNone/>
            </a:pPr>
            <a:endParaRPr lang="en-US" dirty="0"/>
          </a:p>
        </p:txBody>
      </p:sp>
      <p:sp>
        <p:nvSpPr>
          <p:cNvPr id="29" name="Text 27"/>
          <p:cNvSpPr/>
          <p:nvPr/>
        </p:nvSpPr>
        <p:spPr>
          <a:xfrm>
            <a:off x="660350" y="4469755"/>
            <a:ext cx="7979765" cy="39112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核心洞察：</a:t>
            </a:r>
            <a:pPr algn="l" indent="0" marL="0">
              <a:lnSpc>
                <a:spcPts val="154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HC 打破守恒定律，信号幅度增长超过 10000 倍，系统必然失控。mHC 通过双随机约束恢复守恒，让信号始终保持稳定。这不是工程技巧，而是</a:t>
            </a:r>
            <a:pPr algn="l" indent="0" marL="0">
              <a:lnSpc>
                <a:spcPts val="1540"/>
              </a:lnSpc>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数学必然</a:t>
            </a:r>
            <a:pPr algn="l" indent="0" marL="0">
              <a:lnSpc>
                <a:spcPts val="154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81B24"/>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Text 1"/>
          <p:cNvSpPr/>
          <p:nvPr/>
        </p:nvSpPr>
        <p:spPr>
          <a:xfrm>
            <a:off x="507950" y="444401"/>
            <a:ext cx="8290661" cy="180975"/>
          </a:xfrm>
          <a:prstGeom prst="rect">
            <a:avLst/>
          </a:prstGeom>
          <a:noFill/>
          <a:ln/>
        </p:spPr>
        <p:txBody>
          <a:bodyPr wrap="square" lIns="0" tIns="0" rIns="0" bIns="0" rtlCol="0" anchor="t"/>
          <a:lstStyle/>
          <a:p>
            <a:pPr algn="l" indent="0" marL="0">
              <a:spcBef>
                <a:spcPts val="1000"/>
              </a:spcBef>
              <a:spcAft>
                <a:spcPts val="600"/>
              </a:spcAft>
              <a:buNone/>
            </a:pPr>
            <a:r>
              <a:rPr lang="en-US" sz="1000" dirty="0">
                <a:solidFill>
                  <a:srgbClr val="B165FB"/>
                </a:solidFill>
                <a:latin typeface="Arial" pitchFamily="34" charset="0"/>
                <a:ea typeface="Arial" pitchFamily="34" charset="-122"/>
                <a:cs typeface="Arial" pitchFamily="34" charset="-120"/>
              </a:rPr>
              <a:t>PART 4: 工程实现</a:t>
            </a:r>
            <a:endParaRPr lang="en-US" sz="1000" dirty="0"/>
          </a:p>
        </p:txBody>
      </p:sp>
      <p:sp>
        <p:nvSpPr>
          <p:cNvPr id="4" name="Shape 2"/>
          <p:cNvSpPr/>
          <p:nvPr/>
        </p:nvSpPr>
        <p:spPr>
          <a:xfrm>
            <a:off x="546050" y="701576"/>
            <a:ext cx="0" cy="390525"/>
          </a:xfrm>
          <a:prstGeom prst="line">
            <a:avLst/>
          </a:prstGeom>
          <a:noFill/>
          <a:ln w="76200">
            <a:solidFill>
              <a:srgbClr val="B165FB"/>
            </a:solidFill>
            <a:prstDash val="solid"/>
          </a:ln>
        </p:spPr>
      </p:sp>
      <p:sp>
        <p:nvSpPr>
          <p:cNvPr id="5" name="Text 3"/>
          <p:cNvSpPr/>
          <p:nvPr/>
        </p:nvSpPr>
        <p:spPr>
          <a:xfrm>
            <a:off x="774650" y="701576"/>
            <a:ext cx="8018627" cy="390525"/>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工程挑战</a:t>
            </a:r>
            <a:endParaRPr lang="en-US" sz="2200" dirty="0"/>
          </a:p>
        </p:txBody>
      </p:sp>
      <p:sp>
        <p:nvSpPr>
          <p:cNvPr id="6" name="Text 4"/>
          <p:cNvSpPr/>
          <p:nvPr/>
        </p:nvSpPr>
        <p:spPr>
          <a:xfrm>
            <a:off x="507950" y="1244501"/>
            <a:ext cx="8290661" cy="209550"/>
          </a:xfrm>
          <a:prstGeom prst="rect">
            <a:avLst/>
          </a:prstGeom>
          <a:noFill/>
          <a:ln/>
        </p:spPr>
        <p:txBody>
          <a:bodyPr wrap="square" lIns="0" tIns="0" rIns="0" bIns="0" rtlCol="0" anchor="t"/>
          <a:lstStyle/>
          <a:p>
            <a:pPr algn="l" indent="0" marL="0">
              <a:lnSpc>
                <a:spcPts val="1650"/>
              </a:lnSpc>
              <a:spcBef>
                <a:spcPts val="1100"/>
              </a:spcBef>
              <a:spcAft>
                <a:spcPts val="1200"/>
              </a:spcAft>
              <a:buNone/>
            </a:pPr>
            <a:r>
              <a:rPr lang="en-US" sz="1100" dirty="0">
                <a:solidFill>
                  <a:srgbClr val="CCCCCC"/>
                </a:solidFill>
                <a:latin typeface="Arial" pitchFamily="34" charset="0"/>
                <a:ea typeface="Arial" pitchFamily="34" charset="-122"/>
                <a:cs typeface="Arial" pitchFamily="34" charset="-120"/>
              </a:rPr>
              <a:t>理论上完美的 Sinkhorn-Knopp 迭代，在实际大规模训练中会遇到严峻的工程挑战：</a:t>
            </a:r>
            <a:endParaRPr lang="en-US" sz="1100" dirty="0"/>
          </a:p>
        </p:txBody>
      </p:sp>
      <p:sp>
        <p:nvSpPr>
          <p:cNvPr id="7" name="Text 5"/>
          <p:cNvSpPr/>
          <p:nvPr/>
        </p:nvSpPr>
        <p:spPr>
          <a:xfrm>
            <a:off x="507950" y="1606451"/>
            <a:ext cx="1936700" cy="1962448"/>
          </a:xfrm>
          <a:prstGeom prst="roundRect">
            <a:avLst>
              <a:gd name="adj" fmla="val 3935"/>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8" name="Text 6"/>
          <p:cNvSpPr/>
          <p:nvPr/>
        </p:nvSpPr>
        <p:spPr>
          <a:xfrm>
            <a:off x="644426" y="2022277"/>
            <a:ext cx="1697025" cy="361950"/>
          </a:xfrm>
          <a:prstGeom prst="rect">
            <a:avLst/>
          </a:prstGeom>
          <a:noFill/>
          <a:ln/>
        </p:spPr>
        <p:txBody>
          <a:bodyPr wrap="square" lIns="0" tIns="0" rIns="0" bIns="0" rtlCol="0" anchor="t"/>
          <a:lstStyle/>
          <a:p>
            <a:pPr algn="l" indent="0" marL="0">
              <a:spcBef>
                <a:spcPts val="2200"/>
              </a:spcBef>
              <a:spcAft>
                <a:spcPts val="600"/>
              </a:spcAft>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9" name="Text 7"/>
          <p:cNvSpPr/>
          <p:nvPr/>
        </p:nvSpPr>
        <p:spPr>
          <a:xfrm>
            <a:off x="644426" y="2523827"/>
            <a:ext cx="1697025" cy="200025"/>
          </a:xfrm>
          <a:prstGeom prst="rect">
            <a:avLst/>
          </a:prstGeom>
          <a:noFill/>
          <a:ln/>
        </p:spPr>
        <p:txBody>
          <a:bodyPr wrap="square" lIns="0" tIns="0" rIns="0" bIns="0" rtlCol="0" anchor="t"/>
          <a:lstStyle/>
          <a:p>
            <a:pPr algn="l" indent="0" marL="0">
              <a:spcBef>
                <a:spcPts val="1100"/>
              </a:spcBef>
              <a:spcAft>
                <a:spcPts val="400"/>
              </a:spcAft>
              <a:buNone/>
            </a:pPr>
            <a:r>
              <a:rPr lang="en-US" sz="1100" b="1" dirty="0">
                <a:solidFill>
                  <a:srgbClr val="B165FB"/>
                </a:solidFill>
                <a:latin typeface="Arial" pitchFamily="34" charset="0"/>
                <a:ea typeface="Arial" pitchFamily="34" charset="-122"/>
                <a:cs typeface="Arial" pitchFamily="34" charset="-120"/>
              </a:rPr>
              <a:t>计算延迟</a:t>
            </a:r>
            <a:endParaRPr lang="en-US" sz="1100" dirty="0"/>
          </a:p>
        </p:txBody>
      </p:sp>
      <p:sp>
        <p:nvSpPr>
          <p:cNvPr id="10" name="Text 8"/>
          <p:cNvSpPr/>
          <p:nvPr/>
        </p:nvSpPr>
        <p:spPr>
          <a:xfrm>
            <a:off x="644426" y="2838152"/>
            <a:ext cx="1697025" cy="479971"/>
          </a:xfrm>
          <a:prstGeom prst="rect">
            <a:avLst/>
          </a:prstGeom>
          <a:noFill/>
          <a:ln/>
        </p:spPr>
        <p:txBody>
          <a:bodyPr wrap="square" lIns="0" tIns="0" rIns="0" bIns="0" rtlCol="0" anchor="t"/>
          <a:lstStyle/>
          <a:p>
            <a:pPr algn="l" indent="0" marL="0">
              <a:lnSpc>
                <a:spcPts val="1260"/>
              </a:lnSpc>
              <a:spcBef>
                <a:spcPts val="900"/>
              </a:spcBef>
              <a:spcAft>
                <a:spcPts val="900"/>
              </a:spcAft>
              <a:buNone/>
            </a:pPr>
            <a:r>
              <a:rPr lang="en-US" sz="900" dirty="0">
                <a:solidFill>
                  <a:srgbClr val="999999"/>
                </a:solidFill>
                <a:latin typeface="Arial" pitchFamily="34" charset="0"/>
                <a:ea typeface="Arial" pitchFamily="34" charset="-122"/>
                <a:cs typeface="Arial" pitchFamily="34" charset="-120"/>
              </a:rPr>
              <a:t>每次前向/反向传播都需要执行 Sinkhorn 迭代，直接实现会显著增加训练时间。</a:t>
            </a:r>
            <a:endParaRPr lang="en-US" sz="900" dirty="0"/>
          </a:p>
        </p:txBody>
      </p:sp>
      <p:sp>
        <p:nvSpPr>
          <p:cNvPr id="11" name="Text 9"/>
          <p:cNvSpPr/>
          <p:nvPr/>
        </p:nvSpPr>
        <p:spPr>
          <a:xfrm>
            <a:off x="2571601" y="1606451"/>
            <a:ext cx="1936849" cy="1962448"/>
          </a:xfrm>
          <a:prstGeom prst="roundRect">
            <a:avLst>
              <a:gd name="adj" fmla="val 3934"/>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12" name="Text 10"/>
          <p:cNvSpPr/>
          <p:nvPr/>
        </p:nvSpPr>
        <p:spPr>
          <a:xfrm>
            <a:off x="2708077" y="2022277"/>
            <a:ext cx="1697176" cy="361950"/>
          </a:xfrm>
          <a:prstGeom prst="rect">
            <a:avLst/>
          </a:prstGeom>
          <a:noFill/>
          <a:ln/>
        </p:spPr>
        <p:txBody>
          <a:bodyPr wrap="square" lIns="0" tIns="0" rIns="0" bIns="0" rtlCol="0" anchor="t"/>
          <a:lstStyle/>
          <a:p>
            <a:pPr algn="l" indent="0" marL="0">
              <a:spcBef>
                <a:spcPts val="2200"/>
              </a:spcBef>
              <a:spcAft>
                <a:spcPts val="600"/>
              </a:spcAft>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3" name="Text 11"/>
          <p:cNvSpPr/>
          <p:nvPr/>
        </p:nvSpPr>
        <p:spPr>
          <a:xfrm>
            <a:off x="2708077" y="2523827"/>
            <a:ext cx="1697176" cy="200025"/>
          </a:xfrm>
          <a:prstGeom prst="rect">
            <a:avLst/>
          </a:prstGeom>
          <a:noFill/>
          <a:ln/>
        </p:spPr>
        <p:txBody>
          <a:bodyPr wrap="square" lIns="0" tIns="0" rIns="0" bIns="0" rtlCol="0" anchor="t"/>
          <a:lstStyle/>
          <a:p>
            <a:pPr algn="l" indent="0" marL="0">
              <a:spcBef>
                <a:spcPts val="1100"/>
              </a:spcBef>
              <a:spcAft>
                <a:spcPts val="400"/>
              </a:spcAft>
              <a:buNone/>
            </a:pPr>
            <a:r>
              <a:rPr lang="en-US" sz="1100" b="1" dirty="0">
                <a:solidFill>
                  <a:srgbClr val="B165FB"/>
                </a:solidFill>
                <a:latin typeface="Arial" pitchFamily="34" charset="0"/>
                <a:ea typeface="Arial" pitchFamily="34" charset="-122"/>
                <a:cs typeface="Arial" pitchFamily="34" charset="-120"/>
              </a:rPr>
              <a:t>显存开销</a:t>
            </a:r>
            <a:endParaRPr lang="en-US" sz="1100" dirty="0"/>
          </a:p>
        </p:txBody>
      </p:sp>
      <p:sp>
        <p:nvSpPr>
          <p:cNvPr id="14" name="Text 12"/>
          <p:cNvSpPr/>
          <p:nvPr/>
        </p:nvSpPr>
        <p:spPr>
          <a:xfrm>
            <a:off x="2708077" y="2838152"/>
            <a:ext cx="1697176" cy="479971"/>
          </a:xfrm>
          <a:prstGeom prst="rect">
            <a:avLst/>
          </a:prstGeom>
          <a:noFill/>
          <a:ln/>
        </p:spPr>
        <p:txBody>
          <a:bodyPr wrap="square" lIns="0" tIns="0" rIns="0" bIns="0" rtlCol="0" anchor="t"/>
          <a:lstStyle/>
          <a:p>
            <a:pPr algn="l" indent="0" marL="0">
              <a:lnSpc>
                <a:spcPts val="1260"/>
              </a:lnSpc>
              <a:spcBef>
                <a:spcPts val="900"/>
              </a:spcBef>
              <a:spcAft>
                <a:spcPts val="900"/>
              </a:spcAft>
              <a:buNone/>
            </a:pPr>
            <a:r>
              <a:rPr lang="en-US" sz="900" dirty="0">
                <a:solidFill>
                  <a:srgbClr val="999999"/>
                </a:solidFill>
                <a:latin typeface="Arial" pitchFamily="34" charset="0"/>
                <a:ea typeface="Arial" pitchFamily="34" charset="-122"/>
                <a:cs typeface="Arial" pitchFamily="34" charset="-120"/>
              </a:rPr>
              <a:t>需要存储迭代过程中的中间激活，用于反向传播求梯度，显存占用剧增。</a:t>
            </a:r>
            <a:endParaRPr lang="en-US" sz="900" dirty="0"/>
          </a:p>
        </p:txBody>
      </p:sp>
      <p:sp>
        <p:nvSpPr>
          <p:cNvPr id="15" name="Text 13"/>
          <p:cNvSpPr/>
          <p:nvPr/>
        </p:nvSpPr>
        <p:spPr>
          <a:xfrm>
            <a:off x="4635401" y="1606451"/>
            <a:ext cx="1936849" cy="1962448"/>
          </a:xfrm>
          <a:prstGeom prst="roundRect">
            <a:avLst>
              <a:gd name="adj" fmla="val 3934"/>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16" name="Text 14"/>
          <p:cNvSpPr/>
          <p:nvPr/>
        </p:nvSpPr>
        <p:spPr>
          <a:xfrm>
            <a:off x="4771876" y="2022277"/>
            <a:ext cx="1697176" cy="361950"/>
          </a:xfrm>
          <a:prstGeom prst="rect">
            <a:avLst/>
          </a:prstGeom>
          <a:noFill/>
          <a:ln/>
        </p:spPr>
        <p:txBody>
          <a:bodyPr wrap="square" lIns="0" tIns="0" rIns="0" bIns="0" rtlCol="0" anchor="t"/>
          <a:lstStyle/>
          <a:p>
            <a:pPr algn="l" indent="0" marL="0">
              <a:spcBef>
                <a:spcPts val="2200"/>
              </a:spcBef>
              <a:spcAft>
                <a:spcPts val="600"/>
              </a:spcAft>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7" name="Text 15"/>
          <p:cNvSpPr/>
          <p:nvPr/>
        </p:nvSpPr>
        <p:spPr>
          <a:xfrm>
            <a:off x="4771876" y="2523827"/>
            <a:ext cx="1697176" cy="200025"/>
          </a:xfrm>
          <a:prstGeom prst="rect">
            <a:avLst/>
          </a:prstGeom>
          <a:noFill/>
          <a:ln/>
        </p:spPr>
        <p:txBody>
          <a:bodyPr wrap="square" lIns="0" tIns="0" rIns="0" bIns="0" rtlCol="0" anchor="t"/>
          <a:lstStyle/>
          <a:p>
            <a:pPr algn="l" indent="0" marL="0">
              <a:spcBef>
                <a:spcPts val="1100"/>
              </a:spcBef>
              <a:spcAft>
                <a:spcPts val="400"/>
              </a:spcAft>
              <a:buNone/>
            </a:pPr>
            <a:r>
              <a:rPr lang="en-US" sz="1100" b="1" dirty="0">
                <a:solidFill>
                  <a:srgbClr val="B165FB"/>
                </a:solidFill>
                <a:latin typeface="Arial" pitchFamily="34" charset="0"/>
                <a:ea typeface="Arial" pitchFamily="34" charset="-122"/>
                <a:cs typeface="Arial" pitchFamily="34" charset="-120"/>
              </a:rPr>
              <a:t>通信瓶颈</a:t>
            </a:r>
            <a:endParaRPr lang="en-US" sz="1100" dirty="0"/>
          </a:p>
        </p:txBody>
      </p:sp>
      <p:sp>
        <p:nvSpPr>
          <p:cNvPr id="18" name="Text 16"/>
          <p:cNvSpPr/>
          <p:nvPr/>
        </p:nvSpPr>
        <p:spPr>
          <a:xfrm>
            <a:off x="4771876" y="2838152"/>
            <a:ext cx="1697176" cy="319980"/>
          </a:xfrm>
          <a:prstGeom prst="rect">
            <a:avLst/>
          </a:prstGeom>
          <a:noFill/>
          <a:ln/>
        </p:spPr>
        <p:txBody>
          <a:bodyPr wrap="square" lIns="0" tIns="0" rIns="0" bIns="0" rtlCol="0" anchor="t"/>
          <a:lstStyle/>
          <a:p>
            <a:pPr algn="l" indent="0" marL="0">
              <a:lnSpc>
                <a:spcPts val="1260"/>
              </a:lnSpc>
              <a:spcBef>
                <a:spcPts val="900"/>
              </a:spcBef>
              <a:spcAft>
                <a:spcPts val="900"/>
              </a:spcAft>
              <a:buNone/>
            </a:pPr>
            <a:r>
              <a:rPr lang="en-US" sz="900" dirty="0">
                <a:solidFill>
                  <a:srgbClr val="999999"/>
                </a:solidFill>
                <a:latin typeface="Arial" pitchFamily="34" charset="0"/>
                <a:ea typeface="Arial" pitchFamily="34" charset="-122"/>
                <a:cs typeface="Arial" pitchFamily="34" charset="-120"/>
              </a:rPr>
              <a:t>分布式训练中，额外的同步操作会造成节点间通信开销。</a:t>
            </a:r>
            <a:endParaRPr lang="en-US" sz="900" dirty="0"/>
          </a:p>
        </p:txBody>
      </p:sp>
      <p:sp>
        <p:nvSpPr>
          <p:cNvPr id="19" name="Text 17"/>
          <p:cNvSpPr/>
          <p:nvPr/>
        </p:nvSpPr>
        <p:spPr>
          <a:xfrm>
            <a:off x="6699200" y="1606451"/>
            <a:ext cx="1936849" cy="1962448"/>
          </a:xfrm>
          <a:prstGeom prst="roundRect">
            <a:avLst>
              <a:gd name="adj" fmla="val 3934"/>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20" name="Text 18"/>
          <p:cNvSpPr/>
          <p:nvPr/>
        </p:nvSpPr>
        <p:spPr>
          <a:xfrm>
            <a:off x="6835676" y="2022277"/>
            <a:ext cx="1697176" cy="361950"/>
          </a:xfrm>
          <a:prstGeom prst="rect">
            <a:avLst/>
          </a:prstGeom>
          <a:noFill/>
          <a:ln/>
        </p:spPr>
        <p:txBody>
          <a:bodyPr wrap="square" lIns="0" tIns="0" rIns="0" bIns="0" rtlCol="0" anchor="t"/>
          <a:lstStyle/>
          <a:p>
            <a:pPr algn="l" indent="0" marL="0">
              <a:spcBef>
                <a:spcPts val="2200"/>
              </a:spcBef>
              <a:spcAft>
                <a:spcPts val="600"/>
              </a:spcAft>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1" name="Text 19"/>
          <p:cNvSpPr/>
          <p:nvPr/>
        </p:nvSpPr>
        <p:spPr>
          <a:xfrm>
            <a:off x="6835676" y="2523827"/>
            <a:ext cx="1697176" cy="200025"/>
          </a:xfrm>
          <a:prstGeom prst="rect">
            <a:avLst/>
          </a:prstGeom>
          <a:noFill/>
          <a:ln/>
        </p:spPr>
        <p:txBody>
          <a:bodyPr wrap="square" lIns="0" tIns="0" rIns="0" bIns="0" rtlCol="0" anchor="t"/>
          <a:lstStyle/>
          <a:p>
            <a:pPr algn="l" indent="0" marL="0">
              <a:spcBef>
                <a:spcPts val="1100"/>
              </a:spcBef>
              <a:spcAft>
                <a:spcPts val="400"/>
              </a:spcAft>
              <a:buNone/>
            </a:pPr>
            <a:r>
              <a:rPr lang="en-US" sz="1100" b="1" dirty="0">
                <a:solidFill>
                  <a:srgbClr val="B165FB"/>
                </a:solidFill>
                <a:latin typeface="Arial" pitchFamily="34" charset="0"/>
                <a:ea typeface="Arial" pitchFamily="34" charset="-122"/>
                <a:cs typeface="Arial" pitchFamily="34" charset="-120"/>
              </a:rPr>
              <a:t>精度权衡</a:t>
            </a:r>
            <a:endParaRPr lang="en-US" sz="1100" dirty="0"/>
          </a:p>
        </p:txBody>
      </p:sp>
      <p:sp>
        <p:nvSpPr>
          <p:cNvPr id="22" name="Text 20"/>
          <p:cNvSpPr/>
          <p:nvPr/>
        </p:nvSpPr>
        <p:spPr>
          <a:xfrm>
            <a:off x="6835676" y="2838152"/>
            <a:ext cx="1697176" cy="319980"/>
          </a:xfrm>
          <a:prstGeom prst="rect">
            <a:avLst/>
          </a:prstGeom>
          <a:noFill/>
          <a:ln/>
        </p:spPr>
        <p:txBody>
          <a:bodyPr wrap="square" lIns="0" tIns="0" rIns="0" bIns="0" rtlCol="0" anchor="t"/>
          <a:lstStyle/>
          <a:p>
            <a:pPr algn="l" indent="0" marL="0">
              <a:lnSpc>
                <a:spcPts val="1260"/>
              </a:lnSpc>
              <a:spcBef>
                <a:spcPts val="900"/>
              </a:spcBef>
              <a:spcAft>
                <a:spcPts val="900"/>
              </a:spcAft>
              <a:buNone/>
            </a:pPr>
            <a:r>
              <a:rPr lang="en-US" sz="900" dirty="0">
                <a:solidFill>
                  <a:srgbClr val="999999"/>
                </a:solidFill>
                <a:latin typeface="Arial" pitchFamily="34" charset="0"/>
                <a:ea typeface="Arial" pitchFamily="34" charset="-122"/>
                <a:cs typeface="Arial" pitchFamily="34" charset="-120"/>
              </a:rPr>
              <a:t>混合精度训练中，Sinkhorn 迭代的数值稳定性需要特别处理。</a:t>
            </a:r>
            <a:endParaRPr lang="en-US" sz="900" dirty="0"/>
          </a:p>
        </p:txBody>
      </p:sp>
      <p:sp>
        <p:nvSpPr>
          <p:cNvPr id="23" name="Text 21"/>
          <p:cNvSpPr/>
          <p:nvPr/>
        </p:nvSpPr>
        <p:spPr>
          <a:xfrm>
            <a:off x="507950" y="3721298"/>
            <a:ext cx="8128099" cy="975122"/>
          </a:xfrm>
          <a:prstGeom prst="roundRect">
            <a:avLst>
              <a:gd name="adj" fmla="val 7814"/>
            </a:avLst>
          </a:prstGeom>
          <a:solidFill>
            <a:srgbClr val="40695B"/>
          </a:solidFill>
          <a:ln/>
        </p:spPr>
        <p:txBody>
          <a:bodyPr wrap="square" rtlCol="0" anchor="ctr"/>
          <a:lstStyle/>
          <a:p>
            <a:pPr indent="0" marL="0">
              <a:buNone/>
            </a:pPr>
            <a:endParaRPr lang="en-US" dirty="0"/>
          </a:p>
        </p:txBody>
      </p:sp>
      <p:sp>
        <p:nvSpPr>
          <p:cNvPr id="24" name="Text 22"/>
          <p:cNvSpPr/>
          <p:nvPr/>
        </p:nvSpPr>
        <p:spPr>
          <a:xfrm>
            <a:off x="698450" y="4013299"/>
            <a:ext cx="7902041" cy="39112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i="1" dirty="0">
                <a:solidFill>
                  <a:srgbClr val="FFFFFF"/>
                </a:solidFill>
                <a:latin typeface="Arial" pitchFamily="34" charset="0"/>
                <a:ea typeface="Arial" pitchFamily="34" charset="-122"/>
                <a:cs typeface="Arial" pitchFamily="34" charset="-120"/>
              </a:rPr>
              <a:t>「这是一篇'秀肌肉'的硬核工程论文。不仅要有算法灵感，还得有能力把整个训练环境的内核、内存管理、节点通信全部重写一遍。」</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190500"/>
            <a:ext cx="0" cy="352425"/>
          </a:xfrm>
          <a:prstGeom prst="line">
            <a:avLst/>
          </a:prstGeom>
          <a:noFill/>
          <a:ln w="76200">
            <a:solidFill>
              <a:srgbClr val="B165FB"/>
            </a:solidFill>
            <a:prstDash val="solid"/>
          </a:ln>
        </p:spPr>
      </p:sp>
      <p:sp>
        <p:nvSpPr>
          <p:cNvPr id="4" name="Text 2"/>
          <p:cNvSpPr/>
          <p:nvPr/>
        </p:nvSpPr>
        <p:spPr>
          <a:xfrm>
            <a:off x="774650" y="190500"/>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算子融合 (Kernel Fusion)</a:t>
            </a:r>
            <a:endParaRPr lang="en-US" sz="2000" dirty="0"/>
          </a:p>
        </p:txBody>
      </p:sp>
      <p:sp>
        <p:nvSpPr>
          <p:cNvPr id="5" name="Text 3"/>
          <p:cNvSpPr/>
          <p:nvPr/>
        </p:nvSpPr>
        <p:spPr>
          <a:xfrm>
            <a:off x="507950" y="669875"/>
            <a:ext cx="8290661" cy="180975"/>
          </a:xfrm>
          <a:prstGeom prst="rect">
            <a:avLst/>
          </a:prstGeom>
          <a:noFill/>
          <a:ln/>
        </p:spPr>
        <p:txBody>
          <a:bodyPr wrap="square" lIns="0" tIns="0" rIns="0" bIns="0" rtlCol="0" anchor="t"/>
          <a:lstStyle/>
          <a:p>
            <a:pPr algn="l" indent="0" marL="0">
              <a:spcBef>
                <a:spcPts val="1000"/>
              </a:spcBef>
              <a:spcAft>
                <a:spcPts val="600"/>
              </a:spcAft>
              <a:buNone/>
            </a:pPr>
            <a:r>
              <a:rPr lang="en-US" sz="1000" dirty="0">
                <a:solidFill>
                  <a:srgbClr val="333333"/>
                </a:solidFill>
                <a:latin typeface="Arial" pitchFamily="34" charset="0"/>
                <a:ea typeface="Arial" pitchFamily="34" charset="-122"/>
                <a:cs typeface="Arial" pitchFamily="34" charset="-120"/>
              </a:rPr>
              <a:t>DeepSeek 团队通过手写底层 CUDA 内核代码，将多个操作融合为单一高效算子：</a:t>
            </a:r>
            <a:endParaRPr lang="en-US" sz="1000" dirty="0"/>
          </a:p>
        </p:txBody>
      </p:sp>
      <p:sp>
        <p:nvSpPr>
          <p:cNvPr id="6" name="Text 4"/>
          <p:cNvSpPr/>
          <p:nvPr/>
        </p:nvSpPr>
        <p:spPr>
          <a:xfrm>
            <a:off x="507950" y="927050"/>
            <a:ext cx="8128099" cy="795338"/>
          </a:xfrm>
          <a:prstGeom prst="roundRect">
            <a:avLst>
              <a:gd name="adj" fmla="val 9581"/>
            </a:avLst>
          </a:prstGeom>
          <a:solidFill>
            <a:srgbClr val="F5F5F7"/>
          </a:solidFill>
          <a:ln/>
        </p:spPr>
        <p:txBody>
          <a:bodyPr wrap="square" rtlCol="0" anchor="ctr"/>
          <a:lstStyle/>
          <a:p>
            <a:pPr indent="0" marL="0">
              <a:buNone/>
            </a:pPr>
            <a:endParaRPr lang="en-US" dirty="0"/>
          </a:p>
        </p:txBody>
      </p:sp>
      <p:sp>
        <p:nvSpPr>
          <p:cNvPr id="7" name="Text 5"/>
          <p:cNvSpPr/>
          <p:nvPr/>
        </p:nvSpPr>
        <p:spPr>
          <a:xfrm>
            <a:off x="507950" y="927050"/>
            <a:ext cx="453926" cy="795338"/>
          </a:xfrm>
          <a:prstGeom prst="rect">
            <a:avLst/>
          </a:prstGeom>
          <a:solidFill>
            <a:srgbClr val="181B24"/>
          </a:solidFill>
          <a:ln/>
        </p:spPr>
        <p:txBody>
          <a:bodyPr wrap="square" rtlCol="0" anchor="ctr"/>
          <a:lstStyle/>
          <a:p>
            <a:pPr indent="0" marL="0">
              <a:buNone/>
            </a:pPr>
            <a:endParaRPr lang="en-US" dirty="0"/>
          </a:p>
        </p:txBody>
      </p:sp>
      <p:sp>
        <p:nvSpPr>
          <p:cNvPr id="8" name="Text 6"/>
          <p:cNvSpPr/>
          <p:nvPr/>
        </p:nvSpPr>
        <p:spPr>
          <a:xfrm>
            <a:off x="634901" y="1191369"/>
            <a:ext cx="204026" cy="266700"/>
          </a:xfrm>
          <a:prstGeom prst="rect">
            <a:avLst/>
          </a:prstGeom>
          <a:noFill/>
          <a:ln/>
        </p:spPr>
        <p:txBody>
          <a:bodyPr wrap="square" lIns="0" tIns="0" rIns="0" bIns="0" rtlCol="0" anchor="t"/>
          <a:lstStyle/>
          <a:p>
            <a:pPr algn="l" indent="0" marL="0">
              <a:buNone/>
            </a:pPr>
            <a:r>
              <a:rPr lang="en-US" sz="1400" dirty="0">
                <a:solidFill>
                  <a:srgbClr val="B165FB"/>
                </a:solidFill>
                <a:latin typeface="Arial" pitchFamily="34" charset="0"/>
                <a:ea typeface="Arial" pitchFamily="34" charset="-122"/>
                <a:cs typeface="Arial" pitchFamily="34" charset="-120"/>
              </a:rPr>
              <a:t>🔧</a:t>
            </a:r>
            <a:endParaRPr lang="en-US" sz="1400" dirty="0"/>
          </a:p>
        </p:txBody>
      </p:sp>
      <p:sp>
        <p:nvSpPr>
          <p:cNvPr id="9" name="Text 7"/>
          <p:cNvSpPr/>
          <p:nvPr/>
        </p:nvSpPr>
        <p:spPr>
          <a:xfrm>
            <a:off x="1088827" y="1130201"/>
            <a:ext cx="7568678" cy="1809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181B24"/>
                </a:solidFill>
                <a:latin typeface="Arial" pitchFamily="34" charset="0"/>
                <a:ea typeface="Arial" pitchFamily="34" charset="-122"/>
                <a:cs typeface="Arial" pitchFamily="34" charset="-120"/>
              </a:rPr>
              <a:t>Sinkhorn 迭代融合</a:t>
            </a:r>
            <a:endParaRPr lang="en-US" sz="1000" dirty="0"/>
          </a:p>
        </p:txBody>
      </p:sp>
      <p:sp>
        <p:nvSpPr>
          <p:cNvPr id="10" name="Text 8"/>
          <p:cNvSpPr/>
          <p:nvPr/>
        </p:nvSpPr>
        <p:spPr>
          <a:xfrm>
            <a:off x="1088827" y="1412677"/>
            <a:ext cx="7568678" cy="132011"/>
          </a:xfrm>
          <a:prstGeom prst="rect">
            <a:avLst/>
          </a:prstGeom>
          <a:noFill/>
          <a:ln/>
        </p:spPr>
        <p:txBody>
          <a:bodyPr wrap="square" lIns="0" tIns="0" rIns="0" bIns="0" rtlCol="0" anchor="t"/>
          <a:lstStyle/>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在单个 CUDA kernel 中完成完整的 Sinkhorn-Knopp 迭代及其反向传播。</a:t>
            </a:r>
            <a:endParaRPr lang="en-US" sz="800" dirty="0"/>
          </a:p>
        </p:txBody>
      </p:sp>
      <p:sp>
        <p:nvSpPr>
          <p:cNvPr id="11" name="Text 9"/>
          <p:cNvSpPr/>
          <p:nvPr/>
        </p:nvSpPr>
        <p:spPr>
          <a:xfrm>
            <a:off x="507950" y="1785789"/>
            <a:ext cx="8128099" cy="795338"/>
          </a:xfrm>
          <a:prstGeom prst="roundRect">
            <a:avLst>
              <a:gd name="adj" fmla="val 9581"/>
            </a:avLst>
          </a:prstGeom>
          <a:solidFill>
            <a:srgbClr val="F5F5F7"/>
          </a:solidFill>
          <a:ln/>
        </p:spPr>
        <p:txBody>
          <a:bodyPr wrap="square" rtlCol="0" anchor="ctr"/>
          <a:lstStyle/>
          <a:p>
            <a:pPr indent="0" marL="0">
              <a:buNone/>
            </a:pPr>
            <a:endParaRPr lang="en-US" dirty="0"/>
          </a:p>
        </p:txBody>
      </p:sp>
      <p:sp>
        <p:nvSpPr>
          <p:cNvPr id="12" name="Text 10"/>
          <p:cNvSpPr/>
          <p:nvPr/>
        </p:nvSpPr>
        <p:spPr>
          <a:xfrm>
            <a:off x="507950" y="1785789"/>
            <a:ext cx="453926" cy="795338"/>
          </a:xfrm>
          <a:prstGeom prst="rect">
            <a:avLst/>
          </a:prstGeom>
          <a:solidFill>
            <a:srgbClr val="181B24"/>
          </a:solidFill>
          <a:ln/>
        </p:spPr>
        <p:txBody>
          <a:bodyPr wrap="square" rtlCol="0" anchor="ctr"/>
          <a:lstStyle/>
          <a:p>
            <a:pPr indent="0" marL="0">
              <a:buNone/>
            </a:pPr>
            <a:endParaRPr lang="en-US" dirty="0"/>
          </a:p>
        </p:txBody>
      </p:sp>
      <p:sp>
        <p:nvSpPr>
          <p:cNvPr id="13" name="Text 11"/>
          <p:cNvSpPr/>
          <p:nvPr/>
        </p:nvSpPr>
        <p:spPr>
          <a:xfrm>
            <a:off x="634901" y="2050107"/>
            <a:ext cx="204026" cy="266700"/>
          </a:xfrm>
          <a:prstGeom prst="rect">
            <a:avLst/>
          </a:prstGeom>
          <a:noFill/>
          <a:ln/>
        </p:spPr>
        <p:txBody>
          <a:bodyPr wrap="square" lIns="0" tIns="0" rIns="0" bIns="0" rtlCol="0" anchor="t"/>
          <a:lstStyle/>
          <a:p>
            <a:pPr algn="l" indent="0" marL="0">
              <a:buNone/>
            </a:pPr>
            <a:r>
              <a:rPr lang="en-US" sz="1400" dirty="0">
                <a:solidFill>
                  <a:srgbClr val="B165FB"/>
                </a:solidFill>
                <a:latin typeface="Arial" pitchFamily="34" charset="0"/>
                <a:ea typeface="Arial" pitchFamily="34" charset="-122"/>
                <a:cs typeface="Arial" pitchFamily="34" charset="-120"/>
              </a:rPr>
              <a:t>📐</a:t>
            </a:r>
            <a:endParaRPr lang="en-US" sz="1400" dirty="0"/>
          </a:p>
        </p:txBody>
      </p:sp>
      <p:sp>
        <p:nvSpPr>
          <p:cNvPr id="14" name="Text 12"/>
          <p:cNvSpPr/>
          <p:nvPr/>
        </p:nvSpPr>
        <p:spPr>
          <a:xfrm>
            <a:off x="1088827" y="1988939"/>
            <a:ext cx="7568678" cy="1809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181B24"/>
                </a:solidFill>
                <a:latin typeface="Arial" pitchFamily="34" charset="0"/>
                <a:ea typeface="Arial" pitchFamily="34" charset="-122"/>
                <a:cs typeface="Arial" pitchFamily="34" charset="-120"/>
              </a:rPr>
              <a:t>RMSNorm 顺序调整</a:t>
            </a:r>
            <a:endParaRPr lang="en-US" sz="1000" dirty="0"/>
          </a:p>
        </p:txBody>
      </p:sp>
      <p:sp>
        <p:nvSpPr>
          <p:cNvPr id="15" name="Text 13"/>
          <p:cNvSpPr/>
          <p:nvPr/>
        </p:nvSpPr>
        <p:spPr>
          <a:xfrm>
            <a:off x="1088827" y="2271415"/>
            <a:ext cx="7568678" cy="132011"/>
          </a:xfrm>
          <a:prstGeom prst="rect">
            <a:avLst/>
          </a:prstGeom>
          <a:noFill/>
          <a:ln/>
        </p:spPr>
        <p:txBody>
          <a:bodyPr wrap="square" lIns="0" tIns="0" rIns="0" bIns="0" rtlCol="0" anchor="t"/>
          <a:lstStyle/>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重新调整 RMSNorm 的计算顺序，使其能与 mHC 操作融合。</a:t>
            </a:r>
            <a:endParaRPr lang="en-US" sz="800" dirty="0"/>
          </a:p>
        </p:txBody>
      </p:sp>
      <p:sp>
        <p:nvSpPr>
          <p:cNvPr id="16" name="Text 14"/>
          <p:cNvSpPr/>
          <p:nvPr/>
        </p:nvSpPr>
        <p:spPr>
          <a:xfrm>
            <a:off x="507950" y="2644527"/>
            <a:ext cx="8128099" cy="795338"/>
          </a:xfrm>
          <a:prstGeom prst="roundRect">
            <a:avLst>
              <a:gd name="adj" fmla="val 9581"/>
            </a:avLst>
          </a:prstGeom>
          <a:solidFill>
            <a:srgbClr val="F5F5F7"/>
          </a:solidFill>
          <a:ln/>
        </p:spPr>
        <p:txBody>
          <a:bodyPr wrap="square" rtlCol="0" anchor="ctr"/>
          <a:lstStyle/>
          <a:p>
            <a:pPr indent="0" marL="0">
              <a:buNone/>
            </a:pPr>
            <a:endParaRPr lang="en-US" dirty="0"/>
          </a:p>
        </p:txBody>
      </p:sp>
      <p:sp>
        <p:nvSpPr>
          <p:cNvPr id="17" name="Text 15"/>
          <p:cNvSpPr/>
          <p:nvPr/>
        </p:nvSpPr>
        <p:spPr>
          <a:xfrm>
            <a:off x="507950" y="2644527"/>
            <a:ext cx="453926" cy="795338"/>
          </a:xfrm>
          <a:prstGeom prst="rect">
            <a:avLst/>
          </a:prstGeom>
          <a:solidFill>
            <a:srgbClr val="181B24"/>
          </a:solidFill>
          <a:ln/>
        </p:spPr>
        <p:txBody>
          <a:bodyPr wrap="square" rtlCol="0" anchor="ctr"/>
          <a:lstStyle/>
          <a:p>
            <a:pPr indent="0" marL="0">
              <a:buNone/>
            </a:pPr>
            <a:endParaRPr lang="en-US" dirty="0"/>
          </a:p>
        </p:txBody>
      </p:sp>
      <p:sp>
        <p:nvSpPr>
          <p:cNvPr id="18" name="Text 16"/>
          <p:cNvSpPr/>
          <p:nvPr/>
        </p:nvSpPr>
        <p:spPr>
          <a:xfrm>
            <a:off x="634901" y="2908846"/>
            <a:ext cx="204026" cy="266700"/>
          </a:xfrm>
          <a:prstGeom prst="rect">
            <a:avLst/>
          </a:prstGeom>
          <a:noFill/>
          <a:ln/>
        </p:spPr>
        <p:txBody>
          <a:bodyPr wrap="square" lIns="0" tIns="0" rIns="0" bIns="0" rtlCol="0" anchor="t"/>
          <a:lstStyle/>
          <a:p>
            <a:pPr algn="l" indent="0" marL="0">
              <a:buNone/>
            </a:pPr>
            <a:r>
              <a:rPr lang="en-US" sz="1400" dirty="0">
                <a:solidFill>
                  <a:srgbClr val="B165FB"/>
                </a:solidFill>
                <a:latin typeface="Arial" pitchFamily="34" charset="0"/>
                <a:ea typeface="Arial" pitchFamily="34" charset="-122"/>
                <a:cs typeface="Arial" pitchFamily="34" charset="-120"/>
              </a:rPr>
              <a:t>⚖️</a:t>
            </a:r>
            <a:endParaRPr lang="en-US" sz="1400" dirty="0"/>
          </a:p>
        </p:txBody>
      </p:sp>
      <p:sp>
        <p:nvSpPr>
          <p:cNvPr id="19" name="Text 17"/>
          <p:cNvSpPr/>
          <p:nvPr/>
        </p:nvSpPr>
        <p:spPr>
          <a:xfrm>
            <a:off x="1088827" y="2847677"/>
            <a:ext cx="7568678" cy="1809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181B24"/>
                </a:solidFill>
                <a:latin typeface="Arial" pitchFamily="34" charset="0"/>
                <a:ea typeface="Arial" pitchFamily="34" charset="-122"/>
                <a:cs typeface="Arial" pitchFamily="34" charset="-120"/>
              </a:rPr>
              <a:t>混合精度策略</a:t>
            </a:r>
            <a:endParaRPr lang="en-US" sz="1000" dirty="0"/>
          </a:p>
        </p:txBody>
      </p:sp>
      <p:sp>
        <p:nvSpPr>
          <p:cNvPr id="20" name="Text 18"/>
          <p:cNvSpPr/>
          <p:nvPr/>
        </p:nvSpPr>
        <p:spPr>
          <a:xfrm>
            <a:off x="1088827" y="3130153"/>
            <a:ext cx="7568678" cy="132011"/>
          </a:xfrm>
          <a:prstGeom prst="rect">
            <a:avLst/>
          </a:prstGeom>
          <a:noFill/>
          <a:ln/>
        </p:spPr>
        <p:txBody>
          <a:bodyPr wrap="square" lIns="0" tIns="0" rIns="0" bIns="0" rtlCol="0" anchor="t"/>
          <a:lstStyle/>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Sinkhorn 用 FP32 保证稳定，输入输出使用 BF16 节省显存。</a:t>
            </a:r>
            <a:endParaRPr lang="en-US" sz="800" dirty="0"/>
          </a:p>
        </p:txBody>
      </p:sp>
      <p:sp>
        <p:nvSpPr>
          <p:cNvPr id="21" name="Text 19"/>
          <p:cNvSpPr/>
          <p:nvPr/>
        </p:nvSpPr>
        <p:spPr>
          <a:xfrm>
            <a:off x="507950" y="3503265"/>
            <a:ext cx="8128099" cy="795338"/>
          </a:xfrm>
          <a:prstGeom prst="roundRect">
            <a:avLst>
              <a:gd name="adj" fmla="val 9581"/>
            </a:avLst>
          </a:prstGeom>
          <a:solidFill>
            <a:srgbClr val="F5F5F7"/>
          </a:solidFill>
          <a:ln/>
        </p:spPr>
        <p:txBody>
          <a:bodyPr wrap="square" rtlCol="0" anchor="ctr"/>
          <a:lstStyle/>
          <a:p>
            <a:pPr indent="0" marL="0">
              <a:buNone/>
            </a:pPr>
            <a:endParaRPr lang="en-US" dirty="0"/>
          </a:p>
        </p:txBody>
      </p:sp>
      <p:sp>
        <p:nvSpPr>
          <p:cNvPr id="22" name="Text 20"/>
          <p:cNvSpPr/>
          <p:nvPr/>
        </p:nvSpPr>
        <p:spPr>
          <a:xfrm>
            <a:off x="507950" y="3503265"/>
            <a:ext cx="453926" cy="795338"/>
          </a:xfrm>
          <a:prstGeom prst="rect">
            <a:avLst/>
          </a:prstGeom>
          <a:solidFill>
            <a:srgbClr val="181B24"/>
          </a:solidFill>
          <a:ln/>
        </p:spPr>
        <p:txBody>
          <a:bodyPr wrap="square" rtlCol="0" anchor="ctr"/>
          <a:lstStyle/>
          <a:p>
            <a:pPr indent="0" marL="0">
              <a:buNone/>
            </a:pPr>
            <a:endParaRPr lang="en-US" dirty="0"/>
          </a:p>
        </p:txBody>
      </p:sp>
      <p:sp>
        <p:nvSpPr>
          <p:cNvPr id="23" name="Text 21"/>
          <p:cNvSpPr/>
          <p:nvPr/>
        </p:nvSpPr>
        <p:spPr>
          <a:xfrm>
            <a:off x="634901" y="3767584"/>
            <a:ext cx="204026" cy="266700"/>
          </a:xfrm>
          <a:prstGeom prst="rect">
            <a:avLst/>
          </a:prstGeom>
          <a:noFill/>
          <a:ln/>
        </p:spPr>
        <p:txBody>
          <a:bodyPr wrap="square" lIns="0" tIns="0" rIns="0" bIns="0" rtlCol="0" anchor="t"/>
          <a:lstStyle/>
          <a:p>
            <a:pPr algn="l" indent="0" marL="0">
              <a:buNone/>
            </a:pPr>
            <a:r>
              <a:rPr lang="en-US" sz="1400" dirty="0">
                <a:solidFill>
                  <a:srgbClr val="B165FB"/>
                </a:solidFill>
                <a:latin typeface="Arial" pitchFamily="34" charset="0"/>
                <a:ea typeface="Arial" pitchFamily="34" charset="-122"/>
                <a:cs typeface="Arial" pitchFamily="34" charset="-120"/>
              </a:rPr>
              <a:t>🔀</a:t>
            </a:r>
            <a:endParaRPr lang="en-US" sz="1400" dirty="0"/>
          </a:p>
        </p:txBody>
      </p:sp>
      <p:sp>
        <p:nvSpPr>
          <p:cNvPr id="24" name="Text 22"/>
          <p:cNvSpPr/>
          <p:nvPr/>
        </p:nvSpPr>
        <p:spPr>
          <a:xfrm>
            <a:off x="1088827" y="3706416"/>
            <a:ext cx="7568678" cy="1809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181B24"/>
                </a:solidFill>
                <a:latin typeface="Arial" pitchFamily="34" charset="0"/>
                <a:ea typeface="Arial" pitchFamily="34" charset="-122"/>
                <a:cs typeface="Arial" pitchFamily="34" charset="-120"/>
              </a:rPr>
              <a:t>残差合并融合</a:t>
            </a:r>
            <a:endParaRPr lang="en-US" sz="1000" dirty="0"/>
          </a:p>
        </p:txBody>
      </p:sp>
      <p:sp>
        <p:nvSpPr>
          <p:cNvPr id="25" name="Text 23"/>
          <p:cNvSpPr/>
          <p:nvPr/>
        </p:nvSpPr>
        <p:spPr>
          <a:xfrm>
            <a:off x="1088827" y="3988891"/>
            <a:ext cx="7568678" cy="132011"/>
          </a:xfrm>
          <a:prstGeom prst="rect">
            <a:avLst/>
          </a:prstGeom>
          <a:noFill/>
          <a:ln/>
        </p:spPr>
        <p:txBody>
          <a:bodyPr wrap="square" lIns="0" tIns="0" rIns="0" bIns="0" rtlCol="0" anchor="t"/>
          <a:lstStyle/>
          <a:p>
            <a:pPr algn="l" indent="0" marL="0">
              <a:lnSpc>
                <a:spcPts val="1040"/>
              </a:lnSpc>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将残差连接与 mHC 变换合并到同一个 kernel，减少内存读写。</a:t>
            </a:r>
            <a:endParaRPr lang="en-US" sz="800" dirty="0"/>
          </a:p>
        </p:txBody>
      </p:sp>
      <p:sp>
        <p:nvSpPr>
          <p:cNvPr id="26" name="Text 24"/>
          <p:cNvSpPr/>
          <p:nvPr/>
        </p:nvSpPr>
        <p:spPr>
          <a:xfrm>
            <a:off x="507950" y="4374803"/>
            <a:ext cx="8128099" cy="637877"/>
          </a:xfrm>
          <a:prstGeom prst="roundRect">
            <a:avLst>
              <a:gd name="adj" fmla="val 11946"/>
            </a:avLst>
          </a:prstGeom>
          <a:solidFill>
            <a:srgbClr val="40695B"/>
          </a:solidFill>
          <a:ln/>
        </p:spPr>
        <p:txBody>
          <a:bodyPr wrap="square" rtlCol="0" anchor="ctr"/>
          <a:lstStyle/>
          <a:p>
            <a:pPr indent="0" marL="0">
              <a:buNone/>
            </a:pPr>
            <a:endParaRPr lang="en-US" dirty="0"/>
          </a:p>
        </p:txBody>
      </p:sp>
      <p:sp>
        <p:nvSpPr>
          <p:cNvPr id="27" name="Text 25"/>
          <p:cNvSpPr/>
          <p:nvPr/>
        </p:nvSpPr>
        <p:spPr>
          <a:xfrm>
            <a:off x="634901" y="4603254"/>
            <a:ext cx="8031682" cy="1809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效果：</a:t>
            </a:r>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融合后的算子相比朴素实现，</a:t>
            </a:r>
            <a:pPr algn="l" indent="0" marL="0">
              <a:spcBef>
                <a:spcPts val="1000"/>
              </a:spcBef>
              <a:spcAft>
                <a:spcPts val="1000"/>
              </a:spcAft>
              <a:buNone/>
            </a:pPr>
            <a:r>
              <a:rPr lang="en-US" sz="1000" b="1" dirty="0">
                <a:solidFill>
                  <a:srgbClr val="B165FB"/>
                </a:solidFill>
                <a:latin typeface="Arial" pitchFamily="34" charset="0"/>
                <a:ea typeface="Arial" pitchFamily="34" charset="-122"/>
                <a:cs typeface="Arial" pitchFamily="34" charset="-120"/>
              </a:rPr>
              <a:t>显存带宽利用率提升 3-5 倍</a:t>
            </a:r>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228600"/>
            <a:ext cx="0" cy="390525"/>
          </a:xfrm>
          <a:prstGeom prst="line">
            <a:avLst/>
          </a:prstGeom>
          <a:noFill/>
          <a:ln w="76200">
            <a:solidFill>
              <a:srgbClr val="B165FB"/>
            </a:solidFill>
            <a:prstDash val="solid"/>
          </a:ln>
        </p:spPr>
      </p:sp>
      <p:sp>
        <p:nvSpPr>
          <p:cNvPr id="4" name="Text 2"/>
          <p:cNvSpPr/>
          <p:nvPr/>
        </p:nvSpPr>
        <p:spPr>
          <a:xfrm>
            <a:off x="774650" y="22860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选择性重计算 (Recomputing)</a:t>
            </a:r>
            <a:endParaRPr lang="en-US" sz="2200" dirty="0"/>
          </a:p>
        </p:txBody>
      </p:sp>
      <p:sp>
        <p:nvSpPr>
          <p:cNvPr id="5" name="Text 3"/>
          <p:cNvSpPr/>
          <p:nvPr/>
        </p:nvSpPr>
        <p:spPr>
          <a:xfrm>
            <a:off x="507950" y="758726"/>
            <a:ext cx="8290661" cy="200025"/>
          </a:xfrm>
          <a:prstGeom prst="rect">
            <a:avLst/>
          </a:prstGeom>
          <a:noFill/>
          <a:ln/>
        </p:spPr>
        <p:txBody>
          <a:bodyPr wrap="square" lIns="0" tIns="0" rIns="0" bIns="0" rtlCol="0" anchor="t"/>
          <a:lstStyle/>
          <a:p>
            <a:pPr algn="l" indent="0" marL="0">
              <a:spcBef>
                <a:spcPts val="1100"/>
              </a:spcBef>
              <a:spcAft>
                <a:spcPts val="1000"/>
              </a:spcAft>
              <a:buNone/>
            </a:pPr>
            <a:r>
              <a:rPr lang="en-US" sz="1100" dirty="0">
                <a:solidFill>
                  <a:srgbClr val="333333"/>
                </a:solidFill>
                <a:latin typeface="Arial" pitchFamily="34" charset="0"/>
                <a:ea typeface="Arial" pitchFamily="34" charset="-122"/>
                <a:cs typeface="Arial" pitchFamily="34" charset="-120"/>
              </a:rPr>
              <a:t>经典的时间换空间策略：不存储中间激活，反向传播时重新计算。</a:t>
            </a:r>
            <a:endParaRPr lang="en-US" sz="1100" dirty="0"/>
          </a:p>
        </p:txBody>
      </p:sp>
      <p:sp>
        <p:nvSpPr>
          <p:cNvPr id="6" name="Text 4"/>
          <p:cNvSpPr/>
          <p:nvPr/>
        </p:nvSpPr>
        <p:spPr>
          <a:xfrm>
            <a:off x="507950" y="1085701"/>
            <a:ext cx="8128099" cy="1904405"/>
          </a:xfrm>
          <a:prstGeom prst="roundRect">
            <a:avLst>
              <a:gd name="adj" fmla="val 4001"/>
            </a:avLst>
          </a:prstGeom>
          <a:solidFill>
            <a:srgbClr val="181B24"/>
          </a:solidFill>
          <a:ln/>
        </p:spPr>
        <p:txBody>
          <a:bodyPr wrap="square" rtlCol="0" anchor="ctr"/>
          <a:lstStyle/>
          <a:p>
            <a:pPr indent="0" marL="0">
              <a:buNone/>
            </a:pPr>
            <a:endParaRPr lang="en-US" dirty="0"/>
          </a:p>
        </p:txBody>
      </p:sp>
      <p:sp>
        <p:nvSpPr>
          <p:cNvPr id="7" name="Text 5"/>
          <p:cNvSpPr/>
          <p:nvPr/>
        </p:nvSpPr>
        <p:spPr>
          <a:xfrm>
            <a:off x="698450" y="1504652"/>
            <a:ext cx="1036219" cy="1809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B165FB"/>
                </a:solidFill>
                <a:latin typeface="Arial" pitchFamily="34" charset="0"/>
                <a:ea typeface="Arial" pitchFamily="34" charset="-122"/>
                <a:cs typeface="Arial" pitchFamily="34" charset="-120"/>
              </a:rPr>
              <a:t>前向传播</a:t>
            </a:r>
            <a:endParaRPr lang="en-US" sz="1000" dirty="0"/>
          </a:p>
        </p:txBody>
      </p:sp>
      <p:sp>
        <p:nvSpPr>
          <p:cNvPr id="8" name="Text 6"/>
          <p:cNvSpPr/>
          <p:nvPr/>
        </p:nvSpPr>
        <p:spPr>
          <a:xfrm>
            <a:off x="1714351" y="1437977"/>
            <a:ext cx="584299" cy="314325"/>
          </a:xfrm>
          <a:prstGeom prst="roundRect">
            <a:avLst>
              <a:gd name="adj" fmla="val 16162"/>
            </a:avLst>
          </a:prstGeom>
          <a:solidFill>
            <a:srgbClr val="40695B"/>
          </a:solidFill>
          <a:ln/>
        </p:spPr>
        <p:txBody>
          <a:bodyPr wrap="square" rtlCol="0" anchor="ctr"/>
          <a:lstStyle/>
          <a:p>
            <a:pPr indent="0" marL="0">
              <a:buNone/>
            </a:pPr>
            <a:endParaRPr lang="en-US" dirty="0"/>
          </a:p>
        </p:txBody>
      </p:sp>
      <p:sp>
        <p:nvSpPr>
          <p:cNvPr id="9" name="Text 7"/>
          <p:cNvSpPr/>
          <p:nvPr/>
        </p:nvSpPr>
        <p:spPr>
          <a:xfrm>
            <a:off x="1812039" y="1514177"/>
            <a:ext cx="388924" cy="133350"/>
          </a:xfrm>
          <a:prstGeom prst="rect">
            <a:avLst/>
          </a:prstGeom>
          <a:noFill/>
          <a:ln/>
        </p:spPr>
        <p:txBody>
          <a:bodyPr wrap="square" lIns="0" tIns="0" rIns="0" bIns="0" rtlCol="0" anchor="t"/>
          <a:lstStyle/>
          <a:p>
            <a:pPr algn="ctr" indent="0" marL="0">
              <a:buNone/>
            </a:pPr>
            <a:r>
              <a:rPr lang="en-US" sz="900" dirty="0">
                <a:solidFill>
                  <a:srgbClr val="FFFFFF"/>
                </a:solidFill>
                <a:latin typeface="Arial" pitchFamily="34" charset="0"/>
                <a:ea typeface="Arial" pitchFamily="34" charset="-122"/>
                <a:cs typeface="Arial" pitchFamily="34" charset="-120"/>
              </a:rPr>
              <a:t>Layer 1</a:t>
            </a:r>
            <a:endParaRPr lang="en-US" sz="900" dirty="0"/>
          </a:p>
        </p:txBody>
      </p:sp>
      <p:sp>
        <p:nvSpPr>
          <p:cNvPr id="10" name="Text 8"/>
          <p:cNvSpPr/>
          <p:nvPr/>
        </p:nvSpPr>
        <p:spPr>
          <a:xfrm>
            <a:off x="2349401" y="1437977"/>
            <a:ext cx="584299" cy="314325"/>
          </a:xfrm>
          <a:prstGeom prst="roundRect">
            <a:avLst>
              <a:gd name="adj" fmla="val 16162"/>
            </a:avLst>
          </a:prstGeom>
          <a:solidFill>
            <a:srgbClr val="40695B"/>
          </a:solidFill>
          <a:ln/>
        </p:spPr>
        <p:txBody>
          <a:bodyPr wrap="square" rtlCol="0" anchor="ctr"/>
          <a:lstStyle/>
          <a:p>
            <a:pPr indent="0" marL="0">
              <a:buNone/>
            </a:pPr>
            <a:endParaRPr lang="en-US" dirty="0"/>
          </a:p>
        </p:txBody>
      </p:sp>
      <p:sp>
        <p:nvSpPr>
          <p:cNvPr id="11" name="Text 9"/>
          <p:cNvSpPr/>
          <p:nvPr/>
        </p:nvSpPr>
        <p:spPr>
          <a:xfrm>
            <a:off x="2447089" y="1514177"/>
            <a:ext cx="388924" cy="133350"/>
          </a:xfrm>
          <a:prstGeom prst="rect">
            <a:avLst/>
          </a:prstGeom>
          <a:noFill/>
          <a:ln/>
        </p:spPr>
        <p:txBody>
          <a:bodyPr wrap="square" lIns="0" tIns="0" rIns="0" bIns="0" rtlCol="0" anchor="t"/>
          <a:lstStyle/>
          <a:p>
            <a:pPr algn="ctr" indent="0" marL="0">
              <a:buNone/>
            </a:pPr>
            <a:r>
              <a:rPr lang="en-US" sz="900" dirty="0">
                <a:solidFill>
                  <a:srgbClr val="FFFFFF"/>
                </a:solidFill>
                <a:latin typeface="Arial" pitchFamily="34" charset="0"/>
                <a:ea typeface="Arial" pitchFamily="34" charset="-122"/>
                <a:cs typeface="Arial" pitchFamily="34" charset="-120"/>
              </a:rPr>
              <a:t>Layer 2</a:t>
            </a:r>
            <a:endParaRPr lang="en-US" sz="900" dirty="0"/>
          </a:p>
        </p:txBody>
      </p:sp>
      <p:sp>
        <p:nvSpPr>
          <p:cNvPr id="12" name="Text 10"/>
          <p:cNvSpPr/>
          <p:nvPr/>
        </p:nvSpPr>
        <p:spPr>
          <a:xfrm>
            <a:off x="2984450" y="1437977"/>
            <a:ext cx="298400" cy="314325"/>
          </a:xfrm>
          <a:prstGeom prst="roundRect">
            <a:avLst>
              <a:gd name="adj" fmla="val 17024"/>
            </a:avLst>
          </a:prstGeom>
          <a:solidFill>
            <a:srgbClr val="40695B"/>
          </a:solidFill>
          <a:ln/>
        </p:spPr>
        <p:txBody>
          <a:bodyPr wrap="square" rtlCol="0" anchor="ctr"/>
          <a:lstStyle/>
          <a:p>
            <a:pPr indent="0" marL="0">
              <a:buNone/>
            </a:pPr>
            <a:endParaRPr lang="en-US" dirty="0"/>
          </a:p>
        </p:txBody>
      </p:sp>
      <p:sp>
        <p:nvSpPr>
          <p:cNvPr id="13" name="Text 11"/>
          <p:cNvSpPr/>
          <p:nvPr/>
        </p:nvSpPr>
        <p:spPr>
          <a:xfrm>
            <a:off x="3084997" y="1514177"/>
            <a:ext cx="97307" cy="133350"/>
          </a:xfrm>
          <a:prstGeom prst="rect">
            <a:avLst/>
          </a:prstGeom>
          <a:noFill/>
          <a:ln/>
        </p:spPr>
        <p:txBody>
          <a:bodyPr wrap="square" lIns="0" tIns="0" rIns="0" bIns="0" rtlCol="0" anchor="t"/>
          <a:lstStyle/>
          <a:p>
            <a:pPr algn="ctr" indent="0" marL="0">
              <a:buNone/>
            </a:pPr>
            <a:r>
              <a:rPr lang="en-US" sz="900" dirty="0">
                <a:solidFill>
                  <a:srgbClr val="FFFFFF"/>
                </a:solidFill>
                <a:latin typeface="Arial" pitchFamily="34" charset="0"/>
                <a:ea typeface="Arial" pitchFamily="34" charset="-122"/>
                <a:cs typeface="Arial" pitchFamily="34" charset="-120"/>
              </a:rPr>
              <a:t>...</a:t>
            </a:r>
            <a:endParaRPr lang="en-US" sz="900" dirty="0"/>
          </a:p>
        </p:txBody>
      </p:sp>
      <p:sp>
        <p:nvSpPr>
          <p:cNvPr id="14" name="Text 12"/>
          <p:cNvSpPr/>
          <p:nvPr/>
        </p:nvSpPr>
        <p:spPr>
          <a:xfrm>
            <a:off x="3333601" y="1437977"/>
            <a:ext cx="603349" cy="314325"/>
          </a:xfrm>
          <a:prstGeom prst="roundRect">
            <a:avLst>
              <a:gd name="adj" fmla="val 16162"/>
            </a:avLst>
          </a:prstGeom>
          <a:solidFill>
            <a:srgbClr val="40695B"/>
          </a:solidFill>
          <a:ln/>
        </p:spPr>
        <p:txBody>
          <a:bodyPr wrap="square" rtlCol="0" anchor="ctr"/>
          <a:lstStyle/>
          <a:p>
            <a:pPr indent="0" marL="0">
              <a:buNone/>
            </a:pPr>
            <a:endParaRPr lang="en-US" dirty="0"/>
          </a:p>
        </p:txBody>
      </p:sp>
      <p:sp>
        <p:nvSpPr>
          <p:cNvPr id="15" name="Text 13"/>
          <p:cNvSpPr/>
          <p:nvPr/>
        </p:nvSpPr>
        <p:spPr>
          <a:xfrm>
            <a:off x="3431098" y="1514177"/>
            <a:ext cx="408355" cy="133350"/>
          </a:xfrm>
          <a:prstGeom prst="rect">
            <a:avLst/>
          </a:prstGeom>
          <a:noFill/>
          <a:ln/>
        </p:spPr>
        <p:txBody>
          <a:bodyPr wrap="square" lIns="0" tIns="0" rIns="0" bIns="0" rtlCol="0" anchor="t"/>
          <a:lstStyle/>
          <a:p>
            <a:pPr algn="ctr" indent="0" marL="0">
              <a:buNone/>
            </a:pPr>
            <a:r>
              <a:rPr lang="en-US" sz="900" dirty="0">
                <a:solidFill>
                  <a:srgbClr val="FFFFFF"/>
                </a:solidFill>
                <a:latin typeface="Arial" pitchFamily="34" charset="0"/>
                <a:ea typeface="Arial" pitchFamily="34" charset="-122"/>
                <a:cs typeface="Arial" pitchFamily="34" charset="-120"/>
              </a:rPr>
              <a:t>Layer N</a:t>
            </a:r>
            <a:endParaRPr lang="en-US" sz="900" dirty="0"/>
          </a:p>
        </p:txBody>
      </p:sp>
      <p:sp>
        <p:nvSpPr>
          <p:cNvPr id="16" name="Text 14"/>
          <p:cNvSpPr/>
          <p:nvPr/>
        </p:nvSpPr>
        <p:spPr>
          <a:xfrm>
            <a:off x="3987701" y="1437977"/>
            <a:ext cx="431602" cy="314325"/>
          </a:xfrm>
          <a:prstGeom prst="roundRect">
            <a:avLst>
              <a:gd name="adj" fmla="val 16162"/>
            </a:avLst>
          </a:prstGeom>
          <a:solidFill>
            <a:srgbClr val="B165FB"/>
          </a:solidFill>
          <a:ln/>
        </p:spPr>
        <p:txBody>
          <a:bodyPr wrap="square" rtlCol="0" anchor="ctr"/>
          <a:lstStyle/>
          <a:p>
            <a:pPr indent="0" marL="0">
              <a:buNone/>
            </a:pPr>
            <a:endParaRPr lang="en-US" dirty="0"/>
          </a:p>
        </p:txBody>
      </p:sp>
      <p:sp>
        <p:nvSpPr>
          <p:cNvPr id="17" name="Text 15"/>
          <p:cNvSpPr/>
          <p:nvPr/>
        </p:nvSpPr>
        <p:spPr>
          <a:xfrm>
            <a:off x="4086916" y="1514177"/>
            <a:ext cx="233172" cy="161925"/>
          </a:xfrm>
          <a:prstGeom prst="rect">
            <a:avLst/>
          </a:prstGeom>
          <a:noFill/>
          <a:ln/>
        </p:spPr>
        <p:txBody>
          <a:bodyPr wrap="square" lIns="0" tIns="0" rIns="0" bIns="0" rtlCol="0" anchor="t"/>
          <a:lstStyle/>
          <a:p>
            <a:pPr algn="ctr" indent="0" marL="0">
              <a:buNone/>
            </a:pPr>
            <a:r>
              <a:rPr lang="en-US" sz="900" dirty="0">
                <a:solidFill>
                  <a:srgbClr val="FFFFFF"/>
                </a:solidFill>
                <a:latin typeface="Arial" pitchFamily="34" charset="0"/>
                <a:ea typeface="Arial" pitchFamily="34" charset="-122"/>
                <a:cs typeface="Arial" pitchFamily="34" charset="-120"/>
              </a:rPr>
              <a:t>输出</a:t>
            </a:r>
            <a:endParaRPr lang="en-US" sz="900" dirty="0"/>
          </a:p>
        </p:txBody>
      </p:sp>
      <p:sp>
        <p:nvSpPr>
          <p:cNvPr id="18" name="Text 16"/>
          <p:cNvSpPr/>
          <p:nvPr/>
        </p:nvSpPr>
        <p:spPr>
          <a:xfrm>
            <a:off x="620979" y="1914079"/>
            <a:ext cx="7902041" cy="247650"/>
          </a:xfrm>
          <a:prstGeom prst="rect">
            <a:avLst/>
          </a:prstGeom>
          <a:noFill/>
          <a:ln/>
        </p:spPr>
        <p:txBody>
          <a:bodyPr wrap="square" lIns="0" tIns="0" rIns="0" bIns="0" rtlCol="0" anchor="t"/>
          <a:lstStyle/>
          <a:p>
            <a:pPr algn="ctr" indent="0" marL="0">
              <a:spcBef>
                <a:spcPts val="400"/>
              </a:spcBef>
              <a:spcAft>
                <a:spcPts val="400"/>
              </a:spcAft>
              <a:buNone/>
            </a:pPr>
            <a:r>
              <a:rPr lang="en-US" sz="1400" dirty="0">
                <a:solidFill>
                  <a:srgbClr val="666666"/>
                </a:solidFill>
                <a:latin typeface="Arial" pitchFamily="34" charset="0"/>
                <a:ea typeface="Arial" pitchFamily="34" charset="-122"/>
                <a:cs typeface="Arial" pitchFamily="34" charset="-120"/>
              </a:rPr>
              <a:t>↓ 丢弃 mHC 中间激活</a:t>
            </a:r>
            <a:endParaRPr lang="en-US" sz="1400" dirty="0"/>
          </a:p>
        </p:txBody>
      </p:sp>
      <p:sp>
        <p:nvSpPr>
          <p:cNvPr id="19" name="Text 17"/>
          <p:cNvSpPr/>
          <p:nvPr/>
        </p:nvSpPr>
        <p:spPr>
          <a:xfrm>
            <a:off x="698450" y="2390180"/>
            <a:ext cx="1036219" cy="1809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B165FB"/>
                </a:solidFill>
                <a:latin typeface="Arial" pitchFamily="34" charset="0"/>
                <a:ea typeface="Arial" pitchFamily="34" charset="-122"/>
                <a:cs typeface="Arial" pitchFamily="34" charset="-120"/>
              </a:rPr>
              <a:t>反向传播</a:t>
            </a:r>
            <a:endParaRPr lang="en-US" sz="1000" dirty="0"/>
          </a:p>
        </p:txBody>
      </p:sp>
      <p:sp>
        <p:nvSpPr>
          <p:cNvPr id="20" name="Text 18"/>
          <p:cNvSpPr/>
          <p:nvPr/>
        </p:nvSpPr>
        <p:spPr>
          <a:xfrm>
            <a:off x="1714351" y="2323505"/>
            <a:ext cx="590550" cy="314325"/>
          </a:xfrm>
          <a:prstGeom prst="roundRect">
            <a:avLst>
              <a:gd name="adj" fmla="val 16162"/>
            </a:avLst>
          </a:prstGeom>
          <a:solidFill>
            <a:srgbClr val="E74C3C"/>
          </a:solidFill>
          <a:ln/>
        </p:spPr>
        <p:txBody>
          <a:bodyPr wrap="square" rtlCol="0" anchor="ctr"/>
          <a:lstStyle/>
          <a:p>
            <a:pPr indent="0" marL="0">
              <a:buNone/>
            </a:pPr>
            <a:endParaRPr lang="en-US" dirty="0"/>
          </a:p>
        </p:txBody>
      </p:sp>
      <p:sp>
        <p:nvSpPr>
          <p:cNvPr id="21" name="Text 19"/>
          <p:cNvSpPr/>
          <p:nvPr/>
        </p:nvSpPr>
        <p:spPr>
          <a:xfrm>
            <a:off x="1811976" y="2399705"/>
            <a:ext cx="395299" cy="161925"/>
          </a:xfrm>
          <a:prstGeom prst="rect">
            <a:avLst/>
          </a:prstGeom>
          <a:noFill/>
          <a:ln/>
        </p:spPr>
        <p:txBody>
          <a:bodyPr wrap="square" lIns="0" tIns="0" rIns="0" bIns="0" rtlCol="0" anchor="t"/>
          <a:lstStyle/>
          <a:p>
            <a:pPr algn="ctr" indent="0" marL="0">
              <a:buNone/>
            </a:pPr>
            <a:r>
              <a:rPr lang="en-US" sz="900" dirty="0">
                <a:solidFill>
                  <a:srgbClr val="FFFFFF"/>
                </a:solidFill>
                <a:latin typeface="Arial" pitchFamily="34" charset="0"/>
                <a:ea typeface="Arial" pitchFamily="34" charset="-122"/>
                <a:cs typeface="Arial" pitchFamily="34" charset="-120"/>
              </a:rPr>
              <a:t>重算 L1</a:t>
            </a:r>
            <a:endParaRPr lang="en-US" sz="900" dirty="0"/>
          </a:p>
        </p:txBody>
      </p:sp>
      <p:sp>
        <p:nvSpPr>
          <p:cNvPr id="22" name="Text 20"/>
          <p:cNvSpPr/>
          <p:nvPr/>
        </p:nvSpPr>
        <p:spPr>
          <a:xfrm>
            <a:off x="2355652" y="2323505"/>
            <a:ext cx="590550" cy="314325"/>
          </a:xfrm>
          <a:prstGeom prst="roundRect">
            <a:avLst>
              <a:gd name="adj" fmla="val 16162"/>
            </a:avLst>
          </a:prstGeom>
          <a:solidFill>
            <a:srgbClr val="E74C3C"/>
          </a:solidFill>
          <a:ln/>
        </p:spPr>
        <p:txBody>
          <a:bodyPr wrap="square" rtlCol="0" anchor="ctr"/>
          <a:lstStyle/>
          <a:p>
            <a:pPr indent="0" marL="0">
              <a:buNone/>
            </a:pPr>
            <a:endParaRPr lang="en-US" dirty="0"/>
          </a:p>
        </p:txBody>
      </p:sp>
      <p:sp>
        <p:nvSpPr>
          <p:cNvPr id="23" name="Text 21"/>
          <p:cNvSpPr/>
          <p:nvPr/>
        </p:nvSpPr>
        <p:spPr>
          <a:xfrm>
            <a:off x="2453277" y="2399705"/>
            <a:ext cx="395299" cy="161925"/>
          </a:xfrm>
          <a:prstGeom prst="rect">
            <a:avLst/>
          </a:prstGeom>
          <a:noFill/>
          <a:ln/>
        </p:spPr>
        <p:txBody>
          <a:bodyPr wrap="square" lIns="0" tIns="0" rIns="0" bIns="0" rtlCol="0" anchor="t"/>
          <a:lstStyle/>
          <a:p>
            <a:pPr algn="ctr" indent="0" marL="0">
              <a:buNone/>
            </a:pPr>
            <a:r>
              <a:rPr lang="en-US" sz="900" dirty="0">
                <a:solidFill>
                  <a:srgbClr val="FFFFFF"/>
                </a:solidFill>
                <a:latin typeface="Arial" pitchFamily="34" charset="0"/>
                <a:ea typeface="Arial" pitchFamily="34" charset="-122"/>
                <a:cs typeface="Arial" pitchFamily="34" charset="-120"/>
              </a:rPr>
              <a:t>重算 L2</a:t>
            </a:r>
            <a:endParaRPr lang="en-US" sz="900" dirty="0"/>
          </a:p>
        </p:txBody>
      </p:sp>
      <p:sp>
        <p:nvSpPr>
          <p:cNvPr id="24" name="Text 22"/>
          <p:cNvSpPr/>
          <p:nvPr/>
        </p:nvSpPr>
        <p:spPr>
          <a:xfrm>
            <a:off x="2996952" y="2323505"/>
            <a:ext cx="298400" cy="314325"/>
          </a:xfrm>
          <a:prstGeom prst="roundRect">
            <a:avLst>
              <a:gd name="adj" fmla="val 17024"/>
            </a:avLst>
          </a:prstGeom>
          <a:solidFill>
            <a:srgbClr val="E74C3C"/>
          </a:solidFill>
          <a:ln/>
        </p:spPr>
        <p:txBody>
          <a:bodyPr wrap="square" rtlCol="0" anchor="ctr"/>
          <a:lstStyle/>
          <a:p>
            <a:pPr indent="0" marL="0">
              <a:buNone/>
            </a:pPr>
            <a:endParaRPr lang="en-US" dirty="0"/>
          </a:p>
        </p:txBody>
      </p:sp>
      <p:sp>
        <p:nvSpPr>
          <p:cNvPr id="25" name="Text 23"/>
          <p:cNvSpPr/>
          <p:nvPr/>
        </p:nvSpPr>
        <p:spPr>
          <a:xfrm>
            <a:off x="3097499" y="2399705"/>
            <a:ext cx="97307" cy="133350"/>
          </a:xfrm>
          <a:prstGeom prst="rect">
            <a:avLst/>
          </a:prstGeom>
          <a:noFill/>
          <a:ln/>
        </p:spPr>
        <p:txBody>
          <a:bodyPr wrap="square" lIns="0" tIns="0" rIns="0" bIns="0" rtlCol="0" anchor="t"/>
          <a:lstStyle/>
          <a:p>
            <a:pPr algn="ctr" indent="0" marL="0">
              <a:buNone/>
            </a:pPr>
            <a:r>
              <a:rPr lang="en-US" sz="900" dirty="0">
                <a:solidFill>
                  <a:srgbClr val="FFFFFF"/>
                </a:solidFill>
                <a:latin typeface="Arial" pitchFamily="34" charset="0"/>
                <a:ea typeface="Arial" pitchFamily="34" charset="-122"/>
                <a:cs typeface="Arial" pitchFamily="34" charset="-120"/>
              </a:rPr>
              <a:t>...</a:t>
            </a:r>
            <a:endParaRPr lang="en-US" sz="900" dirty="0"/>
          </a:p>
        </p:txBody>
      </p:sp>
      <p:sp>
        <p:nvSpPr>
          <p:cNvPr id="26" name="Text 24"/>
          <p:cNvSpPr/>
          <p:nvPr/>
        </p:nvSpPr>
        <p:spPr>
          <a:xfrm>
            <a:off x="3346103" y="2323505"/>
            <a:ext cx="609600" cy="314325"/>
          </a:xfrm>
          <a:prstGeom prst="roundRect">
            <a:avLst>
              <a:gd name="adj" fmla="val 16162"/>
            </a:avLst>
          </a:prstGeom>
          <a:solidFill>
            <a:srgbClr val="E74C3C"/>
          </a:solidFill>
          <a:ln/>
        </p:spPr>
        <p:txBody>
          <a:bodyPr wrap="square" rtlCol="0" anchor="ctr"/>
          <a:lstStyle/>
          <a:p>
            <a:pPr indent="0" marL="0">
              <a:buNone/>
            </a:pPr>
            <a:endParaRPr lang="en-US" dirty="0"/>
          </a:p>
        </p:txBody>
      </p:sp>
      <p:sp>
        <p:nvSpPr>
          <p:cNvPr id="27" name="Text 25"/>
          <p:cNvSpPr/>
          <p:nvPr/>
        </p:nvSpPr>
        <p:spPr>
          <a:xfrm>
            <a:off x="3443538" y="2399705"/>
            <a:ext cx="414730" cy="161925"/>
          </a:xfrm>
          <a:prstGeom prst="rect">
            <a:avLst/>
          </a:prstGeom>
          <a:noFill/>
          <a:ln/>
        </p:spPr>
        <p:txBody>
          <a:bodyPr wrap="square" lIns="0" tIns="0" rIns="0" bIns="0" rtlCol="0" anchor="t"/>
          <a:lstStyle/>
          <a:p>
            <a:pPr algn="ctr" indent="0" marL="0">
              <a:buNone/>
            </a:pPr>
            <a:r>
              <a:rPr lang="en-US" sz="900" dirty="0">
                <a:solidFill>
                  <a:srgbClr val="FFFFFF"/>
                </a:solidFill>
                <a:latin typeface="Arial" pitchFamily="34" charset="0"/>
                <a:ea typeface="Arial" pitchFamily="34" charset="-122"/>
                <a:cs typeface="Arial" pitchFamily="34" charset="-120"/>
              </a:rPr>
              <a:t>重算 LN</a:t>
            </a:r>
            <a:endParaRPr lang="en-US" sz="900" dirty="0"/>
          </a:p>
        </p:txBody>
      </p:sp>
      <p:sp>
        <p:nvSpPr>
          <p:cNvPr id="28" name="Text 26"/>
          <p:cNvSpPr/>
          <p:nvPr/>
        </p:nvSpPr>
        <p:spPr>
          <a:xfrm>
            <a:off x="4006453" y="2323505"/>
            <a:ext cx="431602" cy="314325"/>
          </a:xfrm>
          <a:prstGeom prst="roundRect">
            <a:avLst>
              <a:gd name="adj" fmla="val 16162"/>
            </a:avLst>
          </a:prstGeom>
          <a:solidFill>
            <a:srgbClr val="40695B"/>
          </a:solidFill>
          <a:ln/>
        </p:spPr>
        <p:txBody>
          <a:bodyPr wrap="square" rtlCol="0" anchor="ctr"/>
          <a:lstStyle/>
          <a:p>
            <a:pPr indent="0" marL="0">
              <a:buNone/>
            </a:pPr>
            <a:endParaRPr lang="en-US" dirty="0"/>
          </a:p>
        </p:txBody>
      </p:sp>
      <p:sp>
        <p:nvSpPr>
          <p:cNvPr id="29" name="Text 27"/>
          <p:cNvSpPr/>
          <p:nvPr/>
        </p:nvSpPr>
        <p:spPr>
          <a:xfrm>
            <a:off x="4105668" y="2399705"/>
            <a:ext cx="233172" cy="161925"/>
          </a:xfrm>
          <a:prstGeom prst="rect">
            <a:avLst/>
          </a:prstGeom>
          <a:noFill/>
          <a:ln/>
        </p:spPr>
        <p:txBody>
          <a:bodyPr wrap="square" lIns="0" tIns="0" rIns="0" bIns="0" rtlCol="0" anchor="t"/>
          <a:lstStyle/>
          <a:p>
            <a:pPr algn="ctr" indent="0" marL="0">
              <a:buNone/>
            </a:pPr>
            <a:r>
              <a:rPr lang="en-US" sz="900" dirty="0">
                <a:solidFill>
                  <a:srgbClr val="FFFFFF"/>
                </a:solidFill>
                <a:latin typeface="Arial" pitchFamily="34" charset="0"/>
                <a:ea typeface="Arial" pitchFamily="34" charset="-122"/>
                <a:cs typeface="Arial" pitchFamily="34" charset="-120"/>
              </a:rPr>
              <a:t>梯度</a:t>
            </a:r>
            <a:endParaRPr lang="en-US" sz="900" dirty="0"/>
          </a:p>
        </p:txBody>
      </p:sp>
      <p:sp>
        <p:nvSpPr>
          <p:cNvPr id="30" name="Text 28"/>
          <p:cNvSpPr/>
          <p:nvPr/>
        </p:nvSpPr>
        <p:spPr>
          <a:xfrm>
            <a:off x="507950" y="3117056"/>
            <a:ext cx="2624733" cy="1145977"/>
          </a:xfrm>
          <a:prstGeom prst="roundRect">
            <a:avLst>
              <a:gd name="adj" fmla="val 6649"/>
            </a:avLst>
          </a:prstGeom>
          <a:solidFill>
            <a:srgbClr val="F5F5F7"/>
          </a:solidFill>
          <a:ln/>
        </p:spPr>
        <p:txBody>
          <a:bodyPr wrap="square" rtlCol="0" anchor="ctr"/>
          <a:lstStyle/>
          <a:p>
            <a:pPr indent="0" marL="0">
              <a:buNone/>
            </a:pPr>
            <a:endParaRPr lang="en-US" dirty="0"/>
          </a:p>
        </p:txBody>
      </p:sp>
      <p:sp>
        <p:nvSpPr>
          <p:cNvPr id="31" name="Text 29"/>
          <p:cNvSpPr/>
          <p:nvPr/>
        </p:nvSpPr>
        <p:spPr>
          <a:xfrm>
            <a:off x="611192" y="3383607"/>
            <a:ext cx="2418249" cy="200025"/>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181B24"/>
                </a:solidFill>
                <a:latin typeface="Arial" pitchFamily="34" charset="0"/>
                <a:ea typeface="Arial" pitchFamily="34" charset="-122"/>
                <a:cs typeface="Arial" pitchFamily="34" charset="-120"/>
              </a:rPr>
              <a:t>显存节省</a:t>
            </a:r>
            <a:endParaRPr lang="en-US" sz="1100" dirty="0"/>
          </a:p>
        </p:txBody>
      </p:sp>
      <p:sp>
        <p:nvSpPr>
          <p:cNvPr id="32" name="Text 30"/>
          <p:cNvSpPr/>
          <p:nvPr/>
        </p:nvSpPr>
        <p:spPr>
          <a:xfrm>
            <a:off x="611192" y="3697932"/>
            <a:ext cx="2418249" cy="3238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不存储 Sinkhorn 迭代的</a:t>
            </a:r>
            <a:endParaRPr lang="en-US" sz="900" dirty="0"/>
          </a:p>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中间结果，大幅降低峰值显存</a:t>
            </a:r>
            <a:endParaRPr lang="en-US" sz="900" dirty="0"/>
          </a:p>
        </p:txBody>
      </p:sp>
      <p:sp>
        <p:nvSpPr>
          <p:cNvPr id="33" name="Text 31"/>
          <p:cNvSpPr/>
          <p:nvPr/>
        </p:nvSpPr>
        <p:spPr>
          <a:xfrm>
            <a:off x="3259634" y="3117056"/>
            <a:ext cx="2624733" cy="1145977"/>
          </a:xfrm>
          <a:prstGeom prst="roundRect">
            <a:avLst>
              <a:gd name="adj" fmla="val 6649"/>
            </a:avLst>
          </a:prstGeom>
          <a:solidFill>
            <a:srgbClr val="F5F5F7"/>
          </a:solidFill>
          <a:ln/>
        </p:spPr>
        <p:txBody>
          <a:bodyPr wrap="square" rtlCol="0" anchor="ctr"/>
          <a:lstStyle/>
          <a:p>
            <a:pPr indent="0" marL="0">
              <a:buNone/>
            </a:pPr>
            <a:endParaRPr lang="en-US" dirty="0"/>
          </a:p>
        </p:txBody>
      </p:sp>
      <p:sp>
        <p:nvSpPr>
          <p:cNvPr id="34" name="Text 32"/>
          <p:cNvSpPr/>
          <p:nvPr/>
        </p:nvSpPr>
        <p:spPr>
          <a:xfrm>
            <a:off x="3362876" y="3383607"/>
            <a:ext cx="2418249" cy="200025"/>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181B24"/>
                </a:solidFill>
                <a:latin typeface="Arial" pitchFamily="34" charset="0"/>
                <a:ea typeface="Arial" pitchFamily="34" charset="-122"/>
                <a:cs typeface="Arial" pitchFamily="34" charset="-120"/>
              </a:rPr>
              <a:t>最优块大小</a:t>
            </a:r>
            <a:endParaRPr lang="en-US" sz="1100" dirty="0"/>
          </a:p>
        </p:txBody>
      </p:sp>
      <p:sp>
        <p:nvSpPr>
          <p:cNvPr id="35" name="Text 33"/>
          <p:cNvSpPr/>
          <p:nvPr/>
        </p:nvSpPr>
        <p:spPr>
          <a:xfrm>
            <a:off x="3362876" y="3697932"/>
            <a:ext cx="2418249" cy="3238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推导出理论最优的重计算</a:t>
            </a:r>
            <a:endParaRPr lang="en-US" sz="900" dirty="0"/>
          </a:p>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块大小，最小化内存占用</a:t>
            </a:r>
            <a:endParaRPr lang="en-US" sz="900" dirty="0"/>
          </a:p>
        </p:txBody>
      </p:sp>
      <p:sp>
        <p:nvSpPr>
          <p:cNvPr id="36" name="Text 34"/>
          <p:cNvSpPr/>
          <p:nvPr/>
        </p:nvSpPr>
        <p:spPr>
          <a:xfrm>
            <a:off x="6011317" y="3117056"/>
            <a:ext cx="2624733" cy="1145977"/>
          </a:xfrm>
          <a:prstGeom prst="roundRect">
            <a:avLst>
              <a:gd name="adj" fmla="val 6649"/>
            </a:avLst>
          </a:prstGeom>
          <a:solidFill>
            <a:srgbClr val="F5F5F7"/>
          </a:solidFill>
          <a:ln/>
        </p:spPr>
        <p:txBody>
          <a:bodyPr wrap="square" rtlCol="0" anchor="ctr"/>
          <a:lstStyle/>
          <a:p>
            <a:pPr indent="0" marL="0">
              <a:buNone/>
            </a:pPr>
            <a:endParaRPr lang="en-US" dirty="0"/>
          </a:p>
        </p:txBody>
      </p:sp>
      <p:sp>
        <p:nvSpPr>
          <p:cNvPr id="37" name="Text 35"/>
          <p:cNvSpPr/>
          <p:nvPr/>
        </p:nvSpPr>
        <p:spPr>
          <a:xfrm>
            <a:off x="6114559" y="3383607"/>
            <a:ext cx="2418249" cy="200025"/>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181B24"/>
                </a:solidFill>
                <a:latin typeface="Arial" pitchFamily="34" charset="0"/>
                <a:ea typeface="Arial" pitchFamily="34" charset="-122"/>
                <a:cs typeface="Arial" pitchFamily="34" charset="-120"/>
              </a:rPr>
              <a:t>计算开销可控</a:t>
            </a:r>
            <a:endParaRPr lang="en-US" sz="1100" dirty="0"/>
          </a:p>
        </p:txBody>
      </p:sp>
      <p:sp>
        <p:nvSpPr>
          <p:cNvPr id="38" name="Text 36"/>
          <p:cNvSpPr/>
          <p:nvPr/>
        </p:nvSpPr>
        <p:spPr>
          <a:xfrm>
            <a:off x="6114559" y="3697932"/>
            <a:ext cx="2418249" cy="323850"/>
          </a:xfrm>
          <a:prstGeom prst="rect">
            <a:avLst/>
          </a:prstGeom>
          <a:noFill/>
          <a:ln/>
        </p:spPr>
        <p:txBody>
          <a:bodyPr wrap="square" lIns="0" tIns="0" rIns="0" bIns="0" rtlCol="0" anchor="t"/>
          <a:lstStyle/>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mHC 的重计算开销小，</a:t>
            </a:r>
            <a:endParaRPr lang="en-US" sz="900" dirty="0"/>
          </a:p>
          <a:p>
            <a:pPr algn="ctr" indent="0" marL="0">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整体训练时间增加有限</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190500"/>
            <a:ext cx="0" cy="352425"/>
          </a:xfrm>
          <a:prstGeom prst="line">
            <a:avLst/>
          </a:prstGeom>
          <a:noFill/>
          <a:ln w="76200">
            <a:solidFill>
              <a:srgbClr val="B165FB"/>
            </a:solidFill>
            <a:prstDash val="solid"/>
          </a:ln>
        </p:spPr>
      </p:sp>
      <p:sp>
        <p:nvSpPr>
          <p:cNvPr id="4" name="Text 2"/>
          <p:cNvSpPr/>
          <p:nvPr/>
        </p:nvSpPr>
        <p:spPr>
          <a:xfrm>
            <a:off x="774650" y="190500"/>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DualPipe 通信重叠</a:t>
            </a:r>
            <a:endParaRPr lang="en-US" sz="2000" dirty="0"/>
          </a:p>
        </p:txBody>
      </p:sp>
      <p:sp>
        <p:nvSpPr>
          <p:cNvPr id="5" name="Text 3"/>
          <p:cNvSpPr/>
          <p:nvPr/>
        </p:nvSpPr>
        <p:spPr>
          <a:xfrm>
            <a:off x="507950" y="669875"/>
            <a:ext cx="8290661" cy="180975"/>
          </a:xfrm>
          <a:prstGeom prst="rect">
            <a:avLst/>
          </a:prstGeom>
          <a:noFill/>
          <a:ln/>
        </p:spPr>
        <p:txBody>
          <a:bodyPr wrap="square" lIns="0" tIns="0" rIns="0" bIns="0" rtlCol="0" anchor="t"/>
          <a:lstStyle/>
          <a:p>
            <a:pPr algn="l" indent="0" marL="0">
              <a:spcBef>
                <a:spcPts val="1000"/>
              </a:spcBef>
              <a:spcAft>
                <a:spcPts val="600"/>
              </a:spcAft>
              <a:buNone/>
            </a:pPr>
            <a:r>
              <a:rPr lang="en-US" sz="1000" dirty="0">
                <a:solidFill>
                  <a:srgbClr val="333333"/>
                </a:solidFill>
                <a:latin typeface="Arial" pitchFamily="34" charset="0"/>
                <a:ea typeface="Arial" pitchFamily="34" charset="-122"/>
                <a:cs typeface="Arial" pitchFamily="34" charset="-120"/>
              </a:rPr>
              <a:t>在分布式训练中，DeepSeek 扩展了 DualPipe 调度算法以支持 mHC：</a:t>
            </a:r>
            <a:endParaRPr lang="en-US" sz="1000" dirty="0"/>
          </a:p>
        </p:txBody>
      </p:sp>
      <p:sp>
        <p:nvSpPr>
          <p:cNvPr id="6" name="Text 4"/>
          <p:cNvSpPr/>
          <p:nvPr/>
        </p:nvSpPr>
        <p:spPr>
          <a:xfrm>
            <a:off x="507950" y="927050"/>
            <a:ext cx="8128099" cy="888057"/>
          </a:xfrm>
          <a:prstGeom prst="roundRect">
            <a:avLst>
              <a:gd name="adj" fmla="val 8581"/>
            </a:avLst>
          </a:prstGeom>
          <a:solidFill>
            <a:srgbClr val="F5F5F7"/>
          </a:solidFill>
          <a:ln/>
        </p:spPr>
        <p:txBody>
          <a:bodyPr wrap="square" rtlCol="0" anchor="ctr"/>
          <a:lstStyle/>
          <a:p>
            <a:pPr indent="0" marL="0">
              <a:buNone/>
            </a:pPr>
            <a:endParaRPr lang="en-US" dirty="0"/>
          </a:p>
        </p:txBody>
      </p:sp>
      <p:sp>
        <p:nvSpPr>
          <p:cNvPr id="7" name="Text 5"/>
          <p:cNvSpPr/>
          <p:nvPr/>
        </p:nvSpPr>
        <p:spPr>
          <a:xfrm>
            <a:off x="609451" y="1028551"/>
            <a:ext cx="228600" cy="228600"/>
          </a:xfrm>
          <a:prstGeom prst="roundRect">
            <a:avLst>
              <a:gd name="adj" fmla="val 400000"/>
            </a:avLst>
          </a:prstGeom>
          <a:solidFill>
            <a:srgbClr val="B165FB"/>
          </a:solidFill>
          <a:ln/>
        </p:spPr>
        <p:txBody>
          <a:bodyPr wrap="square" rtlCol="0" anchor="ctr"/>
          <a:lstStyle/>
          <a:p>
            <a:pPr indent="0" marL="0">
              <a:buNone/>
            </a:pPr>
            <a:endParaRPr lang="en-US" dirty="0"/>
          </a:p>
        </p:txBody>
      </p:sp>
      <p:sp>
        <p:nvSpPr>
          <p:cNvPr id="8" name="Text 6"/>
          <p:cNvSpPr/>
          <p:nvPr/>
        </p:nvSpPr>
        <p:spPr>
          <a:xfrm>
            <a:off x="688330" y="1071414"/>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Text 7"/>
          <p:cNvSpPr/>
          <p:nvPr/>
        </p:nvSpPr>
        <p:spPr>
          <a:xfrm>
            <a:off x="939552" y="1155502"/>
            <a:ext cx="7746897" cy="1809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181B24"/>
                </a:solidFill>
                <a:latin typeface="Arial" pitchFamily="34" charset="0"/>
                <a:ea typeface="Arial" pitchFamily="34" charset="-122"/>
                <a:cs typeface="Arial" pitchFamily="34" charset="-120"/>
              </a:rPr>
              <a:t>流水线边界优化</a:t>
            </a:r>
            <a:endParaRPr lang="en-US" sz="1000" dirty="0"/>
          </a:p>
        </p:txBody>
      </p:sp>
      <p:sp>
        <p:nvSpPr>
          <p:cNvPr id="10" name="Text 8"/>
          <p:cNvSpPr/>
          <p:nvPr/>
        </p:nvSpPr>
        <p:spPr>
          <a:xfrm>
            <a:off x="939552" y="1450777"/>
            <a:ext cx="7746897" cy="148530"/>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改善流水线并行阶段边界处的通信与计算重叠，减少 GPU 空闲等待时间。</a:t>
            </a:r>
            <a:endParaRPr lang="en-US" sz="900" dirty="0"/>
          </a:p>
        </p:txBody>
      </p:sp>
      <p:sp>
        <p:nvSpPr>
          <p:cNvPr id="11" name="Text 9"/>
          <p:cNvSpPr/>
          <p:nvPr/>
        </p:nvSpPr>
        <p:spPr>
          <a:xfrm>
            <a:off x="507950" y="1891308"/>
            <a:ext cx="8128099" cy="888057"/>
          </a:xfrm>
          <a:prstGeom prst="roundRect">
            <a:avLst>
              <a:gd name="adj" fmla="val 8581"/>
            </a:avLst>
          </a:prstGeom>
          <a:solidFill>
            <a:srgbClr val="F5F5F7"/>
          </a:solidFill>
          <a:ln/>
        </p:spPr>
        <p:txBody>
          <a:bodyPr wrap="square" rtlCol="0" anchor="ctr"/>
          <a:lstStyle/>
          <a:p>
            <a:pPr indent="0" marL="0">
              <a:buNone/>
            </a:pPr>
            <a:endParaRPr lang="en-US" dirty="0"/>
          </a:p>
        </p:txBody>
      </p:sp>
      <p:sp>
        <p:nvSpPr>
          <p:cNvPr id="12" name="Text 10"/>
          <p:cNvSpPr/>
          <p:nvPr/>
        </p:nvSpPr>
        <p:spPr>
          <a:xfrm>
            <a:off x="609451" y="1992809"/>
            <a:ext cx="228600" cy="228600"/>
          </a:xfrm>
          <a:prstGeom prst="roundRect">
            <a:avLst>
              <a:gd name="adj" fmla="val 400000"/>
            </a:avLst>
          </a:prstGeom>
          <a:solidFill>
            <a:srgbClr val="B165FB"/>
          </a:solidFill>
          <a:ln/>
        </p:spPr>
        <p:txBody>
          <a:bodyPr wrap="square" rtlCol="0" anchor="ctr"/>
          <a:lstStyle/>
          <a:p>
            <a:pPr indent="0" marL="0">
              <a:buNone/>
            </a:pPr>
            <a:endParaRPr lang="en-US" dirty="0"/>
          </a:p>
        </p:txBody>
      </p:sp>
      <p:sp>
        <p:nvSpPr>
          <p:cNvPr id="13" name="Text 11"/>
          <p:cNvSpPr/>
          <p:nvPr/>
        </p:nvSpPr>
        <p:spPr>
          <a:xfrm>
            <a:off x="688330" y="2035671"/>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4" name="Text 12"/>
          <p:cNvSpPr/>
          <p:nvPr/>
        </p:nvSpPr>
        <p:spPr>
          <a:xfrm>
            <a:off x="939552" y="2119759"/>
            <a:ext cx="7746897" cy="1809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181B24"/>
                </a:solidFill>
                <a:latin typeface="Arial" pitchFamily="34" charset="0"/>
                <a:ea typeface="Arial" pitchFamily="34" charset="-122"/>
                <a:cs typeface="Arial" pitchFamily="34" charset="-120"/>
              </a:rPr>
              <a:t>高优先级计算流</a:t>
            </a:r>
            <a:endParaRPr lang="en-US" sz="1000" dirty="0"/>
          </a:p>
        </p:txBody>
      </p:sp>
      <p:sp>
        <p:nvSpPr>
          <p:cNvPr id="15" name="Text 13"/>
          <p:cNvSpPr/>
          <p:nvPr/>
        </p:nvSpPr>
        <p:spPr>
          <a:xfrm>
            <a:off x="939552" y="2415034"/>
            <a:ext cx="7746897" cy="148530"/>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在专用的高优先级 CUDA 流上执行 MLP 层计算，确保关键路径不被通信阻塞。</a:t>
            </a:r>
            <a:endParaRPr lang="en-US" sz="900" dirty="0"/>
          </a:p>
        </p:txBody>
      </p:sp>
      <p:sp>
        <p:nvSpPr>
          <p:cNvPr id="16" name="Text 14"/>
          <p:cNvSpPr/>
          <p:nvPr/>
        </p:nvSpPr>
        <p:spPr>
          <a:xfrm>
            <a:off x="507950" y="2855565"/>
            <a:ext cx="8128099" cy="888057"/>
          </a:xfrm>
          <a:prstGeom prst="roundRect">
            <a:avLst>
              <a:gd name="adj" fmla="val 8581"/>
            </a:avLst>
          </a:prstGeom>
          <a:solidFill>
            <a:srgbClr val="F5F5F7"/>
          </a:solidFill>
          <a:ln/>
        </p:spPr>
        <p:txBody>
          <a:bodyPr wrap="square" rtlCol="0" anchor="ctr"/>
          <a:lstStyle/>
          <a:p>
            <a:pPr indent="0" marL="0">
              <a:buNone/>
            </a:pPr>
            <a:endParaRPr lang="en-US" dirty="0"/>
          </a:p>
        </p:txBody>
      </p:sp>
      <p:sp>
        <p:nvSpPr>
          <p:cNvPr id="17" name="Text 15"/>
          <p:cNvSpPr/>
          <p:nvPr/>
        </p:nvSpPr>
        <p:spPr>
          <a:xfrm>
            <a:off x="609451" y="2957066"/>
            <a:ext cx="228600" cy="228600"/>
          </a:xfrm>
          <a:prstGeom prst="roundRect">
            <a:avLst>
              <a:gd name="adj" fmla="val 400000"/>
            </a:avLst>
          </a:prstGeom>
          <a:solidFill>
            <a:srgbClr val="B165FB"/>
          </a:solidFill>
          <a:ln/>
        </p:spPr>
        <p:txBody>
          <a:bodyPr wrap="square" rtlCol="0" anchor="ctr"/>
          <a:lstStyle/>
          <a:p>
            <a:pPr indent="0" marL="0">
              <a:buNone/>
            </a:pPr>
            <a:endParaRPr lang="en-US" dirty="0"/>
          </a:p>
        </p:txBody>
      </p:sp>
      <p:sp>
        <p:nvSpPr>
          <p:cNvPr id="18" name="Text 16"/>
          <p:cNvSpPr/>
          <p:nvPr/>
        </p:nvSpPr>
        <p:spPr>
          <a:xfrm>
            <a:off x="688330" y="2999929"/>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9" name="Text 17"/>
          <p:cNvSpPr/>
          <p:nvPr/>
        </p:nvSpPr>
        <p:spPr>
          <a:xfrm>
            <a:off x="939552" y="3084016"/>
            <a:ext cx="7746897" cy="1809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181B24"/>
                </a:solidFill>
                <a:latin typeface="Arial" pitchFamily="34" charset="0"/>
                <a:ea typeface="Arial" pitchFamily="34" charset="-122"/>
                <a:cs typeface="Arial" pitchFamily="34" charset="-120"/>
              </a:rPr>
              <a:t>注意力层优化</a:t>
            </a:r>
            <a:endParaRPr lang="en-US" sz="1000" dirty="0"/>
          </a:p>
        </p:txBody>
      </p:sp>
      <p:sp>
        <p:nvSpPr>
          <p:cNvPr id="20" name="Text 18"/>
          <p:cNvSpPr/>
          <p:nvPr/>
        </p:nvSpPr>
        <p:spPr>
          <a:xfrm>
            <a:off x="939552" y="3379291"/>
            <a:ext cx="7746897" cy="148530"/>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避免在注意力层使用持久算子，减少同步点，提高并行度。</a:t>
            </a:r>
            <a:endParaRPr lang="en-US" sz="900" dirty="0"/>
          </a:p>
        </p:txBody>
      </p:sp>
      <p:sp>
        <p:nvSpPr>
          <p:cNvPr id="21" name="Text 19"/>
          <p:cNvSpPr/>
          <p:nvPr/>
        </p:nvSpPr>
        <p:spPr>
          <a:xfrm>
            <a:off x="507950" y="3819823"/>
            <a:ext cx="8128099" cy="1012329"/>
          </a:xfrm>
          <a:prstGeom prst="roundRect">
            <a:avLst>
              <a:gd name="adj" fmla="val 7527"/>
            </a:avLst>
          </a:prstGeom>
          <a:solidFill>
            <a:srgbClr val="181B24"/>
          </a:solidFill>
          <a:ln/>
        </p:spPr>
        <p:txBody>
          <a:bodyPr wrap="square" rtlCol="0" anchor="ctr"/>
          <a:lstStyle/>
          <a:p>
            <a:pPr indent="0" marL="0">
              <a:buNone/>
            </a:pPr>
            <a:endParaRPr lang="en-US" dirty="0"/>
          </a:p>
        </p:txBody>
      </p:sp>
      <p:sp>
        <p:nvSpPr>
          <p:cNvPr id="22" name="Text 20"/>
          <p:cNvSpPr/>
          <p:nvPr/>
        </p:nvSpPr>
        <p:spPr>
          <a:xfrm>
            <a:off x="660350" y="4086374"/>
            <a:ext cx="7979765" cy="200025"/>
          </a:xfrm>
          <a:prstGeom prst="rect">
            <a:avLst/>
          </a:prstGeom>
          <a:noFill/>
          <a:ln/>
        </p:spPr>
        <p:txBody>
          <a:bodyPr wrap="square" lIns="0" tIns="0" rIns="0" bIns="0" rtlCol="0" anchor="t"/>
          <a:lstStyle/>
          <a:p>
            <a:pPr algn="l" indent="0" marL="0">
              <a:spcBef>
                <a:spcPts val="1100"/>
              </a:spcBef>
              <a:spcAft>
                <a:spcPts val="400"/>
              </a:spcAft>
              <a:buNone/>
            </a:pPr>
            <a:r>
              <a:rPr lang="en-US" sz="1100" b="1" dirty="0">
                <a:solidFill>
                  <a:srgbClr val="B165FB"/>
                </a:solidFill>
                <a:latin typeface="Arial" pitchFamily="34" charset="0"/>
                <a:ea typeface="Arial" pitchFamily="34" charset="-122"/>
                <a:cs typeface="Arial" pitchFamily="34" charset="-120"/>
              </a:rPr>
              <a:t>分布式训练效率</a:t>
            </a:r>
            <a:endParaRPr lang="en-US" sz="1100" dirty="0"/>
          </a:p>
        </p:txBody>
      </p:sp>
      <p:sp>
        <p:nvSpPr>
          <p:cNvPr id="23" name="Text 21"/>
          <p:cNvSpPr/>
          <p:nvPr/>
        </p:nvSpPr>
        <p:spPr>
          <a:xfrm>
            <a:off x="660350" y="4413349"/>
            <a:ext cx="7979765" cy="164902"/>
          </a:xfrm>
          <a:prstGeom prst="rect">
            <a:avLst/>
          </a:prstGeom>
          <a:noFill/>
          <a:ln/>
        </p:spPr>
        <p:txBody>
          <a:bodyPr wrap="square" lIns="0" tIns="0" rIns="0" bIns="0" rtlCol="0" anchor="t"/>
          <a:lstStyle/>
          <a:p>
            <a:pPr algn="l" indent="0" marL="0">
              <a:lnSpc>
                <a:spcPts val="1300"/>
              </a:lnSpc>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通过以上优化，mHC 在多节点分布式训练中实现了</a:t>
            </a:r>
            <a:pPr algn="l" indent="0" marL="0">
              <a:lnSpc>
                <a:spcPts val="1300"/>
              </a:lnSpc>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接近线性的扩展效率</a:t>
            </a:r>
            <a:pPr algn="l" indent="0" marL="0">
              <a:lnSpc>
                <a:spcPts val="1300"/>
              </a:lnSpc>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81B24"/>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Shape 1"/>
          <p:cNvSpPr/>
          <p:nvPr/>
        </p:nvSpPr>
        <p:spPr>
          <a:xfrm>
            <a:off x="546050" y="190500"/>
            <a:ext cx="0" cy="352425"/>
          </a:xfrm>
          <a:prstGeom prst="line">
            <a:avLst/>
          </a:prstGeom>
          <a:noFill/>
          <a:ln w="76200">
            <a:solidFill>
              <a:srgbClr val="40695B"/>
            </a:solidFill>
            <a:prstDash val="solid"/>
          </a:ln>
        </p:spPr>
      </p:sp>
      <p:sp>
        <p:nvSpPr>
          <p:cNvPr id="4" name="Text 2"/>
          <p:cNvSpPr/>
          <p:nvPr/>
        </p:nvSpPr>
        <p:spPr>
          <a:xfrm>
            <a:off x="774650" y="190500"/>
            <a:ext cx="8018627" cy="352425"/>
          </a:xfrm>
          <a:prstGeom prst="rect">
            <a:avLst/>
          </a:prstGeom>
          <a:noFill/>
          <a:ln/>
        </p:spPr>
        <p:txBody>
          <a:bodyPr wrap="square" lIns="0" tIns="0" rIns="0" bIns="0" rtlCol="0" anchor="t"/>
          <a:lstStyle/>
          <a:p>
            <a:pPr algn="l" indent="0" marL="0">
              <a:buNone/>
            </a:pPr>
            <a:r>
              <a:rPr lang="en-US" sz="2000" b="1" dirty="0">
                <a:solidFill>
                  <a:srgbClr val="FFFFFF"/>
                </a:solidFill>
                <a:latin typeface="Arial" pitchFamily="34" charset="0"/>
                <a:ea typeface="Arial" pitchFamily="34" charset="-122"/>
                <a:cs typeface="Arial" pitchFamily="34" charset="-120"/>
              </a:rPr>
              <a:t>工程能力总结</a:t>
            </a:r>
            <a:endParaRPr lang="en-US" sz="2000" dirty="0"/>
          </a:p>
        </p:txBody>
      </p:sp>
      <p:sp>
        <p:nvSpPr>
          <p:cNvPr id="5" name="Text 3"/>
          <p:cNvSpPr/>
          <p:nvPr/>
        </p:nvSpPr>
        <p:spPr>
          <a:xfrm>
            <a:off x="507950" y="669875"/>
            <a:ext cx="1936700" cy="1928068"/>
          </a:xfrm>
          <a:prstGeom prst="roundRect">
            <a:avLst>
              <a:gd name="adj" fmla="val 3952"/>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6" name="Text 4"/>
          <p:cNvSpPr/>
          <p:nvPr/>
        </p:nvSpPr>
        <p:spPr>
          <a:xfrm>
            <a:off x="627788" y="1085701"/>
            <a:ext cx="1697025" cy="361950"/>
          </a:xfrm>
          <a:prstGeom prst="rect">
            <a:avLst/>
          </a:prstGeom>
          <a:noFill/>
          <a:ln/>
        </p:spPr>
        <p:txBody>
          <a:bodyPr wrap="square" lIns="0" tIns="0" rIns="0" bIns="0" rtlCol="0" anchor="t"/>
          <a:lstStyle/>
          <a:p>
            <a:pPr algn="ctr" indent="0" marL="0">
              <a:spcBef>
                <a:spcPts val="2200"/>
              </a:spcBef>
              <a:spcAft>
                <a:spcPts val="600"/>
              </a:spcAft>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627788" y="1587252"/>
            <a:ext cx="1697025" cy="200025"/>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40695B"/>
                </a:solidFill>
                <a:latin typeface="Arial" pitchFamily="34" charset="0"/>
                <a:ea typeface="Arial" pitchFamily="34" charset="-122"/>
                <a:cs typeface="Arial" pitchFamily="34" charset="-120"/>
              </a:rPr>
              <a:t>底层优化</a:t>
            </a:r>
            <a:endParaRPr lang="en-US" sz="1100" dirty="0"/>
          </a:p>
        </p:txBody>
      </p:sp>
      <p:sp>
        <p:nvSpPr>
          <p:cNvPr id="8" name="Text 6"/>
          <p:cNvSpPr/>
          <p:nvPr/>
        </p:nvSpPr>
        <p:spPr>
          <a:xfrm>
            <a:off x="627788" y="1901577"/>
            <a:ext cx="1697025" cy="445591"/>
          </a:xfrm>
          <a:prstGeom prst="rect">
            <a:avLst/>
          </a:prstGeom>
          <a:noFill/>
          <a:ln/>
        </p:spPr>
        <p:txBody>
          <a:bodyPr wrap="square" lIns="0" tIns="0" rIns="0" bIns="0" rtlCol="0" anchor="t"/>
          <a:lstStyle/>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手写 CUDA 内核</a:t>
            </a: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深入 GPU 架构</a:t>
            </a: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极致性能调优</a:t>
            </a:r>
            <a:endParaRPr lang="en-US" sz="900" dirty="0"/>
          </a:p>
        </p:txBody>
      </p:sp>
      <p:sp>
        <p:nvSpPr>
          <p:cNvPr id="9" name="Text 7"/>
          <p:cNvSpPr/>
          <p:nvPr/>
        </p:nvSpPr>
        <p:spPr>
          <a:xfrm>
            <a:off x="2571601" y="669875"/>
            <a:ext cx="1936849" cy="1928068"/>
          </a:xfrm>
          <a:prstGeom prst="roundRect">
            <a:avLst>
              <a:gd name="adj" fmla="val 3952"/>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10" name="Text 8"/>
          <p:cNvSpPr/>
          <p:nvPr/>
        </p:nvSpPr>
        <p:spPr>
          <a:xfrm>
            <a:off x="2691438" y="1085701"/>
            <a:ext cx="1697176" cy="361950"/>
          </a:xfrm>
          <a:prstGeom prst="rect">
            <a:avLst/>
          </a:prstGeom>
          <a:noFill/>
          <a:ln/>
        </p:spPr>
        <p:txBody>
          <a:bodyPr wrap="square" lIns="0" tIns="0" rIns="0" bIns="0" rtlCol="0" anchor="t"/>
          <a:lstStyle/>
          <a:p>
            <a:pPr algn="ctr" indent="0" marL="0">
              <a:spcBef>
                <a:spcPts val="2200"/>
              </a:spcBef>
              <a:spcAft>
                <a:spcPts val="600"/>
              </a:spcAft>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2691438" y="1587252"/>
            <a:ext cx="1697176" cy="200025"/>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40695B"/>
                </a:solidFill>
                <a:latin typeface="Arial" pitchFamily="34" charset="0"/>
                <a:ea typeface="Arial" pitchFamily="34" charset="-122"/>
                <a:cs typeface="Arial" pitchFamily="34" charset="-120"/>
              </a:rPr>
              <a:t>内存管理</a:t>
            </a:r>
            <a:endParaRPr lang="en-US" sz="1100" dirty="0"/>
          </a:p>
        </p:txBody>
      </p:sp>
      <p:sp>
        <p:nvSpPr>
          <p:cNvPr id="12" name="Text 10"/>
          <p:cNvSpPr/>
          <p:nvPr/>
        </p:nvSpPr>
        <p:spPr>
          <a:xfrm>
            <a:off x="2691438" y="1901577"/>
            <a:ext cx="1697176" cy="445591"/>
          </a:xfrm>
          <a:prstGeom prst="rect">
            <a:avLst/>
          </a:prstGeom>
          <a:noFill/>
          <a:ln/>
        </p:spPr>
        <p:txBody>
          <a:bodyPr wrap="square" lIns="0" tIns="0" rIns="0" bIns="0" rtlCol="0" anchor="t"/>
          <a:lstStyle/>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选择性重计算</a:t>
            </a: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显存精细控制</a:t>
            </a: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峰值内存优化</a:t>
            </a:r>
            <a:endParaRPr lang="en-US" sz="900" dirty="0"/>
          </a:p>
        </p:txBody>
      </p:sp>
      <p:sp>
        <p:nvSpPr>
          <p:cNvPr id="13" name="Text 11"/>
          <p:cNvSpPr/>
          <p:nvPr/>
        </p:nvSpPr>
        <p:spPr>
          <a:xfrm>
            <a:off x="4635401" y="669875"/>
            <a:ext cx="1936849" cy="1928068"/>
          </a:xfrm>
          <a:prstGeom prst="roundRect">
            <a:avLst>
              <a:gd name="adj" fmla="val 3952"/>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14" name="Text 12"/>
          <p:cNvSpPr/>
          <p:nvPr/>
        </p:nvSpPr>
        <p:spPr>
          <a:xfrm>
            <a:off x="4755237" y="1085701"/>
            <a:ext cx="1697176" cy="361950"/>
          </a:xfrm>
          <a:prstGeom prst="rect">
            <a:avLst/>
          </a:prstGeom>
          <a:noFill/>
          <a:ln/>
        </p:spPr>
        <p:txBody>
          <a:bodyPr wrap="square" lIns="0" tIns="0" rIns="0" bIns="0" rtlCol="0" anchor="t"/>
          <a:lstStyle/>
          <a:p>
            <a:pPr algn="ctr" indent="0" marL="0">
              <a:spcBef>
                <a:spcPts val="2200"/>
              </a:spcBef>
              <a:spcAft>
                <a:spcPts val="600"/>
              </a:spcAft>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755237" y="1587252"/>
            <a:ext cx="1697176" cy="200025"/>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40695B"/>
                </a:solidFill>
                <a:latin typeface="Arial" pitchFamily="34" charset="0"/>
                <a:ea typeface="Arial" pitchFamily="34" charset="-122"/>
                <a:cs typeface="Arial" pitchFamily="34" charset="-120"/>
              </a:rPr>
              <a:t>分布式系统</a:t>
            </a:r>
            <a:endParaRPr lang="en-US" sz="1100" dirty="0"/>
          </a:p>
        </p:txBody>
      </p:sp>
      <p:sp>
        <p:nvSpPr>
          <p:cNvPr id="16" name="Text 14"/>
          <p:cNvSpPr/>
          <p:nvPr/>
        </p:nvSpPr>
        <p:spPr>
          <a:xfrm>
            <a:off x="4755237" y="1901577"/>
            <a:ext cx="1697176" cy="445591"/>
          </a:xfrm>
          <a:prstGeom prst="rect">
            <a:avLst/>
          </a:prstGeom>
          <a:noFill/>
          <a:ln/>
        </p:spPr>
        <p:txBody>
          <a:bodyPr wrap="square" lIns="0" tIns="0" rIns="0" bIns="0" rtlCol="0" anchor="t"/>
          <a:lstStyle/>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通信计算重叠</a:t>
            </a: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流水线并行优化</a:t>
            </a: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多节点高效扩展</a:t>
            </a:r>
            <a:endParaRPr lang="en-US" sz="900" dirty="0"/>
          </a:p>
        </p:txBody>
      </p:sp>
      <p:sp>
        <p:nvSpPr>
          <p:cNvPr id="17" name="Text 15"/>
          <p:cNvSpPr/>
          <p:nvPr/>
        </p:nvSpPr>
        <p:spPr>
          <a:xfrm>
            <a:off x="6699200" y="669875"/>
            <a:ext cx="1936849" cy="1928068"/>
          </a:xfrm>
          <a:prstGeom prst="roundRect">
            <a:avLst>
              <a:gd name="adj" fmla="val 3952"/>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18" name="Text 16"/>
          <p:cNvSpPr/>
          <p:nvPr/>
        </p:nvSpPr>
        <p:spPr>
          <a:xfrm>
            <a:off x="6819037" y="1085701"/>
            <a:ext cx="1697176" cy="361950"/>
          </a:xfrm>
          <a:prstGeom prst="rect">
            <a:avLst/>
          </a:prstGeom>
          <a:noFill/>
          <a:ln/>
        </p:spPr>
        <p:txBody>
          <a:bodyPr wrap="square" lIns="0" tIns="0" rIns="0" bIns="0" rtlCol="0" anchor="t"/>
          <a:lstStyle/>
          <a:p>
            <a:pPr algn="ctr" indent="0" marL="0">
              <a:spcBef>
                <a:spcPts val="2200"/>
              </a:spcBef>
              <a:spcAft>
                <a:spcPts val="600"/>
              </a:spcAft>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6819037" y="1587252"/>
            <a:ext cx="1697176" cy="200025"/>
          </a:xfrm>
          <a:prstGeom prst="rect">
            <a:avLst/>
          </a:prstGeom>
          <a:noFill/>
          <a:ln/>
        </p:spPr>
        <p:txBody>
          <a:bodyPr wrap="square" lIns="0" tIns="0" rIns="0" bIns="0" rtlCol="0" anchor="t"/>
          <a:lstStyle/>
          <a:p>
            <a:pPr algn="ctr" indent="0" marL="0">
              <a:spcBef>
                <a:spcPts val="1100"/>
              </a:spcBef>
              <a:spcAft>
                <a:spcPts val="400"/>
              </a:spcAft>
              <a:buNone/>
            </a:pPr>
            <a:r>
              <a:rPr lang="en-US" sz="1100" b="1" dirty="0">
                <a:solidFill>
                  <a:srgbClr val="40695B"/>
                </a:solidFill>
                <a:latin typeface="Arial" pitchFamily="34" charset="0"/>
                <a:ea typeface="Arial" pitchFamily="34" charset="-122"/>
                <a:cs typeface="Arial" pitchFamily="34" charset="-120"/>
              </a:rPr>
              <a:t>最终效果</a:t>
            </a:r>
            <a:endParaRPr lang="en-US" sz="1100" dirty="0"/>
          </a:p>
        </p:txBody>
      </p:sp>
      <p:sp>
        <p:nvSpPr>
          <p:cNvPr id="20" name="Text 18"/>
          <p:cNvSpPr/>
          <p:nvPr/>
        </p:nvSpPr>
        <p:spPr>
          <a:xfrm>
            <a:off x="6819037" y="1901577"/>
            <a:ext cx="1697176" cy="445591"/>
          </a:xfrm>
          <a:prstGeom prst="rect">
            <a:avLst/>
          </a:prstGeom>
          <a:noFill/>
          <a:ln/>
        </p:spPr>
        <p:txBody>
          <a:bodyPr wrap="square" lIns="0" tIns="0" rIns="0" bIns="0" rtlCol="0" anchor="t"/>
          <a:lstStyle/>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n=4 扩展倍率
</a:t>
            </a:r>
            <a:pPr algn="ctr" indent="0" marL="0">
              <a:lnSpc>
                <a:spcPts val="1170"/>
              </a:lnSpc>
              <a:spcBef>
                <a:spcPts val="900"/>
              </a:spcBef>
              <a:spcAft>
                <a:spcPts val="900"/>
              </a:spcAft>
              <a:buNone/>
            </a:pPr>
            <a:r>
              <a:rPr lang="en-US" sz="900" b="1" dirty="0">
                <a:solidFill>
                  <a:srgbClr val="CCCCCC"/>
                </a:solidFill>
                <a:latin typeface="Arial" pitchFamily="34" charset="0"/>
                <a:ea typeface="Arial" pitchFamily="34" charset="-122"/>
                <a:cs typeface="Arial" pitchFamily="34" charset="-120"/>
              </a:rPr>
              <a:t>仅增加 6.7%</a:t>
            </a:r>
            <a:pPr algn="ctr" indent="0" marL="0">
              <a:lnSpc>
                <a:spcPts val="1170"/>
              </a:lnSpc>
              <a:spcBef>
                <a:spcPts val="900"/>
              </a:spcBef>
              <a:spcAft>
                <a:spcPts val="900"/>
              </a:spcAft>
              <a:buNone/>
            </a:pP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训练时间开销</a:t>
            </a:r>
            <a:endParaRPr lang="en-US" sz="900" dirty="0"/>
          </a:p>
        </p:txBody>
      </p:sp>
      <p:sp>
        <p:nvSpPr>
          <p:cNvPr id="21" name="Text 19"/>
          <p:cNvSpPr/>
          <p:nvPr/>
        </p:nvSpPr>
        <p:spPr>
          <a:xfrm>
            <a:off x="507950" y="2724894"/>
            <a:ext cx="8128099" cy="779562"/>
          </a:xfrm>
          <a:prstGeom prst="roundRect">
            <a:avLst>
              <a:gd name="adj" fmla="val 9775"/>
            </a:avLst>
          </a:prstGeom>
          <a:solidFill>
            <a:srgbClr val="40695B"/>
          </a:solidFill>
          <a:ln/>
        </p:spPr>
        <p:txBody>
          <a:bodyPr wrap="square" rtlCol="0" anchor="ctr"/>
          <a:lstStyle/>
          <a:p>
            <a:pPr indent="0" marL="0">
              <a:buNone/>
            </a:pPr>
            <a:endParaRPr lang="en-US" dirty="0"/>
          </a:p>
        </p:txBody>
      </p:sp>
      <p:sp>
        <p:nvSpPr>
          <p:cNvPr id="22" name="Text 20"/>
          <p:cNvSpPr/>
          <p:nvPr/>
        </p:nvSpPr>
        <p:spPr>
          <a:xfrm>
            <a:off x="620979" y="3016895"/>
            <a:ext cx="7902041" cy="195560"/>
          </a:xfrm>
          <a:prstGeom prst="rect">
            <a:avLst/>
          </a:prstGeom>
          <a:noFill/>
          <a:ln/>
        </p:spPr>
        <p:txBody>
          <a:bodyPr wrap="square" lIns="0" tIns="0" rIns="0" bIns="0" rtlCol="0" anchor="t"/>
          <a:lstStyle/>
          <a:p>
            <a:pPr algn="ctr" indent="0" marL="0">
              <a:lnSpc>
                <a:spcPts val="154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「DeepSeek 最大的优势不仅是算法创新，更是能把想法</a:t>
            </a:r>
            <a:pPr algn="ctr" indent="0" marL="0">
              <a:lnSpc>
                <a:spcPts val="1540"/>
              </a:lnSpc>
              <a:spcBef>
                <a:spcPts val="1100"/>
              </a:spcBef>
              <a:spcAft>
                <a:spcPts val="1100"/>
              </a:spcAft>
              <a:buNone/>
            </a:pPr>
            <a:r>
              <a:rPr lang="en-US" sz="1100" b="1" i="1" dirty="0">
                <a:solidFill>
                  <a:srgbClr val="FFFFFF"/>
                </a:solidFill>
                <a:latin typeface="Arial" pitchFamily="34" charset="0"/>
                <a:ea typeface="Arial" pitchFamily="34" charset="-122"/>
                <a:cs typeface="Arial" pitchFamily="34" charset="-120"/>
              </a:rPr>
              <a:t>稳定、高效地落地</a:t>
            </a:r>
            <a:pPr algn="ctr" indent="0" marL="0">
              <a:lnSpc>
                <a:spcPts val="154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到算力体系中。」</a:t>
            </a:r>
            <a:endParaRPr lang="en-US" sz="1100" dirty="0"/>
          </a:p>
        </p:txBody>
      </p:sp>
      <p:sp>
        <p:nvSpPr>
          <p:cNvPr id="23" name="Text 21"/>
          <p:cNvSpPr/>
          <p:nvPr/>
        </p:nvSpPr>
        <p:spPr>
          <a:xfrm>
            <a:off x="3864769" y="3605957"/>
            <a:ext cx="1414463" cy="282476"/>
          </a:xfrm>
          <a:prstGeom prst="roundRect">
            <a:avLst>
              <a:gd name="adj" fmla="val 17984"/>
            </a:avLst>
          </a:prstGeom>
          <a:solidFill>
            <a:srgbClr val="B165FB"/>
          </a:solidFill>
          <a:ln/>
        </p:spPr>
        <p:txBody>
          <a:bodyPr wrap="square" rtlCol="0" anchor="ctr"/>
          <a:lstStyle/>
          <a:p>
            <a:pPr indent="0" marL="0">
              <a:buNone/>
            </a:pPr>
            <a:endParaRPr lang="en-US" dirty="0"/>
          </a:p>
        </p:txBody>
      </p:sp>
      <p:sp>
        <p:nvSpPr>
          <p:cNvPr id="24" name="Text 22"/>
          <p:cNvSpPr/>
          <p:nvPr/>
        </p:nvSpPr>
        <p:spPr>
          <a:xfrm>
            <a:off x="3980114" y="3656707"/>
            <a:ext cx="1183773" cy="180975"/>
          </a:xfrm>
          <a:prstGeom prst="rect">
            <a:avLst/>
          </a:prstGeom>
          <a:noFill/>
          <a:ln/>
        </p:spPr>
        <p:txBody>
          <a:bodyPr wrap="square" lIns="0" tIns="0" rIns="0" bIns="0" rtlCol="0" anchor="t"/>
          <a:lstStyle/>
          <a:p>
            <a:pPr algn="ctr" indent="0" marL="0">
              <a:buNone/>
            </a:pPr>
            <a:r>
              <a:rPr lang="en-US" sz="1000" dirty="0">
                <a:solidFill>
                  <a:srgbClr val="FFFFFF"/>
                </a:solidFill>
                <a:latin typeface="Arial" pitchFamily="34" charset="0"/>
                <a:ea typeface="Arial" pitchFamily="34" charset="-122"/>
                <a:cs typeface="Arial" pitchFamily="34" charset="-120"/>
              </a:rPr>
              <a:t>硬核工程 × 理论创新</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Text 1"/>
          <p:cNvSpPr/>
          <p:nvPr/>
        </p:nvSpPr>
        <p:spPr>
          <a:xfrm>
            <a:off x="507950" y="355550"/>
            <a:ext cx="8290661" cy="180975"/>
          </a:xfrm>
          <a:prstGeom prst="rect">
            <a:avLst/>
          </a:prstGeom>
          <a:noFill/>
          <a:ln/>
        </p:spPr>
        <p:txBody>
          <a:bodyPr wrap="square" lIns="0" tIns="0" rIns="0" bIns="0" rtlCol="0" anchor="t"/>
          <a:lstStyle/>
          <a:p>
            <a:pPr algn="l" indent="0" marL="0">
              <a:spcBef>
                <a:spcPts val="1000"/>
              </a:spcBef>
              <a:spcAft>
                <a:spcPts val="600"/>
              </a:spcAft>
              <a:buNone/>
            </a:pPr>
            <a:r>
              <a:rPr lang="en-US" sz="1000" dirty="0">
                <a:solidFill>
                  <a:srgbClr val="40695B"/>
                </a:solidFill>
                <a:latin typeface="Arial" pitchFamily="34" charset="0"/>
                <a:ea typeface="Arial" pitchFamily="34" charset="-122"/>
                <a:cs typeface="Arial" pitchFamily="34" charset="-120"/>
              </a:rPr>
              <a:t>PART 5: 实验验证</a:t>
            </a:r>
            <a:endParaRPr lang="en-US" sz="1000" dirty="0"/>
          </a:p>
        </p:txBody>
      </p:sp>
      <p:sp>
        <p:nvSpPr>
          <p:cNvPr id="4" name="Shape 2"/>
          <p:cNvSpPr/>
          <p:nvPr/>
        </p:nvSpPr>
        <p:spPr>
          <a:xfrm>
            <a:off x="546050" y="612725"/>
            <a:ext cx="0" cy="390525"/>
          </a:xfrm>
          <a:prstGeom prst="line">
            <a:avLst/>
          </a:prstGeom>
          <a:noFill/>
          <a:ln w="76200">
            <a:solidFill>
              <a:srgbClr val="40695B"/>
            </a:solidFill>
            <a:prstDash val="solid"/>
          </a:ln>
        </p:spPr>
      </p:sp>
      <p:sp>
        <p:nvSpPr>
          <p:cNvPr id="5" name="Text 3"/>
          <p:cNvSpPr/>
          <p:nvPr/>
        </p:nvSpPr>
        <p:spPr>
          <a:xfrm>
            <a:off x="774650" y="612725"/>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DeepSeek 官方实验设置</a:t>
            </a:r>
            <a:endParaRPr lang="en-US" sz="2200" dirty="0"/>
          </a:p>
        </p:txBody>
      </p:sp>
      <p:sp>
        <p:nvSpPr>
          <p:cNvPr id="6" name="Text 4"/>
          <p:cNvSpPr/>
          <p:nvPr/>
        </p:nvSpPr>
        <p:spPr>
          <a:xfrm>
            <a:off x="507950" y="1130201"/>
            <a:ext cx="3987850" cy="1326952"/>
          </a:xfrm>
          <a:prstGeom prst="roundRect">
            <a:avLst>
              <a:gd name="adj" fmla="val 5742"/>
            </a:avLst>
          </a:prstGeom>
          <a:solidFill>
            <a:srgbClr val="F5F5F7"/>
          </a:solidFill>
          <a:ln/>
        </p:spPr>
        <p:txBody>
          <a:bodyPr wrap="square" rtlCol="0" anchor="ctr"/>
          <a:lstStyle/>
          <a:p>
            <a:pPr indent="0" marL="0">
              <a:buNone/>
            </a:pPr>
            <a:endParaRPr lang="en-US" dirty="0"/>
          </a:p>
        </p:txBody>
      </p:sp>
      <p:sp>
        <p:nvSpPr>
          <p:cNvPr id="7" name="Text 5"/>
          <p:cNvSpPr/>
          <p:nvPr/>
        </p:nvSpPr>
        <p:spPr>
          <a:xfrm>
            <a:off x="634901" y="1396752"/>
            <a:ext cx="3808628" cy="200025"/>
          </a:xfrm>
          <a:prstGeom prst="rect">
            <a:avLst/>
          </a:prstGeom>
          <a:noFill/>
          <a:ln/>
        </p:spPr>
        <p:txBody>
          <a:bodyPr wrap="square" lIns="0" tIns="0" rIns="0" bIns="0" rtlCol="0" anchor="t"/>
          <a:lstStyle/>
          <a:p>
            <a:pPr algn="l" indent="0" marL="0">
              <a:spcBef>
                <a:spcPts val="1100"/>
              </a:spcBef>
              <a:spcAft>
                <a:spcPts val="600"/>
              </a:spcAft>
              <a:buNone/>
            </a:pPr>
            <a:r>
              <a:rPr lang="en-US" sz="1100" b="1" dirty="0">
                <a:solidFill>
                  <a:srgbClr val="40695B"/>
                </a:solidFill>
                <a:latin typeface="Arial" pitchFamily="34" charset="0"/>
                <a:ea typeface="Arial" pitchFamily="34" charset="-122"/>
                <a:cs typeface="Arial" pitchFamily="34" charset="-120"/>
              </a:rPr>
              <a:t>模型架构</a:t>
            </a:r>
            <a:endParaRPr lang="en-US" sz="1100" dirty="0"/>
          </a:p>
        </p:txBody>
      </p:sp>
      <p:sp>
        <p:nvSpPr>
          <p:cNvPr id="8" name="Text 6"/>
          <p:cNvSpPr/>
          <p:nvPr/>
        </p:nvSpPr>
        <p:spPr>
          <a:xfrm>
            <a:off x="634901" y="1672977"/>
            <a:ext cx="3808628" cy="180975"/>
          </a:xfrm>
          <a:prstGeom prst="rect">
            <a:avLst/>
          </a:prstGeom>
          <a:noFill/>
          <a:ln/>
        </p:spPr>
        <p:txBody>
          <a:bodyPr wrap="square" lIns="0" tIns="0" rIns="0" bIns="0" rtlCol="0" anchor="t"/>
          <a:lstStyle/>
          <a:p>
            <a:pPr algn="l" indent="0" marL="0">
              <a:spcBef>
                <a:spcPts val="300"/>
              </a:spcBef>
              <a:spcAft>
                <a:spcPts val="300"/>
              </a:spcAft>
              <a:buNone/>
            </a:pPr>
            <a:r>
              <a:rPr lang="en-US" sz="1000" dirty="0">
                <a:solidFill>
                  <a:srgbClr val="333333"/>
                </a:solidFill>
                <a:latin typeface="Arial" pitchFamily="34" charset="0"/>
                <a:ea typeface="Arial" pitchFamily="34" charset="-122"/>
                <a:cs typeface="Arial" pitchFamily="34" charset="-120"/>
              </a:rPr>
              <a:t>类型: </a:t>
            </a:r>
            <a:pPr algn="l" indent="0" marL="0">
              <a:spcBef>
                <a:spcPts val="300"/>
              </a:spcBef>
              <a:spcAft>
                <a:spcPts val="300"/>
              </a:spcAft>
              <a:buNone/>
            </a:pPr>
            <a:r>
              <a:rPr lang="en-US" sz="1000" dirty="0">
                <a:solidFill>
                  <a:srgbClr val="666666"/>
                </a:solidFill>
                <a:latin typeface="Arial" pitchFamily="34" charset="0"/>
                <a:ea typeface="Arial" pitchFamily="34" charset="-122"/>
                <a:cs typeface="Arial" pitchFamily="34" charset="-120"/>
              </a:rPr>
              <a:t>MoE (受 DeepSeek-V3 启发)</a:t>
            </a:r>
            <a:endParaRPr lang="en-US" sz="1000" dirty="0"/>
          </a:p>
        </p:txBody>
      </p:sp>
      <p:sp>
        <p:nvSpPr>
          <p:cNvPr id="9" name="Text 7"/>
          <p:cNvSpPr/>
          <p:nvPr/>
        </p:nvSpPr>
        <p:spPr>
          <a:xfrm>
            <a:off x="634901" y="1892052"/>
            <a:ext cx="3808628" cy="180975"/>
          </a:xfrm>
          <a:prstGeom prst="rect">
            <a:avLst/>
          </a:prstGeom>
          <a:noFill/>
          <a:ln/>
        </p:spPr>
        <p:txBody>
          <a:bodyPr wrap="square" lIns="0" tIns="0" rIns="0" bIns="0" rtlCol="0" anchor="t"/>
          <a:lstStyle/>
          <a:p>
            <a:pPr algn="l" indent="0" marL="0">
              <a:spcBef>
                <a:spcPts val="300"/>
              </a:spcBef>
              <a:spcAft>
                <a:spcPts val="300"/>
              </a:spcAft>
              <a:buNone/>
            </a:pPr>
            <a:r>
              <a:rPr lang="en-US" sz="1000" dirty="0">
                <a:solidFill>
                  <a:srgbClr val="333333"/>
                </a:solidFill>
                <a:latin typeface="Arial" pitchFamily="34" charset="0"/>
                <a:ea typeface="Arial" pitchFamily="34" charset="-122"/>
                <a:cs typeface="Arial" pitchFamily="34" charset="-120"/>
              </a:rPr>
              <a:t>专家数: </a:t>
            </a:r>
            <a:pPr algn="l" indent="0" marL="0">
              <a:spcBef>
                <a:spcPts val="300"/>
              </a:spcBef>
              <a:spcAft>
                <a:spcPts val="300"/>
              </a:spcAft>
              <a:buNone/>
            </a:pPr>
            <a:r>
              <a:rPr lang="en-US" sz="1000" dirty="0">
                <a:solidFill>
                  <a:srgbClr val="666666"/>
                </a:solidFill>
                <a:latin typeface="Arial" pitchFamily="34" charset="0"/>
                <a:ea typeface="Arial" pitchFamily="34" charset="-122"/>
                <a:cs typeface="Arial" pitchFamily="34" charset="-120"/>
              </a:rPr>
              <a:t>64 个路由专家 + 2 个共享专家</a:t>
            </a:r>
            <a:endParaRPr lang="en-US" sz="1000" dirty="0"/>
          </a:p>
        </p:txBody>
      </p:sp>
      <p:sp>
        <p:nvSpPr>
          <p:cNvPr id="10" name="Text 8"/>
          <p:cNvSpPr/>
          <p:nvPr/>
        </p:nvSpPr>
        <p:spPr>
          <a:xfrm>
            <a:off x="634901" y="2111127"/>
            <a:ext cx="3808628" cy="180975"/>
          </a:xfrm>
          <a:prstGeom prst="rect">
            <a:avLst/>
          </a:prstGeom>
          <a:noFill/>
          <a:ln/>
        </p:spPr>
        <p:txBody>
          <a:bodyPr wrap="square" lIns="0" tIns="0" rIns="0" bIns="0" rtlCol="0" anchor="t"/>
          <a:lstStyle/>
          <a:p>
            <a:pPr algn="l" indent="0" marL="0">
              <a:spcBef>
                <a:spcPts val="300"/>
              </a:spcBef>
              <a:spcAft>
                <a:spcPts val="300"/>
              </a:spcAft>
              <a:buNone/>
            </a:pPr>
            <a:r>
              <a:rPr lang="en-US" sz="1000" dirty="0">
                <a:solidFill>
                  <a:srgbClr val="333333"/>
                </a:solidFill>
                <a:latin typeface="Arial" pitchFamily="34" charset="0"/>
                <a:ea typeface="Arial" pitchFamily="34" charset="-122"/>
                <a:cs typeface="Arial" pitchFamily="34" charset="-120"/>
              </a:rPr>
              <a:t>激活专家: </a:t>
            </a:r>
            <a:pPr algn="l" indent="0" marL="0">
              <a:spcBef>
                <a:spcPts val="300"/>
              </a:spcBef>
              <a:spcAft>
                <a:spcPts val="300"/>
              </a:spcAft>
              <a:buNone/>
            </a:pPr>
            <a:r>
              <a:rPr lang="en-US" sz="1000" dirty="0">
                <a:solidFill>
                  <a:srgbClr val="666666"/>
                </a:solidFill>
                <a:latin typeface="Arial" pitchFamily="34" charset="0"/>
                <a:ea typeface="Arial" pitchFamily="34" charset="-122"/>
                <a:cs typeface="Arial" pitchFamily="34" charset="-120"/>
              </a:rPr>
              <a:t>每 token 激活 8 个</a:t>
            </a:r>
            <a:endParaRPr lang="en-US" sz="1000" dirty="0"/>
          </a:p>
        </p:txBody>
      </p:sp>
      <p:sp>
        <p:nvSpPr>
          <p:cNvPr id="11" name="Text 9"/>
          <p:cNvSpPr/>
          <p:nvPr/>
        </p:nvSpPr>
        <p:spPr>
          <a:xfrm>
            <a:off x="507950" y="2558653"/>
            <a:ext cx="3987850" cy="1326952"/>
          </a:xfrm>
          <a:prstGeom prst="roundRect">
            <a:avLst>
              <a:gd name="adj" fmla="val 5742"/>
            </a:avLst>
          </a:prstGeom>
          <a:solidFill>
            <a:srgbClr val="F5F5F7"/>
          </a:solidFill>
          <a:ln/>
        </p:spPr>
        <p:txBody>
          <a:bodyPr wrap="square" rtlCol="0" anchor="ctr"/>
          <a:lstStyle/>
          <a:p>
            <a:pPr indent="0" marL="0">
              <a:buNone/>
            </a:pPr>
            <a:endParaRPr lang="en-US" dirty="0"/>
          </a:p>
        </p:txBody>
      </p:sp>
      <p:sp>
        <p:nvSpPr>
          <p:cNvPr id="12" name="Text 10"/>
          <p:cNvSpPr/>
          <p:nvPr/>
        </p:nvSpPr>
        <p:spPr>
          <a:xfrm>
            <a:off x="634901" y="2825204"/>
            <a:ext cx="3808628" cy="200025"/>
          </a:xfrm>
          <a:prstGeom prst="rect">
            <a:avLst/>
          </a:prstGeom>
          <a:noFill/>
          <a:ln/>
        </p:spPr>
        <p:txBody>
          <a:bodyPr wrap="square" lIns="0" tIns="0" rIns="0" bIns="0" rtlCol="0" anchor="t"/>
          <a:lstStyle/>
          <a:p>
            <a:pPr algn="l" indent="0" marL="0">
              <a:spcBef>
                <a:spcPts val="1100"/>
              </a:spcBef>
              <a:spcAft>
                <a:spcPts val="600"/>
              </a:spcAft>
              <a:buNone/>
            </a:pPr>
            <a:r>
              <a:rPr lang="en-US" sz="1100" b="1" dirty="0">
                <a:solidFill>
                  <a:srgbClr val="40695B"/>
                </a:solidFill>
                <a:latin typeface="Arial" pitchFamily="34" charset="0"/>
                <a:ea typeface="Arial" pitchFamily="34" charset="-122"/>
                <a:cs typeface="Arial" pitchFamily="34" charset="-120"/>
              </a:rPr>
              <a:t>测试规模</a:t>
            </a:r>
            <a:endParaRPr lang="en-US" sz="1100" dirty="0"/>
          </a:p>
        </p:txBody>
      </p:sp>
      <p:sp>
        <p:nvSpPr>
          <p:cNvPr id="13" name="Text 11"/>
          <p:cNvSpPr/>
          <p:nvPr/>
        </p:nvSpPr>
        <p:spPr>
          <a:xfrm>
            <a:off x="634901" y="3101429"/>
            <a:ext cx="3808628" cy="180975"/>
          </a:xfrm>
          <a:prstGeom prst="rect">
            <a:avLst/>
          </a:prstGeom>
          <a:noFill/>
          <a:ln/>
        </p:spPr>
        <p:txBody>
          <a:bodyPr wrap="square" lIns="0" tIns="0" rIns="0" bIns="0" rtlCol="0" anchor="t"/>
          <a:lstStyle/>
          <a:p>
            <a:pPr algn="l" indent="0" marL="0">
              <a:spcBef>
                <a:spcPts val="300"/>
              </a:spcBef>
              <a:spcAft>
                <a:spcPts val="300"/>
              </a:spcAft>
              <a:buNone/>
            </a:pPr>
            <a:r>
              <a:rPr lang="en-US" sz="1000" dirty="0">
                <a:solidFill>
                  <a:srgbClr val="333333"/>
                </a:solidFill>
                <a:latin typeface="Arial" pitchFamily="34" charset="0"/>
                <a:ea typeface="Arial" pitchFamily="34" charset="-122"/>
                <a:cs typeface="Arial" pitchFamily="34" charset="-120"/>
              </a:rPr>
              <a:t>3B 参数 </a:t>
            </a:r>
            <a:pPr algn="l" indent="0" marL="0">
              <a:spcBef>
                <a:spcPts val="300"/>
              </a:spcBef>
              <a:spcAft>
                <a:spcPts val="300"/>
              </a:spcAft>
              <a:buNone/>
            </a:pPr>
            <a:r>
              <a:rPr lang="en-US" sz="1000" dirty="0">
                <a:solidFill>
                  <a:srgbClr val="666666"/>
                </a:solidFill>
                <a:latin typeface="Arial" pitchFamily="34" charset="0"/>
                <a:ea typeface="Arial" pitchFamily="34" charset="-122"/>
                <a:cs typeface="Arial" pitchFamily="34" charset="-120"/>
              </a:rPr>
              <a:t>(基础验证)</a:t>
            </a:r>
            <a:endParaRPr lang="en-US" sz="1000" dirty="0"/>
          </a:p>
        </p:txBody>
      </p:sp>
      <p:sp>
        <p:nvSpPr>
          <p:cNvPr id="14" name="Text 12"/>
          <p:cNvSpPr/>
          <p:nvPr/>
        </p:nvSpPr>
        <p:spPr>
          <a:xfrm>
            <a:off x="634901" y="3320504"/>
            <a:ext cx="3808628" cy="180975"/>
          </a:xfrm>
          <a:prstGeom prst="rect">
            <a:avLst/>
          </a:prstGeom>
          <a:noFill/>
          <a:ln/>
        </p:spPr>
        <p:txBody>
          <a:bodyPr wrap="square" lIns="0" tIns="0" rIns="0" bIns="0" rtlCol="0" anchor="t"/>
          <a:lstStyle/>
          <a:p>
            <a:pPr algn="l" indent="0" marL="0">
              <a:spcBef>
                <a:spcPts val="300"/>
              </a:spcBef>
              <a:spcAft>
                <a:spcPts val="300"/>
              </a:spcAft>
              <a:buNone/>
            </a:pPr>
            <a:r>
              <a:rPr lang="en-US" sz="1000" dirty="0">
                <a:solidFill>
                  <a:srgbClr val="333333"/>
                </a:solidFill>
                <a:latin typeface="Arial" pitchFamily="34" charset="0"/>
                <a:ea typeface="Arial" pitchFamily="34" charset="-122"/>
                <a:cs typeface="Arial" pitchFamily="34" charset="-120"/>
              </a:rPr>
              <a:t>9B 参数 </a:t>
            </a:r>
            <a:pPr algn="l" indent="0" marL="0">
              <a:spcBef>
                <a:spcPts val="300"/>
              </a:spcBef>
              <a:spcAft>
                <a:spcPts val="300"/>
              </a:spcAft>
              <a:buNone/>
            </a:pPr>
            <a:r>
              <a:rPr lang="en-US" sz="1000" dirty="0">
                <a:solidFill>
                  <a:srgbClr val="666666"/>
                </a:solidFill>
                <a:latin typeface="Arial" pitchFamily="34" charset="0"/>
                <a:ea typeface="Arial" pitchFamily="34" charset="-122"/>
                <a:cs typeface="Arial" pitchFamily="34" charset="-120"/>
              </a:rPr>
              <a:t>(中等规模)</a:t>
            </a:r>
            <a:endParaRPr lang="en-US" sz="1000" dirty="0"/>
          </a:p>
        </p:txBody>
      </p:sp>
      <p:sp>
        <p:nvSpPr>
          <p:cNvPr id="15" name="Text 13"/>
          <p:cNvSpPr/>
          <p:nvPr/>
        </p:nvSpPr>
        <p:spPr>
          <a:xfrm>
            <a:off x="634901" y="3539579"/>
            <a:ext cx="3808628" cy="180975"/>
          </a:xfrm>
          <a:prstGeom prst="rect">
            <a:avLst/>
          </a:prstGeom>
          <a:noFill/>
          <a:ln/>
        </p:spPr>
        <p:txBody>
          <a:bodyPr wrap="square" lIns="0" tIns="0" rIns="0" bIns="0" rtlCol="0" anchor="t"/>
          <a:lstStyle/>
          <a:p>
            <a:pPr algn="l" indent="0" marL="0">
              <a:spcBef>
                <a:spcPts val="300"/>
              </a:spcBef>
              <a:spcAft>
                <a:spcPts val="300"/>
              </a:spcAft>
              <a:buNone/>
            </a:pPr>
            <a:r>
              <a:rPr lang="en-US" sz="1000" dirty="0">
                <a:solidFill>
                  <a:srgbClr val="333333"/>
                </a:solidFill>
                <a:latin typeface="Arial" pitchFamily="34" charset="0"/>
                <a:ea typeface="Arial" pitchFamily="34" charset="-122"/>
                <a:cs typeface="Arial" pitchFamily="34" charset="-120"/>
              </a:rPr>
              <a:t>27B 参数 </a:t>
            </a:r>
            <a:pPr algn="l" indent="0" marL="0">
              <a:spcBef>
                <a:spcPts val="300"/>
              </a:spcBef>
              <a:spcAft>
                <a:spcPts val="300"/>
              </a:spcAft>
              <a:buNone/>
            </a:pPr>
            <a:r>
              <a:rPr lang="en-US" sz="1000" dirty="0">
                <a:solidFill>
                  <a:srgbClr val="666666"/>
                </a:solidFill>
                <a:latin typeface="Arial" pitchFamily="34" charset="0"/>
                <a:ea typeface="Arial" pitchFamily="34" charset="-122"/>
                <a:cs typeface="Arial" pitchFamily="34" charset="-120"/>
              </a:rPr>
              <a:t>(主要关注)</a:t>
            </a:r>
            <a:endParaRPr lang="en-US" sz="1000" dirty="0"/>
          </a:p>
        </p:txBody>
      </p:sp>
      <p:sp>
        <p:nvSpPr>
          <p:cNvPr id="16" name="Text 14"/>
          <p:cNvSpPr/>
          <p:nvPr/>
        </p:nvSpPr>
        <p:spPr>
          <a:xfrm>
            <a:off x="4648200" y="1130201"/>
            <a:ext cx="3987850" cy="1326952"/>
          </a:xfrm>
          <a:prstGeom prst="roundRect">
            <a:avLst>
              <a:gd name="adj" fmla="val 5742"/>
            </a:avLst>
          </a:prstGeom>
          <a:solidFill>
            <a:srgbClr val="F5F5F7"/>
          </a:solidFill>
          <a:ln/>
        </p:spPr>
        <p:txBody>
          <a:bodyPr wrap="square" rtlCol="0" anchor="ctr"/>
          <a:lstStyle/>
          <a:p>
            <a:pPr indent="0" marL="0">
              <a:buNone/>
            </a:pPr>
            <a:endParaRPr lang="en-US" dirty="0"/>
          </a:p>
        </p:txBody>
      </p:sp>
      <p:sp>
        <p:nvSpPr>
          <p:cNvPr id="17" name="Text 15"/>
          <p:cNvSpPr/>
          <p:nvPr/>
        </p:nvSpPr>
        <p:spPr>
          <a:xfrm>
            <a:off x="4775150" y="1396752"/>
            <a:ext cx="3808628" cy="200025"/>
          </a:xfrm>
          <a:prstGeom prst="rect">
            <a:avLst/>
          </a:prstGeom>
          <a:noFill/>
          <a:ln/>
        </p:spPr>
        <p:txBody>
          <a:bodyPr wrap="square" lIns="0" tIns="0" rIns="0" bIns="0" rtlCol="0" anchor="t"/>
          <a:lstStyle/>
          <a:p>
            <a:pPr algn="l" indent="0" marL="0">
              <a:spcBef>
                <a:spcPts val="1100"/>
              </a:spcBef>
              <a:spcAft>
                <a:spcPts val="600"/>
              </a:spcAft>
              <a:buNone/>
            </a:pPr>
            <a:r>
              <a:rPr lang="en-US" sz="1100" b="1" dirty="0">
                <a:solidFill>
                  <a:srgbClr val="40695B"/>
                </a:solidFill>
                <a:latin typeface="Arial" pitchFamily="34" charset="0"/>
                <a:ea typeface="Arial" pitchFamily="34" charset="-122"/>
                <a:cs typeface="Arial" pitchFamily="34" charset="-120"/>
              </a:rPr>
              <a:t>HC/mHC 配置</a:t>
            </a:r>
            <a:endParaRPr lang="en-US" sz="1100" dirty="0"/>
          </a:p>
        </p:txBody>
      </p:sp>
      <p:sp>
        <p:nvSpPr>
          <p:cNvPr id="18" name="Text 16"/>
          <p:cNvSpPr/>
          <p:nvPr/>
        </p:nvSpPr>
        <p:spPr>
          <a:xfrm>
            <a:off x="4775150" y="1672977"/>
            <a:ext cx="3808628" cy="180975"/>
          </a:xfrm>
          <a:prstGeom prst="rect">
            <a:avLst/>
          </a:prstGeom>
          <a:noFill/>
          <a:ln/>
        </p:spPr>
        <p:txBody>
          <a:bodyPr wrap="square" lIns="0" tIns="0" rIns="0" bIns="0" rtlCol="0" anchor="t"/>
          <a:lstStyle/>
          <a:p>
            <a:pPr algn="l" indent="0" marL="0">
              <a:spcBef>
                <a:spcPts val="300"/>
              </a:spcBef>
              <a:spcAft>
                <a:spcPts val="300"/>
              </a:spcAft>
              <a:buNone/>
            </a:pPr>
            <a:r>
              <a:rPr lang="en-US" sz="1000" dirty="0">
                <a:solidFill>
                  <a:srgbClr val="333333"/>
                </a:solidFill>
                <a:latin typeface="Arial" pitchFamily="34" charset="0"/>
                <a:ea typeface="Arial" pitchFamily="34" charset="-122"/>
                <a:cs typeface="Arial" pitchFamily="34" charset="-120"/>
              </a:rPr>
              <a:t>扩展率 n: </a:t>
            </a:r>
            <a:pPr algn="l" indent="0" marL="0">
              <a:spcBef>
                <a:spcPts val="300"/>
              </a:spcBef>
              <a:spcAft>
                <a:spcPts val="300"/>
              </a:spcAft>
              <a:buNone/>
            </a:pPr>
            <a:r>
              <a:rPr lang="en-US" sz="1000" dirty="0">
                <a:solidFill>
                  <a:srgbClr val="666666"/>
                </a:solidFill>
                <a:latin typeface="Arial" pitchFamily="34" charset="0"/>
                <a:ea typeface="Arial" pitchFamily="34" charset="-122"/>
                <a:cs typeface="Arial" pitchFamily="34" charset="-120"/>
              </a:rPr>
              <a:t>4 (4条并行信息流)</a:t>
            </a:r>
            <a:endParaRPr lang="en-US" sz="1000" dirty="0"/>
          </a:p>
        </p:txBody>
      </p:sp>
      <p:sp>
        <p:nvSpPr>
          <p:cNvPr id="19" name="Text 17"/>
          <p:cNvSpPr/>
          <p:nvPr/>
        </p:nvSpPr>
        <p:spPr>
          <a:xfrm>
            <a:off x="4775150" y="1892052"/>
            <a:ext cx="3808628" cy="180975"/>
          </a:xfrm>
          <a:prstGeom prst="rect">
            <a:avLst/>
          </a:prstGeom>
          <a:noFill/>
          <a:ln/>
        </p:spPr>
        <p:txBody>
          <a:bodyPr wrap="square" lIns="0" tIns="0" rIns="0" bIns="0" rtlCol="0" anchor="t"/>
          <a:lstStyle/>
          <a:p>
            <a:pPr algn="l" indent="0" marL="0">
              <a:spcBef>
                <a:spcPts val="300"/>
              </a:spcBef>
              <a:spcAft>
                <a:spcPts val="300"/>
              </a:spcAft>
              <a:buNone/>
            </a:pPr>
            <a:r>
              <a:rPr lang="en-US" sz="1000" dirty="0">
                <a:solidFill>
                  <a:srgbClr val="333333"/>
                </a:solidFill>
                <a:latin typeface="Arial" pitchFamily="34" charset="0"/>
                <a:ea typeface="Arial" pitchFamily="34" charset="-122"/>
                <a:cs typeface="Arial" pitchFamily="34" charset="-120"/>
              </a:rPr>
              <a:t>Sinkhorn 迭代: </a:t>
            </a:r>
            <a:pPr algn="l" indent="0" marL="0">
              <a:spcBef>
                <a:spcPts val="300"/>
              </a:spcBef>
              <a:spcAft>
                <a:spcPts val="300"/>
              </a:spcAft>
              <a:buNone/>
            </a:pPr>
            <a:r>
              <a:rPr lang="en-US" sz="1000" dirty="0">
                <a:solidFill>
                  <a:srgbClr val="666666"/>
                </a:solidFill>
                <a:latin typeface="Arial" pitchFamily="34" charset="0"/>
                <a:ea typeface="Arial" pitchFamily="34" charset="-122"/>
                <a:cs typeface="Arial" pitchFamily="34" charset="-120"/>
              </a:rPr>
              <a:t>3 次</a:t>
            </a:r>
            <a:endParaRPr lang="en-US" sz="1000" dirty="0"/>
          </a:p>
        </p:txBody>
      </p:sp>
      <p:sp>
        <p:nvSpPr>
          <p:cNvPr id="20" name="Text 18"/>
          <p:cNvSpPr/>
          <p:nvPr/>
        </p:nvSpPr>
        <p:spPr>
          <a:xfrm>
            <a:off x="4775150" y="2111127"/>
            <a:ext cx="3808628" cy="180975"/>
          </a:xfrm>
          <a:prstGeom prst="rect">
            <a:avLst/>
          </a:prstGeom>
          <a:noFill/>
          <a:ln/>
        </p:spPr>
        <p:txBody>
          <a:bodyPr wrap="square" lIns="0" tIns="0" rIns="0" bIns="0" rtlCol="0" anchor="t"/>
          <a:lstStyle/>
          <a:p>
            <a:pPr algn="l" indent="0" marL="0">
              <a:spcBef>
                <a:spcPts val="300"/>
              </a:spcBef>
              <a:spcAft>
                <a:spcPts val="300"/>
              </a:spcAft>
              <a:buNone/>
            </a:pPr>
            <a:r>
              <a:rPr lang="en-US" sz="1000" dirty="0">
                <a:solidFill>
                  <a:srgbClr val="333333"/>
                </a:solidFill>
                <a:latin typeface="Arial" pitchFamily="34" charset="0"/>
                <a:ea typeface="Arial" pitchFamily="34" charset="-122"/>
                <a:cs typeface="Arial" pitchFamily="34" charset="-120"/>
              </a:rPr>
              <a:t>精度: </a:t>
            </a:r>
            <a:pPr algn="l" indent="0" marL="0">
              <a:spcBef>
                <a:spcPts val="300"/>
              </a:spcBef>
              <a:spcAft>
                <a:spcPts val="300"/>
              </a:spcAft>
              <a:buNone/>
            </a:pPr>
            <a:r>
              <a:rPr lang="en-US" sz="1000" dirty="0">
                <a:solidFill>
                  <a:srgbClr val="666666"/>
                </a:solidFill>
                <a:latin typeface="Arial" pitchFamily="34" charset="0"/>
                <a:ea typeface="Arial" pitchFamily="34" charset="-122"/>
                <a:cs typeface="Arial" pitchFamily="34" charset="-120"/>
              </a:rPr>
              <a:t>BF16 混合精度</a:t>
            </a:r>
            <a:endParaRPr lang="en-US" sz="1000" dirty="0"/>
          </a:p>
        </p:txBody>
      </p:sp>
      <p:sp>
        <p:nvSpPr>
          <p:cNvPr id="21" name="Text 19"/>
          <p:cNvSpPr/>
          <p:nvPr/>
        </p:nvSpPr>
        <p:spPr>
          <a:xfrm>
            <a:off x="4648200" y="2558653"/>
            <a:ext cx="3987850" cy="1107877"/>
          </a:xfrm>
          <a:prstGeom prst="roundRect">
            <a:avLst>
              <a:gd name="adj" fmla="val 6878"/>
            </a:avLst>
          </a:prstGeom>
          <a:solidFill>
            <a:srgbClr val="F5F5F7"/>
          </a:solidFill>
          <a:ln/>
        </p:spPr>
        <p:txBody>
          <a:bodyPr wrap="square" rtlCol="0" anchor="ctr"/>
          <a:lstStyle/>
          <a:p>
            <a:pPr indent="0" marL="0">
              <a:buNone/>
            </a:pPr>
            <a:endParaRPr lang="en-US" dirty="0"/>
          </a:p>
        </p:txBody>
      </p:sp>
      <p:sp>
        <p:nvSpPr>
          <p:cNvPr id="22" name="Text 20"/>
          <p:cNvSpPr/>
          <p:nvPr/>
        </p:nvSpPr>
        <p:spPr>
          <a:xfrm>
            <a:off x="4775150" y="2825204"/>
            <a:ext cx="3808628" cy="200025"/>
          </a:xfrm>
          <a:prstGeom prst="rect">
            <a:avLst/>
          </a:prstGeom>
          <a:noFill/>
          <a:ln/>
        </p:spPr>
        <p:txBody>
          <a:bodyPr wrap="square" lIns="0" tIns="0" rIns="0" bIns="0" rtlCol="0" anchor="t"/>
          <a:lstStyle/>
          <a:p>
            <a:pPr algn="l" indent="0" marL="0">
              <a:spcBef>
                <a:spcPts val="1100"/>
              </a:spcBef>
              <a:spcAft>
                <a:spcPts val="600"/>
              </a:spcAft>
              <a:buNone/>
            </a:pPr>
            <a:r>
              <a:rPr lang="en-US" sz="1100" b="1" dirty="0">
                <a:solidFill>
                  <a:srgbClr val="40695B"/>
                </a:solidFill>
                <a:latin typeface="Arial" pitchFamily="34" charset="0"/>
                <a:ea typeface="Arial" pitchFamily="34" charset="-122"/>
                <a:cs typeface="Arial" pitchFamily="34" charset="-120"/>
              </a:rPr>
              <a:t>训练数据</a:t>
            </a:r>
            <a:endParaRPr lang="en-US" sz="1100" dirty="0"/>
          </a:p>
        </p:txBody>
      </p:sp>
      <p:sp>
        <p:nvSpPr>
          <p:cNvPr id="23" name="Text 21"/>
          <p:cNvSpPr/>
          <p:nvPr/>
        </p:nvSpPr>
        <p:spPr>
          <a:xfrm>
            <a:off x="4775150" y="3101429"/>
            <a:ext cx="3808628" cy="180975"/>
          </a:xfrm>
          <a:prstGeom prst="rect">
            <a:avLst/>
          </a:prstGeom>
          <a:noFill/>
          <a:ln/>
        </p:spPr>
        <p:txBody>
          <a:bodyPr wrap="square" lIns="0" tIns="0" rIns="0" bIns="0" rtlCol="0" anchor="t"/>
          <a:lstStyle/>
          <a:p>
            <a:pPr algn="l" indent="0" marL="0">
              <a:spcBef>
                <a:spcPts val="300"/>
              </a:spcBef>
              <a:spcAft>
                <a:spcPts val="300"/>
              </a:spcAft>
              <a:buNone/>
            </a:pPr>
            <a:r>
              <a:rPr lang="en-US" sz="1000" dirty="0">
                <a:solidFill>
                  <a:srgbClr val="333333"/>
                </a:solidFill>
                <a:latin typeface="Arial" pitchFamily="34" charset="0"/>
                <a:ea typeface="Arial" pitchFamily="34" charset="-122"/>
                <a:cs typeface="Arial" pitchFamily="34" charset="-120"/>
              </a:rPr>
              <a:t>数据量: </a:t>
            </a:r>
            <a:pPr algn="l" indent="0" marL="0">
              <a:spcBef>
                <a:spcPts val="300"/>
              </a:spcBef>
              <a:spcAft>
                <a:spcPts val="300"/>
              </a:spcAft>
              <a:buNone/>
            </a:pPr>
            <a:r>
              <a:rPr lang="en-US" sz="1000" dirty="0">
                <a:solidFill>
                  <a:srgbClr val="666666"/>
                </a:solidFill>
                <a:latin typeface="Arial" pitchFamily="34" charset="0"/>
                <a:ea typeface="Arial" pitchFamily="34" charset="-122"/>
                <a:cs typeface="Arial" pitchFamily="34" charset="-120"/>
              </a:rPr>
              <a:t>2T tokens</a:t>
            </a:r>
            <a:endParaRPr lang="en-US" sz="1000" dirty="0"/>
          </a:p>
        </p:txBody>
      </p:sp>
      <p:sp>
        <p:nvSpPr>
          <p:cNvPr id="24" name="Text 22"/>
          <p:cNvSpPr/>
          <p:nvPr/>
        </p:nvSpPr>
        <p:spPr>
          <a:xfrm>
            <a:off x="4775150" y="3320504"/>
            <a:ext cx="3808628" cy="180975"/>
          </a:xfrm>
          <a:prstGeom prst="rect">
            <a:avLst/>
          </a:prstGeom>
          <a:noFill/>
          <a:ln/>
        </p:spPr>
        <p:txBody>
          <a:bodyPr wrap="square" lIns="0" tIns="0" rIns="0" bIns="0" rtlCol="0" anchor="t"/>
          <a:lstStyle/>
          <a:p>
            <a:pPr algn="l" indent="0" marL="0">
              <a:spcBef>
                <a:spcPts val="300"/>
              </a:spcBef>
              <a:spcAft>
                <a:spcPts val="300"/>
              </a:spcAft>
              <a:buNone/>
            </a:pPr>
            <a:r>
              <a:rPr lang="en-US" sz="1000" dirty="0">
                <a:solidFill>
                  <a:srgbClr val="333333"/>
                </a:solidFill>
                <a:latin typeface="Arial" pitchFamily="34" charset="0"/>
                <a:ea typeface="Arial" pitchFamily="34" charset="-122"/>
                <a:cs typeface="Arial" pitchFamily="34" charset="-120"/>
              </a:rPr>
              <a:t>来源: </a:t>
            </a:r>
            <a:pPr algn="l" indent="0" marL="0">
              <a:spcBef>
                <a:spcPts val="300"/>
              </a:spcBef>
              <a:spcAft>
                <a:spcPts val="300"/>
              </a:spcAft>
              <a:buNone/>
            </a:pPr>
            <a:r>
              <a:rPr lang="en-US" sz="1000" dirty="0">
                <a:solidFill>
                  <a:srgbClr val="666666"/>
                </a:solidFill>
                <a:latin typeface="Arial" pitchFamily="34" charset="0"/>
                <a:ea typeface="Arial" pitchFamily="34" charset="-122"/>
                <a:cs typeface="Arial" pitchFamily="34" charset="-120"/>
              </a:rPr>
              <a:t>DeepSeek 内部数据集</a:t>
            </a:r>
            <a:endParaRPr lang="en-US" sz="1000" dirty="0"/>
          </a:p>
        </p:txBody>
      </p:sp>
      <p:sp>
        <p:nvSpPr>
          <p:cNvPr id="25" name="Text 23"/>
          <p:cNvSpPr/>
          <p:nvPr/>
        </p:nvSpPr>
        <p:spPr>
          <a:xfrm>
            <a:off x="507950" y="4114056"/>
            <a:ext cx="8128099" cy="733127"/>
          </a:xfrm>
          <a:prstGeom prst="roundRect">
            <a:avLst>
              <a:gd name="adj" fmla="val 10394"/>
            </a:avLst>
          </a:prstGeom>
          <a:solidFill>
            <a:srgbClr val="181B24"/>
          </a:solidFill>
          <a:ln/>
        </p:spPr>
        <p:txBody>
          <a:bodyPr wrap="square" rtlCol="0" anchor="ctr"/>
          <a:lstStyle/>
          <a:p>
            <a:pPr indent="0" marL="0">
              <a:buNone/>
            </a:pPr>
            <a:endParaRPr lang="en-US" dirty="0"/>
          </a:p>
        </p:txBody>
      </p:sp>
      <p:sp>
        <p:nvSpPr>
          <p:cNvPr id="26" name="Text 24"/>
          <p:cNvSpPr/>
          <p:nvPr/>
        </p:nvSpPr>
        <p:spPr>
          <a:xfrm>
            <a:off x="660350" y="4380607"/>
            <a:ext cx="7979765" cy="200025"/>
          </a:xfrm>
          <a:prstGeom prst="rect">
            <a:avLst/>
          </a:prstGeom>
          <a:noFill/>
          <a:ln/>
        </p:spPr>
        <p:txBody>
          <a:bodyPr wrap="square" lIns="0" tIns="0" rIns="0" bIns="0" rtlCol="0" anchor="t"/>
          <a:lstStyle/>
          <a:p>
            <a:pPr algn="l" indent="0" marL="0">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实验重点关注 </a:t>
            </a:r>
            <a:pPr algn="l" indent="0" marL="0">
              <a:spcBef>
                <a:spcPts val="1100"/>
              </a:spcBef>
              <a:spcAft>
                <a:spcPts val="1100"/>
              </a:spcAft>
              <a:buNone/>
            </a:pPr>
            <a:r>
              <a:rPr lang="en-US" sz="1100" b="1" dirty="0">
                <a:solidFill>
                  <a:srgbClr val="B165FB"/>
                </a:solidFill>
                <a:latin typeface="Arial" pitchFamily="34" charset="0"/>
                <a:ea typeface="Arial" pitchFamily="34" charset="-122"/>
                <a:cs typeface="Arial" pitchFamily="34" charset="-120"/>
              </a:rPr>
              <a:t>27B 参数模型</a:t>
            </a:r>
            <a:pPr algn="l" indent="0" marL="0">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，这是 HC 问题最严重的规模，也是验证 mHC 有效性的关键。</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Shape 1"/>
          <p:cNvSpPr/>
          <p:nvPr/>
        </p:nvSpPr>
        <p:spPr>
          <a:xfrm>
            <a:off x="546050" y="190500"/>
            <a:ext cx="0" cy="352425"/>
          </a:xfrm>
          <a:prstGeom prst="line">
            <a:avLst/>
          </a:prstGeom>
          <a:noFill/>
          <a:ln w="76200">
            <a:solidFill>
              <a:srgbClr val="40695B"/>
            </a:solidFill>
            <a:prstDash val="solid"/>
          </a:ln>
        </p:spPr>
      </p:sp>
      <p:sp>
        <p:nvSpPr>
          <p:cNvPr id="4" name="Text 2"/>
          <p:cNvSpPr/>
          <p:nvPr/>
        </p:nvSpPr>
        <p:spPr>
          <a:xfrm>
            <a:off x="774650" y="190500"/>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官方实验结果</a:t>
            </a:r>
            <a:endParaRPr lang="en-US" sz="2000" dirty="0"/>
          </a:p>
        </p:txBody>
      </p:sp>
      <p:sp>
        <p:nvSpPr>
          <p:cNvPr id="5" name="Text 3"/>
          <p:cNvSpPr/>
          <p:nvPr/>
        </p:nvSpPr>
        <p:spPr>
          <a:xfrm>
            <a:off x="507950" y="644426"/>
            <a:ext cx="2641699" cy="1790254"/>
          </a:xfrm>
          <a:prstGeom prst="roundRect">
            <a:avLst>
              <a:gd name="adj" fmla="val 4256"/>
            </a:avLst>
          </a:prstGeom>
          <a:solidFill>
            <a:srgbClr val="F0FFF0"/>
          </a:solidFill>
          <a:ln w="19050">
            <a:solidFill>
              <a:srgbClr val="40695B"/>
            </a:solidFill>
          </a:ln>
        </p:spPr>
        <p:txBody>
          <a:bodyPr wrap="square" rtlCol="0" anchor="ctr"/>
          <a:lstStyle/>
          <a:p>
            <a:pPr indent="0" marL="0">
              <a:buNone/>
            </a:pPr>
            <a:endParaRPr lang="en-US" dirty="0"/>
          </a:p>
        </p:txBody>
      </p:sp>
      <p:sp>
        <p:nvSpPr>
          <p:cNvPr id="6" name="Text 4"/>
          <p:cNvSpPr/>
          <p:nvPr/>
        </p:nvSpPr>
        <p:spPr>
          <a:xfrm>
            <a:off x="604495" y="993577"/>
            <a:ext cx="2448610" cy="304800"/>
          </a:xfrm>
          <a:prstGeom prst="rect">
            <a:avLst/>
          </a:prstGeom>
          <a:noFill/>
          <a:ln/>
        </p:spPr>
        <p:txBody>
          <a:bodyPr wrap="square" lIns="0" tIns="0" rIns="0" bIns="0" rtlCol="0" anchor="t"/>
          <a:lstStyle/>
          <a:p>
            <a:pPr algn="ctr" indent="0" marL="0">
              <a:spcBef>
                <a:spcPts val="1800"/>
              </a:spcBef>
              <a:spcAft>
                <a:spcPts val="200"/>
              </a:spcAft>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604495" y="1425327"/>
            <a:ext cx="2448610" cy="180975"/>
          </a:xfrm>
          <a:prstGeom prst="rect">
            <a:avLst/>
          </a:prstGeom>
          <a:noFill/>
          <a:ln/>
        </p:spPr>
        <p:txBody>
          <a:bodyPr wrap="square" lIns="0" tIns="0" rIns="0" bIns="0" rtlCol="0" anchor="t"/>
          <a:lstStyle/>
          <a:p>
            <a:pPr algn="ctr" indent="0" marL="0">
              <a:spcBef>
                <a:spcPts val="1000"/>
              </a:spcBef>
              <a:spcAft>
                <a:spcPts val="200"/>
              </a:spcAft>
              <a:buNone/>
            </a:pPr>
            <a:r>
              <a:rPr lang="en-US" sz="1000" b="1" dirty="0">
                <a:solidFill>
                  <a:srgbClr val="40695B"/>
                </a:solidFill>
                <a:latin typeface="Arial" pitchFamily="34" charset="0"/>
                <a:ea typeface="Arial" pitchFamily="34" charset="-122"/>
                <a:cs typeface="Arial" pitchFamily="34" charset="-120"/>
              </a:rPr>
              <a:t>训练稳定性</a:t>
            </a:r>
            <a:endParaRPr lang="en-US" sz="1000" dirty="0"/>
          </a:p>
        </p:txBody>
      </p:sp>
      <p:sp>
        <p:nvSpPr>
          <p:cNvPr id="8" name="Text 6"/>
          <p:cNvSpPr/>
          <p:nvPr/>
        </p:nvSpPr>
        <p:spPr>
          <a:xfrm>
            <a:off x="604495" y="1758702"/>
            <a:ext cx="2448610" cy="209550"/>
          </a:xfrm>
          <a:prstGeom prst="rect">
            <a:avLst/>
          </a:prstGeom>
          <a:noFill/>
          <a:ln/>
        </p:spPr>
        <p:txBody>
          <a:bodyPr wrap="square" lIns="0" tIns="0" rIns="0" bIns="0" rtlCol="0" anchor="t"/>
          <a:lstStyle/>
          <a:p>
            <a:pPr algn="ctr" indent="0" marL="0">
              <a:spcBef>
                <a:spcPts val="1200"/>
              </a:spcBef>
              <a:spcAft>
                <a:spcPts val="200"/>
              </a:spcAft>
              <a:buNone/>
            </a:pPr>
            <a:r>
              <a:rPr lang="en-US" sz="1200" b="1" dirty="0">
                <a:solidFill>
                  <a:srgbClr val="181B24"/>
                </a:solidFill>
                <a:latin typeface="Arial" pitchFamily="34" charset="0"/>
                <a:ea typeface="Arial" pitchFamily="34" charset="-122"/>
                <a:cs typeface="Arial" pitchFamily="34" charset="-120"/>
              </a:rPr>
              <a:t>完全消除</a:t>
            </a:r>
            <a:endParaRPr lang="en-US" sz="1200" dirty="0"/>
          </a:p>
        </p:txBody>
      </p:sp>
      <p:sp>
        <p:nvSpPr>
          <p:cNvPr id="9" name="Text 7"/>
          <p:cNvSpPr/>
          <p:nvPr/>
        </p:nvSpPr>
        <p:spPr>
          <a:xfrm>
            <a:off x="604495" y="2069753"/>
            <a:ext cx="2448610" cy="142875"/>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HC 中的 Loss 尖峰问题</a:t>
            </a:r>
            <a:endParaRPr lang="en-US" sz="800" dirty="0"/>
          </a:p>
        </p:txBody>
      </p:sp>
      <p:sp>
        <p:nvSpPr>
          <p:cNvPr id="10" name="Text 8"/>
          <p:cNvSpPr/>
          <p:nvPr/>
        </p:nvSpPr>
        <p:spPr>
          <a:xfrm>
            <a:off x="3251150" y="644426"/>
            <a:ext cx="2641699" cy="1790254"/>
          </a:xfrm>
          <a:prstGeom prst="roundRect">
            <a:avLst>
              <a:gd name="adj" fmla="val 4256"/>
            </a:avLst>
          </a:prstGeom>
          <a:solidFill>
            <a:srgbClr val="F0FFF0"/>
          </a:solidFill>
          <a:ln w="19050">
            <a:solidFill>
              <a:srgbClr val="40695B"/>
            </a:solidFill>
          </a:ln>
        </p:spPr>
        <p:txBody>
          <a:bodyPr wrap="square" rtlCol="0" anchor="ctr"/>
          <a:lstStyle/>
          <a:p>
            <a:pPr indent="0" marL="0">
              <a:buNone/>
            </a:pPr>
            <a:endParaRPr lang="en-US" dirty="0"/>
          </a:p>
        </p:txBody>
      </p:sp>
      <p:sp>
        <p:nvSpPr>
          <p:cNvPr id="11" name="Text 9"/>
          <p:cNvSpPr/>
          <p:nvPr/>
        </p:nvSpPr>
        <p:spPr>
          <a:xfrm>
            <a:off x="3347695" y="993577"/>
            <a:ext cx="2448610" cy="304800"/>
          </a:xfrm>
          <a:prstGeom prst="rect">
            <a:avLst/>
          </a:prstGeom>
          <a:noFill/>
          <a:ln/>
        </p:spPr>
        <p:txBody>
          <a:bodyPr wrap="square" lIns="0" tIns="0" rIns="0" bIns="0" rtlCol="0" anchor="t"/>
          <a:lstStyle/>
          <a:p>
            <a:pPr algn="ctr" indent="0" marL="0">
              <a:spcBef>
                <a:spcPts val="1800"/>
              </a:spcBef>
              <a:spcAft>
                <a:spcPts val="200"/>
              </a:spcAft>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3347695" y="1425327"/>
            <a:ext cx="2448610" cy="180975"/>
          </a:xfrm>
          <a:prstGeom prst="rect">
            <a:avLst/>
          </a:prstGeom>
          <a:noFill/>
          <a:ln/>
        </p:spPr>
        <p:txBody>
          <a:bodyPr wrap="square" lIns="0" tIns="0" rIns="0" bIns="0" rtlCol="0" anchor="t"/>
          <a:lstStyle/>
          <a:p>
            <a:pPr algn="ctr" indent="0" marL="0">
              <a:spcBef>
                <a:spcPts val="1000"/>
              </a:spcBef>
              <a:spcAft>
                <a:spcPts val="200"/>
              </a:spcAft>
              <a:buNone/>
            </a:pPr>
            <a:r>
              <a:rPr lang="en-US" sz="1000" b="1" dirty="0">
                <a:solidFill>
                  <a:srgbClr val="40695B"/>
                </a:solidFill>
                <a:latin typeface="Arial" pitchFamily="34" charset="0"/>
                <a:ea typeface="Arial" pitchFamily="34" charset="-122"/>
                <a:cs typeface="Arial" pitchFamily="34" charset="-120"/>
              </a:rPr>
              <a:t>收敛性能</a:t>
            </a:r>
            <a:endParaRPr lang="en-US" sz="1000" dirty="0"/>
          </a:p>
        </p:txBody>
      </p:sp>
      <p:sp>
        <p:nvSpPr>
          <p:cNvPr id="13" name="Text 11"/>
          <p:cNvSpPr/>
          <p:nvPr/>
        </p:nvSpPr>
        <p:spPr>
          <a:xfrm>
            <a:off x="3347695" y="1758702"/>
            <a:ext cx="2448610" cy="171450"/>
          </a:xfrm>
          <a:prstGeom prst="rect">
            <a:avLst/>
          </a:prstGeom>
          <a:noFill/>
          <a:ln/>
        </p:spPr>
        <p:txBody>
          <a:bodyPr wrap="square" lIns="0" tIns="0" rIns="0" bIns="0" rtlCol="0" anchor="t"/>
          <a:lstStyle/>
          <a:p>
            <a:pPr algn="ctr" indent="0" marL="0">
              <a:spcBef>
                <a:spcPts val="1200"/>
              </a:spcBef>
              <a:spcAft>
                <a:spcPts val="200"/>
              </a:spcAft>
              <a:buNone/>
            </a:pPr>
            <a:r>
              <a:rPr lang="en-US" sz="1200" b="1" dirty="0">
                <a:solidFill>
                  <a:srgbClr val="181B24"/>
                </a:solidFill>
                <a:latin typeface="Arial" pitchFamily="34" charset="0"/>
                <a:ea typeface="Arial" pitchFamily="34" charset="-122"/>
                <a:cs typeface="Arial" pitchFamily="34" charset="-120"/>
              </a:rPr>
              <a:t>-0.021</a:t>
            </a:r>
            <a:endParaRPr lang="en-US" sz="1200" dirty="0"/>
          </a:p>
        </p:txBody>
      </p:sp>
      <p:sp>
        <p:nvSpPr>
          <p:cNvPr id="14" name="Text 12"/>
          <p:cNvSpPr/>
          <p:nvPr/>
        </p:nvSpPr>
        <p:spPr>
          <a:xfrm>
            <a:off x="3347695" y="2031653"/>
            <a:ext cx="2448610" cy="142875"/>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最终 Loss 降低</a:t>
            </a:r>
            <a:endParaRPr lang="en-US" sz="800" dirty="0"/>
          </a:p>
        </p:txBody>
      </p:sp>
      <p:sp>
        <p:nvSpPr>
          <p:cNvPr id="15" name="Text 13"/>
          <p:cNvSpPr/>
          <p:nvPr/>
        </p:nvSpPr>
        <p:spPr>
          <a:xfrm>
            <a:off x="5994350" y="644426"/>
            <a:ext cx="2641699" cy="1790254"/>
          </a:xfrm>
          <a:prstGeom prst="roundRect">
            <a:avLst>
              <a:gd name="adj" fmla="val 4256"/>
            </a:avLst>
          </a:prstGeom>
          <a:solidFill>
            <a:srgbClr val="F0FFF0"/>
          </a:solidFill>
          <a:ln w="19050">
            <a:solidFill>
              <a:srgbClr val="40695B"/>
            </a:solidFill>
          </a:ln>
        </p:spPr>
        <p:txBody>
          <a:bodyPr wrap="square" rtlCol="0" anchor="ctr"/>
          <a:lstStyle/>
          <a:p>
            <a:pPr indent="0" marL="0">
              <a:buNone/>
            </a:pPr>
            <a:endParaRPr lang="en-US" dirty="0"/>
          </a:p>
        </p:txBody>
      </p:sp>
      <p:sp>
        <p:nvSpPr>
          <p:cNvPr id="16" name="Text 14"/>
          <p:cNvSpPr/>
          <p:nvPr/>
        </p:nvSpPr>
        <p:spPr>
          <a:xfrm>
            <a:off x="6090895" y="993577"/>
            <a:ext cx="2448610" cy="304800"/>
          </a:xfrm>
          <a:prstGeom prst="rect">
            <a:avLst/>
          </a:prstGeom>
          <a:noFill/>
          <a:ln/>
        </p:spPr>
        <p:txBody>
          <a:bodyPr wrap="square" lIns="0" tIns="0" rIns="0" bIns="0" rtlCol="0" anchor="t"/>
          <a:lstStyle/>
          <a:p>
            <a:pPr algn="ctr" indent="0" marL="0">
              <a:spcBef>
                <a:spcPts val="1800"/>
              </a:spcBef>
              <a:spcAft>
                <a:spcPts val="200"/>
              </a:spcAft>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6090895" y="1425327"/>
            <a:ext cx="2448610" cy="180975"/>
          </a:xfrm>
          <a:prstGeom prst="rect">
            <a:avLst/>
          </a:prstGeom>
          <a:noFill/>
          <a:ln/>
        </p:spPr>
        <p:txBody>
          <a:bodyPr wrap="square" lIns="0" tIns="0" rIns="0" bIns="0" rtlCol="0" anchor="t"/>
          <a:lstStyle/>
          <a:p>
            <a:pPr algn="ctr" indent="0" marL="0">
              <a:spcBef>
                <a:spcPts val="1000"/>
              </a:spcBef>
              <a:spcAft>
                <a:spcPts val="200"/>
              </a:spcAft>
              <a:buNone/>
            </a:pPr>
            <a:r>
              <a:rPr lang="en-US" sz="1000" b="1" dirty="0">
                <a:solidFill>
                  <a:srgbClr val="40695B"/>
                </a:solidFill>
                <a:latin typeface="Arial" pitchFamily="34" charset="0"/>
                <a:ea typeface="Arial" pitchFamily="34" charset="-122"/>
                <a:cs typeface="Arial" pitchFamily="34" charset="-120"/>
              </a:rPr>
              <a:t>收敛速度</a:t>
            </a:r>
            <a:endParaRPr lang="en-US" sz="1000" dirty="0"/>
          </a:p>
        </p:txBody>
      </p:sp>
      <p:sp>
        <p:nvSpPr>
          <p:cNvPr id="18" name="Text 16"/>
          <p:cNvSpPr/>
          <p:nvPr/>
        </p:nvSpPr>
        <p:spPr>
          <a:xfrm>
            <a:off x="6090895" y="1758702"/>
            <a:ext cx="2448610" cy="171450"/>
          </a:xfrm>
          <a:prstGeom prst="rect">
            <a:avLst/>
          </a:prstGeom>
          <a:noFill/>
          <a:ln/>
        </p:spPr>
        <p:txBody>
          <a:bodyPr wrap="square" lIns="0" tIns="0" rIns="0" bIns="0" rtlCol="0" anchor="t"/>
          <a:lstStyle/>
          <a:p>
            <a:pPr algn="ctr" indent="0" marL="0">
              <a:spcBef>
                <a:spcPts val="1200"/>
              </a:spcBef>
              <a:spcAft>
                <a:spcPts val="200"/>
              </a:spcAft>
              <a:buNone/>
            </a:pPr>
            <a:r>
              <a:rPr lang="en-US" sz="1200" b="1" dirty="0">
                <a:solidFill>
                  <a:srgbClr val="181B24"/>
                </a:solidFill>
                <a:latin typeface="Arial" pitchFamily="34" charset="0"/>
                <a:ea typeface="Arial" pitchFamily="34" charset="-122"/>
                <a:cs typeface="Arial" pitchFamily="34" charset="-120"/>
              </a:rPr>
              <a:t>~1.8x</a:t>
            </a:r>
            <a:endParaRPr lang="en-US" sz="1200" dirty="0"/>
          </a:p>
        </p:txBody>
      </p:sp>
      <p:sp>
        <p:nvSpPr>
          <p:cNvPr id="19" name="Text 17"/>
          <p:cNvSpPr/>
          <p:nvPr/>
        </p:nvSpPr>
        <p:spPr>
          <a:xfrm>
            <a:off x="6090895" y="2031653"/>
            <a:ext cx="2448610" cy="142875"/>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666666"/>
                </a:solidFill>
                <a:latin typeface="Arial" pitchFamily="34" charset="0"/>
                <a:ea typeface="Arial" pitchFamily="34" charset="-122"/>
                <a:cs typeface="Arial" pitchFamily="34" charset="-120"/>
              </a:rPr>
              <a:t>MoE 模型加速</a:t>
            </a:r>
            <a:endParaRPr lang="en-US" sz="800" dirty="0"/>
          </a:p>
        </p:txBody>
      </p:sp>
      <p:sp>
        <p:nvSpPr>
          <p:cNvPr id="20" name="Text 18"/>
          <p:cNvSpPr/>
          <p:nvPr/>
        </p:nvSpPr>
        <p:spPr>
          <a:xfrm>
            <a:off x="507950" y="2536180"/>
            <a:ext cx="8128099" cy="1307753"/>
          </a:xfrm>
          <a:prstGeom prst="roundRect">
            <a:avLst>
              <a:gd name="adj" fmla="val 5827"/>
            </a:avLst>
          </a:prstGeom>
          <a:solidFill>
            <a:srgbClr val="181B24"/>
          </a:solidFill>
          <a:ln/>
        </p:spPr>
        <p:txBody>
          <a:bodyPr wrap="square" rtlCol="0" anchor="ctr"/>
          <a:lstStyle/>
          <a:p>
            <a:pPr indent="0" marL="0">
              <a:buNone/>
            </a:pPr>
            <a:endParaRPr lang="en-US" dirty="0"/>
          </a:p>
        </p:txBody>
      </p:sp>
      <p:sp>
        <p:nvSpPr>
          <p:cNvPr id="21" name="Text 19"/>
          <p:cNvSpPr/>
          <p:nvPr/>
        </p:nvSpPr>
        <p:spPr>
          <a:xfrm>
            <a:off x="634901" y="2764631"/>
            <a:ext cx="8031682" cy="180975"/>
          </a:xfrm>
          <a:prstGeom prst="rect">
            <a:avLst/>
          </a:prstGeom>
          <a:noFill/>
          <a:ln/>
        </p:spPr>
        <p:txBody>
          <a:bodyPr wrap="square" lIns="0" tIns="0" rIns="0" bIns="0" rtlCol="0" anchor="t"/>
          <a:lstStyle/>
          <a:p>
            <a:pPr algn="l" indent="0" marL="0">
              <a:spcBef>
                <a:spcPts val="1000"/>
              </a:spcBef>
              <a:spcAft>
                <a:spcPts val="600"/>
              </a:spcAft>
              <a:buNone/>
            </a:pPr>
            <a:r>
              <a:rPr lang="en-US" sz="1000" b="1" dirty="0">
                <a:solidFill>
                  <a:srgbClr val="B165FB"/>
                </a:solidFill>
                <a:latin typeface="Arial" pitchFamily="34" charset="0"/>
                <a:ea typeface="Arial" pitchFamily="34" charset="-122"/>
                <a:cs typeface="Arial" pitchFamily="34" charset="-120"/>
              </a:rPr>
              <a:t>下游任务性能提升 (27B模型)</a:t>
            </a:r>
            <a:endParaRPr lang="en-US" sz="1000" dirty="0"/>
          </a:p>
        </p:txBody>
      </p:sp>
      <p:sp>
        <p:nvSpPr>
          <p:cNvPr id="22" name="Text 20"/>
          <p:cNvSpPr/>
          <p:nvPr/>
        </p:nvSpPr>
        <p:spPr>
          <a:xfrm>
            <a:off x="616644" y="3123307"/>
            <a:ext cx="1862188" cy="142875"/>
          </a:xfrm>
          <a:prstGeom prst="rect">
            <a:avLst/>
          </a:prstGeom>
          <a:noFill/>
          <a:ln/>
        </p:spPr>
        <p:txBody>
          <a:bodyPr wrap="square" lIns="0" tIns="0" rIns="0" bIns="0" rtlCol="0" anchor="t"/>
          <a:lstStyle/>
          <a:p>
            <a:pPr algn="ctr" indent="0" marL="0">
              <a:spcBef>
                <a:spcPts val="800"/>
              </a:spcBef>
              <a:spcAft>
                <a:spcPts val="200"/>
              </a:spcAft>
              <a:buNone/>
            </a:pPr>
            <a:r>
              <a:rPr lang="en-US" sz="800" dirty="0">
                <a:solidFill>
                  <a:srgbClr val="888888"/>
                </a:solidFill>
                <a:latin typeface="Arial" pitchFamily="34" charset="0"/>
                <a:ea typeface="Arial" pitchFamily="34" charset="-122"/>
                <a:cs typeface="Arial" pitchFamily="34" charset="-120"/>
              </a:rPr>
              <a:t>BBH (推理)</a:t>
            </a:r>
            <a:endParaRPr lang="en-US" sz="800" dirty="0"/>
          </a:p>
        </p:txBody>
      </p:sp>
      <p:sp>
        <p:nvSpPr>
          <p:cNvPr id="23" name="Text 21"/>
          <p:cNvSpPr/>
          <p:nvPr/>
        </p:nvSpPr>
        <p:spPr>
          <a:xfrm>
            <a:off x="616644" y="3418582"/>
            <a:ext cx="1862188" cy="171450"/>
          </a:xfrm>
          <a:prstGeom prst="rect">
            <a:avLst/>
          </a:prstGeom>
          <a:noFill/>
          <a:ln/>
        </p:spPr>
        <p:txBody>
          <a:bodyPr wrap="square" lIns="0" tIns="0" rIns="0" bIns="0" rtlCol="0" anchor="t"/>
          <a:lstStyle/>
          <a:p>
            <a:pPr algn="ctr" indent="0" marL="0">
              <a:spcBef>
                <a:spcPts val="1200"/>
              </a:spcBef>
              <a:spcAft>
                <a:spcPts val="1200"/>
              </a:spcAft>
              <a:buNone/>
            </a:pPr>
            <a:r>
              <a:rPr lang="en-US" sz="1200" b="1" dirty="0">
                <a:solidFill>
                  <a:srgbClr val="40695B"/>
                </a:solidFill>
                <a:latin typeface="Arial" pitchFamily="34" charset="0"/>
                <a:ea typeface="Arial" pitchFamily="34" charset="-122"/>
                <a:cs typeface="Arial" pitchFamily="34" charset="-120"/>
              </a:rPr>
              <a:t>+2.1%</a:t>
            </a:r>
            <a:endParaRPr lang="en-US" sz="1200" dirty="0"/>
          </a:p>
        </p:txBody>
      </p:sp>
      <p:sp>
        <p:nvSpPr>
          <p:cNvPr id="24" name="Text 22"/>
          <p:cNvSpPr/>
          <p:nvPr/>
        </p:nvSpPr>
        <p:spPr>
          <a:xfrm>
            <a:off x="2632819" y="3123307"/>
            <a:ext cx="1862188" cy="142875"/>
          </a:xfrm>
          <a:prstGeom prst="rect">
            <a:avLst/>
          </a:prstGeom>
          <a:noFill/>
          <a:ln/>
        </p:spPr>
        <p:txBody>
          <a:bodyPr wrap="square" lIns="0" tIns="0" rIns="0" bIns="0" rtlCol="0" anchor="t"/>
          <a:lstStyle/>
          <a:p>
            <a:pPr algn="ctr" indent="0" marL="0">
              <a:spcBef>
                <a:spcPts val="800"/>
              </a:spcBef>
              <a:spcAft>
                <a:spcPts val="200"/>
              </a:spcAft>
              <a:buNone/>
            </a:pPr>
            <a:r>
              <a:rPr lang="en-US" sz="800" dirty="0">
                <a:solidFill>
                  <a:srgbClr val="888888"/>
                </a:solidFill>
                <a:latin typeface="Arial" pitchFamily="34" charset="0"/>
                <a:ea typeface="Arial" pitchFamily="34" charset="-122"/>
                <a:cs typeface="Arial" pitchFamily="34" charset="-120"/>
              </a:rPr>
              <a:t>DROP (阅读)</a:t>
            </a:r>
            <a:endParaRPr lang="en-US" sz="800" dirty="0"/>
          </a:p>
        </p:txBody>
      </p:sp>
      <p:sp>
        <p:nvSpPr>
          <p:cNvPr id="25" name="Text 23"/>
          <p:cNvSpPr/>
          <p:nvPr/>
        </p:nvSpPr>
        <p:spPr>
          <a:xfrm>
            <a:off x="2632819" y="3418582"/>
            <a:ext cx="1862188" cy="171450"/>
          </a:xfrm>
          <a:prstGeom prst="rect">
            <a:avLst/>
          </a:prstGeom>
          <a:noFill/>
          <a:ln/>
        </p:spPr>
        <p:txBody>
          <a:bodyPr wrap="square" lIns="0" tIns="0" rIns="0" bIns="0" rtlCol="0" anchor="t"/>
          <a:lstStyle/>
          <a:p>
            <a:pPr algn="ctr" indent="0" marL="0">
              <a:spcBef>
                <a:spcPts val="1200"/>
              </a:spcBef>
              <a:spcAft>
                <a:spcPts val="1200"/>
              </a:spcAft>
              <a:buNone/>
            </a:pPr>
            <a:r>
              <a:rPr lang="en-US" sz="1200" b="1" dirty="0">
                <a:solidFill>
                  <a:srgbClr val="40695B"/>
                </a:solidFill>
                <a:latin typeface="Arial" pitchFamily="34" charset="0"/>
                <a:ea typeface="Arial" pitchFamily="34" charset="-122"/>
                <a:cs typeface="Arial" pitchFamily="34" charset="-120"/>
              </a:rPr>
              <a:t>+2.3%</a:t>
            </a:r>
            <a:endParaRPr lang="en-US" sz="1200" dirty="0"/>
          </a:p>
        </p:txBody>
      </p:sp>
      <p:sp>
        <p:nvSpPr>
          <p:cNvPr id="26" name="Text 24"/>
          <p:cNvSpPr/>
          <p:nvPr/>
        </p:nvSpPr>
        <p:spPr>
          <a:xfrm>
            <a:off x="4648993" y="3123307"/>
            <a:ext cx="1862188" cy="114300"/>
          </a:xfrm>
          <a:prstGeom prst="rect">
            <a:avLst/>
          </a:prstGeom>
          <a:noFill/>
          <a:ln/>
        </p:spPr>
        <p:txBody>
          <a:bodyPr wrap="square" lIns="0" tIns="0" rIns="0" bIns="0" rtlCol="0" anchor="t"/>
          <a:lstStyle/>
          <a:p>
            <a:pPr algn="ctr" indent="0" marL="0">
              <a:spcBef>
                <a:spcPts val="800"/>
              </a:spcBef>
              <a:spcAft>
                <a:spcPts val="200"/>
              </a:spcAft>
              <a:buNone/>
            </a:pPr>
            <a:r>
              <a:rPr lang="en-US" sz="800" dirty="0">
                <a:solidFill>
                  <a:srgbClr val="888888"/>
                </a:solidFill>
                <a:latin typeface="Arial" pitchFamily="34" charset="0"/>
                <a:ea typeface="Arial" pitchFamily="34" charset="-122"/>
                <a:cs typeface="Arial" pitchFamily="34" charset="-120"/>
              </a:rPr>
              <a:t>MATH</a:t>
            </a:r>
            <a:endParaRPr lang="en-US" sz="800" dirty="0"/>
          </a:p>
        </p:txBody>
      </p:sp>
      <p:sp>
        <p:nvSpPr>
          <p:cNvPr id="27" name="Text 25"/>
          <p:cNvSpPr/>
          <p:nvPr/>
        </p:nvSpPr>
        <p:spPr>
          <a:xfrm>
            <a:off x="4648993" y="3390007"/>
            <a:ext cx="1862188" cy="171450"/>
          </a:xfrm>
          <a:prstGeom prst="rect">
            <a:avLst/>
          </a:prstGeom>
          <a:noFill/>
          <a:ln/>
        </p:spPr>
        <p:txBody>
          <a:bodyPr wrap="square" lIns="0" tIns="0" rIns="0" bIns="0" rtlCol="0" anchor="t"/>
          <a:lstStyle/>
          <a:p>
            <a:pPr algn="ctr" indent="0" marL="0">
              <a:spcBef>
                <a:spcPts val="1200"/>
              </a:spcBef>
              <a:spcAft>
                <a:spcPts val="1200"/>
              </a:spcAft>
              <a:buNone/>
            </a:pPr>
            <a:r>
              <a:rPr lang="en-US" sz="1200" b="1" dirty="0">
                <a:solidFill>
                  <a:srgbClr val="40695B"/>
                </a:solidFill>
                <a:latin typeface="Arial" pitchFamily="34" charset="0"/>
                <a:ea typeface="Arial" pitchFamily="34" charset="-122"/>
                <a:cs typeface="Arial" pitchFamily="34" charset="-120"/>
              </a:rPr>
              <a:t>+1.8%</a:t>
            </a:r>
            <a:endParaRPr lang="en-US" sz="1200" dirty="0"/>
          </a:p>
        </p:txBody>
      </p:sp>
      <p:sp>
        <p:nvSpPr>
          <p:cNvPr id="28" name="Text 26"/>
          <p:cNvSpPr/>
          <p:nvPr/>
        </p:nvSpPr>
        <p:spPr>
          <a:xfrm>
            <a:off x="6665168" y="3123307"/>
            <a:ext cx="1862188" cy="114300"/>
          </a:xfrm>
          <a:prstGeom prst="rect">
            <a:avLst/>
          </a:prstGeom>
          <a:noFill/>
          <a:ln/>
        </p:spPr>
        <p:txBody>
          <a:bodyPr wrap="square" lIns="0" tIns="0" rIns="0" bIns="0" rtlCol="0" anchor="t"/>
          <a:lstStyle/>
          <a:p>
            <a:pPr algn="ctr" indent="0" marL="0">
              <a:spcBef>
                <a:spcPts val="800"/>
              </a:spcBef>
              <a:spcAft>
                <a:spcPts val="200"/>
              </a:spcAft>
              <a:buNone/>
            </a:pPr>
            <a:r>
              <a:rPr lang="en-US" sz="800" dirty="0">
                <a:solidFill>
                  <a:srgbClr val="888888"/>
                </a:solidFill>
                <a:latin typeface="Arial" pitchFamily="34" charset="0"/>
                <a:ea typeface="Arial" pitchFamily="34" charset="-122"/>
                <a:cs typeface="Arial" pitchFamily="34" charset="-120"/>
              </a:rPr>
              <a:t>HumanEval</a:t>
            </a:r>
            <a:endParaRPr lang="en-US" sz="800" dirty="0"/>
          </a:p>
        </p:txBody>
      </p:sp>
      <p:sp>
        <p:nvSpPr>
          <p:cNvPr id="29" name="Text 27"/>
          <p:cNvSpPr/>
          <p:nvPr/>
        </p:nvSpPr>
        <p:spPr>
          <a:xfrm>
            <a:off x="6665168" y="3390007"/>
            <a:ext cx="1862188" cy="171450"/>
          </a:xfrm>
          <a:prstGeom prst="rect">
            <a:avLst/>
          </a:prstGeom>
          <a:noFill/>
          <a:ln/>
        </p:spPr>
        <p:txBody>
          <a:bodyPr wrap="square" lIns="0" tIns="0" rIns="0" bIns="0" rtlCol="0" anchor="t"/>
          <a:lstStyle/>
          <a:p>
            <a:pPr algn="ctr" indent="0" marL="0">
              <a:spcBef>
                <a:spcPts val="1200"/>
              </a:spcBef>
              <a:spcAft>
                <a:spcPts val="1200"/>
              </a:spcAft>
              <a:buNone/>
            </a:pPr>
            <a:r>
              <a:rPr lang="en-US" sz="1200" b="1" dirty="0">
                <a:solidFill>
                  <a:srgbClr val="40695B"/>
                </a:solidFill>
                <a:latin typeface="Arial" pitchFamily="34" charset="0"/>
                <a:ea typeface="Arial" pitchFamily="34" charset="-122"/>
                <a:cs typeface="Arial" pitchFamily="34" charset="-120"/>
              </a:rPr>
              <a:t>+1.5%</a:t>
            </a:r>
            <a:endParaRPr lang="en-US" sz="1200" dirty="0"/>
          </a:p>
        </p:txBody>
      </p:sp>
      <p:sp>
        <p:nvSpPr>
          <p:cNvPr id="30" name="Text 28"/>
          <p:cNvSpPr/>
          <p:nvPr/>
        </p:nvSpPr>
        <p:spPr>
          <a:xfrm>
            <a:off x="507950" y="3920133"/>
            <a:ext cx="8128099" cy="587276"/>
          </a:xfrm>
          <a:prstGeom prst="roundRect">
            <a:avLst>
              <a:gd name="adj" fmla="val 12975"/>
            </a:avLst>
          </a:prstGeom>
          <a:solidFill>
            <a:srgbClr val="40695B"/>
          </a:solidFill>
          <a:ln/>
        </p:spPr>
        <p:txBody>
          <a:bodyPr wrap="square" rtlCol="0" anchor="ctr"/>
          <a:lstStyle/>
          <a:p>
            <a:pPr indent="0" marL="0">
              <a:buNone/>
            </a:pPr>
            <a:endParaRPr lang="en-US" dirty="0"/>
          </a:p>
        </p:txBody>
      </p:sp>
      <p:sp>
        <p:nvSpPr>
          <p:cNvPr id="31" name="Text 29"/>
          <p:cNvSpPr/>
          <p:nvPr/>
        </p:nvSpPr>
        <p:spPr>
          <a:xfrm>
            <a:off x="556159" y="4123283"/>
            <a:ext cx="8031682" cy="180975"/>
          </a:xfrm>
          <a:prstGeom prst="rect">
            <a:avLst/>
          </a:prstGeom>
          <a:noFill/>
          <a:ln/>
        </p:spPr>
        <p:txBody>
          <a:bodyPr wrap="square" lIns="0" tIns="0" rIns="0" bIns="0" rtlCol="0" anchor="t"/>
          <a:lstStyle/>
          <a:p>
            <a:pPr algn="ctr"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关键指标：n=4 扩展倍率下，</a:t>
            </a:r>
            <a:pPr algn="ctr"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仅增加 6.7% 训练时间开销</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Shape 1"/>
          <p:cNvSpPr/>
          <p:nvPr/>
        </p:nvSpPr>
        <p:spPr>
          <a:xfrm>
            <a:off x="546050" y="190500"/>
            <a:ext cx="0" cy="352425"/>
          </a:xfrm>
          <a:prstGeom prst="line">
            <a:avLst/>
          </a:prstGeom>
          <a:noFill/>
          <a:ln w="76200">
            <a:solidFill>
              <a:srgbClr val="40695B"/>
            </a:solidFill>
            <a:prstDash val="solid"/>
          </a:ln>
        </p:spPr>
      </p:sp>
      <p:sp>
        <p:nvSpPr>
          <p:cNvPr id="4" name="Text 2"/>
          <p:cNvSpPr/>
          <p:nvPr/>
        </p:nvSpPr>
        <p:spPr>
          <a:xfrm>
            <a:off x="774650" y="190500"/>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7B 模型验证</a:t>
            </a:r>
            <a:endParaRPr lang="en-US" sz="2000" dirty="0"/>
          </a:p>
        </p:txBody>
      </p:sp>
      <p:sp>
        <p:nvSpPr>
          <p:cNvPr id="5" name="Text 3"/>
          <p:cNvSpPr/>
          <p:nvPr/>
        </p:nvSpPr>
        <p:spPr>
          <a:xfrm>
            <a:off x="507950" y="644426"/>
            <a:ext cx="3987850" cy="1672530"/>
          </a:xfrm>
          <a:prstGeom prst="roundRect">
            <a:avLst>
              <a:gd name="adj" fmla="val 4556"/>
            </a:avLst>
          </a:prstGeom>
          <a:solidFill>
            <a:srgbClr val="F5F5F7"/>
          </a:solidFill>
          <a:ln w="19050">
            <a:solidFill>
              <a:srgbClr val="666666"/>
            </a:solidFill>
          </a:ln>
        </p:spPr>
        <p:txBody>
          <a:bodyPr wrap="square" rtlCol="0" anchor="ctr"/>
          <a:lstStyle/>
          <a:p>
            <a:pPr indent="0" marL="0">
              <a:buNone/>
            </a:pPr>
            <a:endParaRPr lang="en-US" dirty="0"/>
          </a:p>
        </p:txBody>
      </p:sp>
      <p:sp>
        <p:nvSpPr>
          <p:cNvPr id="6" name="Text 4"/>
          <p:cNvSpPr/>
          <p:nvPr/>
        </p:nvSpPr>
        <p:spPr>
          <a:xfrm>
            <a:off x="653951" y="930027"/>
            <a:ext cx="3769766" cy="200025"/>
          </a:xfrm>
          <a:prstGeom prst="rect">
            <a:avLst/>
          </a:prstGeom>
          <a:noFill/>
          <a:ln/>
        </p:spPr>
        <p:txBody>
          <a:bodyPr wrap="square" lIns="0" tIns="0" rIns="0" bIns="0" rtlCol="0" anchor="t"/>
          <a:lstStyle/>
          <a:p>
            <a:pPr algn="l" indent="0" marL="0">
              <a:spcBef>
                <a:spcPts val="1100"/>
              </a:spcBef>
              <a:spcAft>
                <a:spcPts val="600"/>
              </a:spcAft>
              <a:buNone/>
            </a:pPr>
            <a:r>
              <a:rPr lang="en-US" sz="1100" b="1" dirty="0">
                <a:solidFill>
                  <a:srgbClr val="666666"/>
                </a:solidFill>
                <a:latin typeface="Arial" pitchFamily="34" charset="0"/>
                <a:ea typeface="Arial" pitchFamily="34" charset="-122"/>
                <a:cs typeface="Arial" pitchFamily="34" charset="-120"/>
              </a:rPr>
              <a:t>Dense 模型 (7B)</a:t>
            </a:r>
            <a:endParaRPr lang="en-US" sz="1100" dirty="0"/>
          </a:p>
        </p:txBody>
      </p:sp>
      <p:sp>
        <p:nvSpPr>
          <p:cNvPr id="7" name="Text 5"/>
          <p:cNvSpPr/>
          <p:nvPr/>
        </p:nvSpPr>
        <p:spPr>
          <a:xfrm>
            <a:off x="653951" y="1257002"/>
            <a:ext cx="3769766" cy="177701"/>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mHC 模型全程</a:t>
            </a:r>
            <a:pPr algn="l" indent="0" marL="0">
              <a:lnSpc>
                <a:spcPts val="1400"/>
              </a:lnSpc>
              <a:spcBef>
                <a:spcPts val="1000"/>
              </a:spcBef>
              <a:spcAft>
                <a:spcPts val="1000"/>
              </a:spcAft>
              <a:buNone/>
            </a:pPr>
            <a:r>
              <a:rPr lang="en-US" sz="1000" b="1" dirty="0">
                <a:solidFill>
                  <a:srgbClr val="40695B"/>
                </a:solidFill>
                <a:latin typeface="Arial" pitchFamily="34" charset="0"/>
                <a:ea typeface="Arial" pitchFamily="34" charset="-122"/>
                <a:cs typeface="Arial" pitchFamily="34" charset="-120"/>
              </a:rPr>
              <a:t>没有出现任何 Loss 尖峰</a:t>
            </a:r>
            <a:endParaRPr lang="en-US" sz="1000" dirty="0"/>
          </a:p>
        </p:txBody>
      </p:sp>
      <p:sp>
        <p:nvSpPr>
          <p:cNvPr id="8" name="Text 6"/>
          <p:cNvSpPr/>
          <p:nvPr/>
        </p:nvSpPr>
        <p:spPr>
          <a:xfrm>
            <a:off x="653951" y="1561654"/>
            <a:ext cx="3769766" cy="177701"/>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训练曲线平滑稳定</a:t>
            </a:r>
            <a:endParaRPr lang="en-US" sz="1000" dirty="0"/>
          </a:p>
        </p:txBody>
      </p:sp>
      <p:sp>
        <p:nvSpPr>
          <p:cNvPr id="9" name="Text 7"/>
          <p:cNvSpPr/>
          <p:nvPr/>
        </p:nvSpPr>
        <p:spPr>
          <a:xfrm>
            <a:off x="653951" y="1866305"/>
            <a:ext cx="3769766" cy="177701"/>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最终性能与 HC 相当</a:t>
            </a:r>
            <a:endParaRPr lang="en-US" sz="1000" dirty="0"/>
          </a:p>
        </p:txBody>
      </p:sp>
      <p:sp>
        <p:nvSpPr>
          <p:cNvPr id="10" name="Text 8"/>
          <p:cNvSpPr/>
          <p:nvPr/>
        </p:nvSpPr>
        <p:spPr>
          <a:xfrm>
            <a:off x="4648200" y="644426"/>
            <a:ext cx="3987850" cy="1672530"/>
          </a:xfrm>
          <a:prstGeom prst="roundRect">
            <a:avLst>
              <a:gd name="adj" fmla="val 4556"/>
            </a:avLst>
          </a:prstGeom>
          <a:solidFill>
            <a:srgbClr val="F0FFF0"/>
          </a:solidFill>
          <a:ln w="19050">
            <a:solidFill>
              <a:srgbClr val="40695B"/>
            </a:solidFill>
          </a:ln>
        </p:spPr>
        <p:txBody>
          <a:bodyPr wrap="square" rtlCol="0" anchor="ctr"/>
          <a:lstStyle/>
          <a:p>
            <a:pPr indent="0" marL="0">
              <a:buNone/>
            </a:pPr>
            <a:endParaRPr lang="en-US" dirty="0"/>
          </a:p>
        </p:txBody>
      </p:sp>
      <p:sp>
        <p:nvSpPr>
          <p:cNvPr id="11" name="Text 9"/>
          <p:cNvSpPr/>
          <p:nvPr/>
        </p:nvSpPr>
        <p:spPr>
          <a:xfrm>
            <a:off x="4794200" y="930027"/>
            <a:ext cx="3769766" cy="200025"/>
          </a:xfrm>
          <a:prstGeom prst="rect">
            <a:avLst/>
          </a:prstGeom>
          <a:noFill/>
          <a:ln/>
        </p:spPr>
        <p:txBody>
          <a:bodyPr wrap="square" lIns="0" tIns="0" rIns="0" bIns="0" rtlCol="0" anchor="t"/>
          <a:lstStyle/>
          <a:p>
            <a:pPr algn="l" indent="0" marL="0">
              <a:spcBef>
                <a:spcPts val="1100"/>
              </a:spcBef>
              <a:spcAft>
                <a:spcPts val="600"/>
              </a:spcAft>
              <a:buNone/>
            </a:pPr>
            <a:r>
              <a:rPr lang="en-US" sz="1100" b="1" dirty="0">
                <a:solidFill>
                  <a:srgbClr val="40695B"/>
                </a:solidFill>
                <a:latin typeface="Arial" pitchFamily="34" charset="0"/>
                <a:ea typeface="Arial" pitchFamily="34" charset="-122"/>
                <a:cs typeface="Arial" pitchFamily="34" charset="-120"/>
              </a:rPr>
              <a:t>MoE 模型 (7B)</a:t>
            </a:r>
            <a:endParaRPr lang="en-US" sz="1100" dirty="0"/>
          </a:p>
        </p:txBody>
      </p:sp>
      <p:sp>
        <p:nvSpPr>
          <p:cNvPr id="12" name="Text 10"/>
          <p:cNvSpPr/>
          <p:nvPr/>
        </p:nvSpPr>
        <p:spPr>
          <a:xfrm>
            <a:off x="4794200" y="1257002"/>
            <a:ext cx="3769766" cy="177701"/>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收敛速度提升约 </a:t>
            </a:r>
            <a:pPr algn="l" indent="0" marL="0">
              <a:lnSpc>
                <a:spcPts val="1400"/>
              </a:lnSpc>
              <a:spcBef>
                <a:spcPts val="1000"/>
              </a:spcBef>
              <a:spcAft>
                <a:spcPts val="1000"/>
              </a:spcAft>
              <a:buNone/>
            </a:pPr>
            <a:r>
              <a:rPr lang="en-US" sz="1000" b="1" dirty="0">
                <a:solidFill>
                  <a:srgbClr val="40695B"/>
                </a:solidFill>
                <a:latin typeface="Arial" pitchFamily="34" charset="0"/>
                <a:ea typeface="Arial" pitchFamily="34" charset="-122"/>
                <a:cs typeface="Arial" pitchFamily="34" charset="-120"/>
              </a:rPr>
              <a:t>1.8 倍</a:t>
            </a:r>
            <a:endParaRPr lang="en-US" sz="1000" dirty="0"/>
          </a:p>
        </p:txBody>
      </p:sp>
      <p:sp>
        <p:nvSpPr>
          <p:cNvPr id="13" name="Text 11"/>
          <p:cNvSpPr/>
          <p:nvPr/>
        </p:nvSpPr>
        <p:spPr>
          <a:xfrm>
            <a:off x="4794200" y="1561654"/>
            <a:ext cx="3769766" cy="177701"/>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完全消除训练不稳定问题</a:t>
            </a:r>
            <a:endParaRPr lang="en-US" sz="1000" dirty="0"/>
          </a:p>
        </p:txBody>
      </p:sp>
      <p:sp>
        <p:nvSpPr>
          <p:cNvPr id="14" name="Text 12"/>
          <p:cNvSpPr/>
          <p:nvPr/>
        </p:nvSpPr>
        <p:spPr>
          <a:xfrm>
            <a:off x="4794200" y="1866305"/>
            <a:ext cx="3769766" cy="177701"/>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333333"/>
                </a:solidFill>
                <a:latin typeface="Arial" pitchFamily="34" charset="0"/>
                <a:ea typeface="Arial" pitchFamily="34" charset="-122"/>
                <a:cs typeface="Arial" pitchFamily="34" charset="-120"/>
              </a:rPr>
              <a:t>验证多流架构的优势</a:t>
            </a:r>
            <a:endParaRPr lang="en-US" sz="1000" dirty="0"/>
          </a:p>
        </p:txBody>
      </p:sp>
      <p:sp>
        <p:nvSpPr>
          <p:cNvPr id="15" name="Text 13"/>
          <p:cNvSpPr/>
          <p:nvPr/>
        </p:nvSpPr>
        <p:spPr>
          <a:xfrm>
            <a:off x="556159" y="2672358"/>
            <a:ext cx="8031682" cy="180975"/>
          </a:xfrm>
          <a:prstGeom prst="rect">
            <a:avLst/>
          </a:prstGeom>
          <a:noFill/>
          <a:ln/>
        </p:spPr>
        <p:txBody>
          <a:bodyPr wrap="square" lIns="0" tIns="0" rIns="0" bIns="0" rtlCol="0" anchor="t"/>
          <a:lstStyle/>
          <a:p>
            <a:pPr algn="ctr" indent="0" marL="0">
              <a:spcBef>
                <a:spcPts val="1000"/>
              </a:spcBef>
              <a:spcAft>
                <a:spcPts val="600"/>
              </a:spcAft>
              <a:buNone/>
            </a:pPr>
            <a:r>
              <a:rPr lang="en-US" sz="1000" dirty="0">
                <a:solidFill>
                  <a:srgbClr val="B165FB"/>
                </a:solidFill>
                <a:latin typeface="Arial" pitchFamily="34" charset="0"/>
                <a:ea typeface="Arial" pitchFamily="34" charset="-122"/>
                <a:cs typeface="Arial" pitchFamily="34" charset="-120"/>
              </a:rPr>
              <a:t>Loss 曲线对比 (示意)</a:t>
            </a:r>
            <a:endParaRPr lang="en-US" sz="1000" dirty="0"/>
          </a:p>
        </p:txBody>
      </p:sp>
      <p:sp>
        <p:nvSpPr>
          <p:cNvPr id="16" name="Text 14"/>
          <p:cNvSpPr/>
          <p:nvPr/>
        </p:nvSpPr>
        <p:spPr>
          <a:xfrm>
            <a:off x="3429149" y="2739182"/>
            <a:ext cx="634901" cy="698450"/>
          </a:xfrm>
          <a:prstGeom prst="roundRect">
            <a:avLst>
              <a:gd name="adj" fmla="val 6001"/>
            </a:avLst>
          </a:prstGeom>
          <a:solidFill>
            <a:srgbClr val="E74C3C"/>
          </a:solidFill>
          <a:ln/>
        </p:spPr>
        <p:txBody>
          <a:bodyPr wrap="square" rtlCol="0" anchor="ctr"/>
          <a:lstStyle/>
          <a:p>
            <a:pPr indent="0" marL="0">
              <a:buNone/>
            </a:pPr>
            <a:endParaRPr lang="en-US" dirty="0"/>
          </a:p>
        </p:txBody>
      </p:sp>
      <p:sp>
        <p:nvSpPr>
          <p:cNvPr id="17" name="Text 15"/>
          <p:cNvSpPr/>
          <p:nvPr/>
        </p:nvSpPr>
        <p:spPr>
          <a:xfrm>
            <a:off x="3422800" y="3475732"/>
            <a:ext cx="647599" cy="114300"/>
          </a:xfrm>
          <a:prstGeom prst="rect">
            <a:avLst/>
          </a:prstGeom>
          <a:noFill/>
          <a:ln/>
        </p:spPr>
        <p:txBody>
          <a:bodyPr wrap="square" lIns="0" tIns="0" rIns="0" bIns="0" rtlCol="0" anchor="t"/>
          <a:lstStyle/>
          <a:p>
            <a:pPr algn="ctr" indent="0" marL="0">
              <a:spcBef>
                <a:spcPts val="300"/>
              </a:spcBef>
              <a:spcAft>
                <a:spcPts val="800"/>
              </a:spcAft>
              <a:buNone/>
            </a:pPr>
            <a:r>
              <a:rPr lang="en-US" sz="800" dirty="0">
                <a:solidFill>
                  <a:srgbClr val="888888"/>
                </a:solidFill>
                <a:latin typeface="Arial" pitchFamily="34" charset="0"/>
                <a:ea typeface="Arial" pitchFamily="34" charset="-122"/>
                <a:cs typeface="Arial" pitchFamily="34" charset="-120"/>
              </a:rPr>
              <a:t>HC</a:t>
            </a:r>
            <a:endParaRPr lang="en-US" sz="800" dirty="0"/>
          </a:p>
        </p:txBody>
      </p:sp>
      <p:sp>
        <p:nvSpPr>
          <p:cNvPr id="18" name="Text 16"/>
          <p:cNvSpPr/>
          <p:nvPr/>
        </p:nvSpPr>
        <p:spPr>
          <a:xfrm>
            <a:off x="4254550" y="2929682"/>
            <a:ext cx="634901" cy="507950"/>
          </a:xfrm>
          <a:prstGeom prst="roundRect">
            <a:avLst>
              <a:gd name="adj" fmla="val 7501"/>
            </a:avLst>
          </a:prstGeom>
          <a:solidFill>
            <a:srgbClr val="40695B"/>
          </a:solidFill>
          <a:ln/>
        </p:spPr>
        <p:txBody>
          <a:bodyPr wrap="square" rtlCol="0" anchor="ctr"/>
          <a:lstStyle/>
          <a:p>
            <a:pPr indent="0" marL="0">
              <a:buNone/>
            </a:pPr>
            <a:endParaRPr lang="en-US" dirty="0"/>
          </a:p>
        </p:txBody>
      </p:sp>
      <p:sp>
        <p:nvSpPr>
          <p:cNvPr id="19" name="Text 17"/>
          <p:cNvSpPr/>
          <p:nvPr/>
        </p:nvSpPr>
        <p:spPr>
          <a:xfrm>
            <a:off x="4248201" y="3475732"/>
            <a:ext cx="647599" cy="114300"/>
          </a:xfrm>
          <a:prstGeom prst="rect">
            <a:avLst/>
          </a:prstGeom>
          <a:noFill/>
          <a:ln/>
        </p:spPr>
        <p:txBody>
          <a:bodyPr wrap="square" lIns="0" tIns="0" rIns="0" bIns="0" rtlCol="0" anchor="t"/>
          <a:lstStyle/>
          <a:p>
            <a:pPr algn="ctr" indent="0" marL="0">
              <a:spcBef>
                <a:spcPts val="300"/>
              </a:spcBef>
              <a:spcAft>
                <a:spcPts val="800"/>
              </a:spcAft>
              <a:buNone/>
            </a:pPr>
            <a:r>
              <a:rPr lang="en-US" sz="800" dirty="0">
                <a:solidFill>
                  <a:srgbClr val="888888"/>
                </a:solidFill>
                <a:latin typeface="Arial" pitchFamily="34" charset="0"/>
                <a:ea typeface="Arial" pitchFamily="34" charset="-122"/>
                <a:cs typeface="Arial" pitchFamily="34" charset="-120"/>
              </a:rPr>
              <a:t>mHC</a:t>
            </a:r>
            <a:endParaRPr lang="en-US" sz="800" dirty="0"/>
          </a:p>
        </p:txBody>
      </p:sp>
      <p:sp>
        <p:nvSpPr>
          <p:cNvPr id="20" name="Text 18"/>
          <p:cNvSpPr/>
          <p:nvPr/>
        </p:nvSpPr>
        <p:spPr>
          <a:xfrm>
            <a:off x="5079950" y="2866132"/>
            <a:ext cx="634901" cy="571500"/>
          </a:xfrm>
          <a:prstGeom prst="roundRect">
            <a:avLst>
              <a:gd name="adj" fmla="val 6667"/>
            </a:avLst>
          </a:prstGeom>
          <a:solidFill>
            <a:srgbClr val="666666"/>
          </a:solidFill>
          <a:ln/>
        </p:spPr>
        <p:txBody>
          <a:bodyPr wrap="square" rtlCol="0" anchor="ctr"/>
          <a:lstStyle/>
          <a:p>
            <a:pPr indent="0" marL="0">
              <a:buNone/>
            </a:pPr>
            <a:endParaRPr lang="en-US" dirty="0"/>
          </a:p>
        </p:txBody>
      </p:sp>
      <p:sp>
        <p:nvSpPr>
          <p:cNvPr id="21" name="Text 19"/>
          <p:cNvSpPr/>
          <p:nvPr/>
        </p:nvSpPr>
        <p:spPr>
          <a:xfrm>
            <a:off x="5073601" y="3475732"/>
            <a:ext cx="647599" cy="114300"/>
          </a:xfrm>
          <a:prstGeom prst="rect">
            <a:avLst/>
          </a:prstGeom>
          <a:noFill/>
          <a:ln/>
        </p:spPr>
        <p:txBody>
          <a:bodyPr wrap="square" lIns="0" tIns="0" rIns="0" bIns="0" rtlCol="0" anchor="t"/>
          <a:lstStyle/>
          <a:p>
            <a:pPr algn="ctr" indent="0" marL="0">
              <a:spcBef>
                <a:spcPts val="300"/>
              </a:spcBef>
              <a:spcAft>
                <a:spcPts val="800"/>
              </a:spcAft>
              <a:buNone/>
            </a:pPr>
            <a:r>
              <a:rPr lang="en-US" sz="800" dirty="0">
                <a:solidFill>
                  <a:srgbClr val="888888"/>
                </a:solidFill>
                <a:latin typeface="Arial" pitchFamily="34" charset="0"/>
                <a:ea typeface="Arial" pitchFamily="34" charset="-122"/>
                <a:cs typeface="Arial" pitchFamily="34" charset="-120"/>
              </a:rPr>
              <a:t>Baseline</a:t>
            </a:r>
            <a:endParaRPr lang="en-US" sz="800" dirty="0"/>
          </a:p>
        </p:txBody>
      </p:sp>
      <p:sp>
        <p:nvSpPr>
          <p:cNvPr id="22" name="Text 20"/>
          <p:cNvSpPr/>
          <p:nvPr/>
        </p:nvSpPr>
        <p:spPr>
          <a:xfrm>
            <a:off x="507950" y="3919984"/>
            <a:ext cx="8128099" cy="637877"/>
          </a:xfrm>
          <a:prstGeom prst="roundRect">
            <a:avLst>
              <a:gd name="adj" fmla="val 11946"/>
            </a:avLst>
          </a:prstGeom>
          <a:solidFill>
            <a:srgbClr val="40695B"/>
          </a:solidFill>
          <a:ln/>
        </p:spPr>
        <p:txBody>
          <a:bodyPr wrap="square" rtlCol="0" anchor="ctr"/>
          <a:lstStyle/>
          <a:p>
            <a:pPr indent="0" marL="0">
              <a:buNone/>
            </a:pPr>
            <a:endParaRPr lang="en-US" dirty="0"/>
          </a:p>
        </p:txBody>
      </p:sp>
      <p:sp>
        <p:nvSpPr>
          <p:cNvPr id="23" name="Text 21"/>
          <p:cNvSpPr/>
          <p:nvPr/>
        </p:nvSpPr>
        <p:spPr>
          <a:xfrm>
            <a:off x="634901" y="4148435"/>
            <a:ext cx="8031682" cy="1809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结论：</a:t>
            </a:r>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mHC 在不同模型架构和规模上都展现出稳定性优势，验证了方法的通用性。</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40695B"/>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规模扩展实验</a:t>
            </a:r>
            <a:endParaRPr lang="en-US" sz="2200" dirty="0"/>
          </a:p>
        </p:txBody>
      </p:sp>
      <p:sp>
        <p:nvSpPr>
          <p:cNvPr id="5" name="Text 3"/>
          <p:cNvSpPr/>
          <p:nvPr/>
        </p:nvSpPr>
        <p:spPr>
          <a:xfrm>
            <a:off x="507950" y="834926"/>
            <a:ext cx="3987850" cy="2618929"/>
          </a:xfrm>
          <a:prstGeom prst="roundRect">
            <a:avLst>
              <a:gd name="adj" fmla="val 2910"/>
            </a:avLst>
          </a:prstGeom>
          <a:solidFill>
            <a:srgbClr val="F5F5F7"/>
          </a:solidFill>
          <a:ln/>
        </p:spPr>
        <p:txBody>
          <a:bodyPr wrap="square" rtlCol="0" anchor="ctr"/>
          <a:lstStyle/>
          <a:p>
            <a:pPr indent="0" marL="0">
              <a:buNone/>
            </a:pPr>
            <a:endParaRPr lang="en-US" dirty="0"/>
          </a:p>
        </p:txBody>
      </p:sp>
      <p:sp>
        <p:nvSpPr>
          <p:cNvPr id="6" name="Text 4"/>
          <p:cNvSpPr/>
          <p:nvPr/>
        </p:nvSpPr>
        <p:spPr>
          <a:xfrm>
            <a:off x="597561" y="1114276"/>
            <a:ext cx="3808628" cy="209550"/>
          </a:xfrm>
          <a:prstGeom prst="rect">
            <a:avLst/>
          </a:prstGeom>
          <a:noFill/>
          <a:ln/>
        </p:spPr>
        <p:txBody>
          <a:bodyPr wrap="square" lIns="0" tIns="0" rIns="0" bIns="0" rtlCol="0" anchor="t"/>
          <a:lstStyle/>
          <a:p>
            <a:pPr algn="ctr" indent="0" marL="0">
              <a:spcBef>
                <a:spcPts val="1200"/>
              </a:spcBef>
              <a:spcAft>
                <a:spcPts val="800"/>
              </a:spcAft>
              <a:buNone/>
            </a:pPr>
            <a:r>
              <a:rPr lang="en-US" sz="1200" b="1" dirty="0">
                <a:solidFill>
                  <a:srgbClr val="40695B"/>
                </a:solidFill>
                <a:latin typeface="Arial" pitchFamily="34" charset="0"/>
                <a:ea typeface="Arial" pitchFamily="34" charset="-122"/>
                <a:cs typeface="Arial" pitchFamily="34" charset="-120"/>
              </a:rPr>
              <a:t>计算扩展 (Compute Scaling)</a:t>
            </a:r>
            <a:endParaRPr lang="en-US" sz="1200" dirty="0"/>
          </a:p>
        </p:txBody>
      </p:sp>
      <p:sp>
        <p:nvSpPr>
          <p:cNvPr id="7" name="Text 5"/>
          <p:cNvSpPr/>
          <p:nvPr/>
        </p:nvSpPr>
        <p:spPr>
          <a:xfrm>
            <a:off x="634901" y="1425327"/>
            <a:ext cx="3733949" cy="1523851"/>
          </a:xfrm>
          <a:prstGeom prst="roundRect">
            <a:avLst>
              <a:gd name="adj" fmla="val 3334"/>
            </a:avLst>
          </a:prstGeom>
          <a:solidFill>
            <a:srgbClr val="181B24"/>
          </a:solidFill>
          <a:ln/>
        </p:spPr>
        <p:txBody>
          <a:bodyPr wrap="square" rtlCol="0" anchor="ctr"/>
          <a:lstStyle/>
          <a:p>
            <a:pPr indent="0" marL="0">
              <a:buNone/>
            </a:pPr>
            <a:endParaRPr lang="en-US" dirty="0"/>
          </a:p>
        </p:txBody>
      </p:sp>
      <p:sp>
        <p:nvSpPr>
          <p:cNvPr id="8" name="Text 6"/>
          <p:cNvSpPr/>
          <p:nvPr/>
        </p:nvSpPr>
        <p:spPr>
          <a:xfrm>
            <a:off x="1119634" y="2047726"/>
            <a:ext cx="444401" cy="507950"/>
          </a:xfrm>
          <a:prstGeom prst="roundRect">
            <a:avLst>
              <a:gd name="adj" fmla="val 8573"/>
            </a:avLst>
          </a:prstGeom>
          <a:solidFill>
            <a:srgbClr val="666666"/>
          </a:solidFill>
          <a:ln/>
        </p:spPr>
        <p:txBody>
          <a:bodyPr wrap="square" rtlCol="0" anchor="ctr"/>
          <a:lstStyle/>
          <a:p>
            <a:pPr indent="0" marL="0">
              <a:buNone/>
            </a:pPr>
            <a:endParaRPr lang="en-US" dirty="0"/>
          </a:p>
        </p:txBody>
      </p:sp>
      <p:sp>
        <p:nvSpPr>
          <p:cNvPr id="9" name="Text 7"/>
          <p:cNvSpPr/>
          <p:nvPr/>
        </p:nvSpPr>
        <p:spPr>
          <a:xfrm>
            <a:off x="1115190" y="2606427"/>
            <a:ext cx="453289" cy="114300"/>
          </a:xfrm>
          <a:prstGeom prst="rect">
            <a:avLst/>
          </a:prstGeom>
          <a:noFill/>
          <a:ln/>
        </p:spPr>
        <p:txBody>
          <a:bodyPr wrap="square" lIns="0" tIns="0" rIns="0" bIns="0" rtlCol="0" anchor="t"/>
          <a:lstStyle/>
          <a:p>
            <a:pPr algn="ctr" indent="0" marL="0">
              <a:spcBef>
                <a:spcPts val="400"/>
              </a:spcBef>
              <a:spcAft>
                <a:spcPts val="800"/>
              </a:spcAft>
              <a:buNone/>
            </a:pPr>
            <a:r>
              <a:rPr lang="en-US" sz="800" dirty="0">
                <a:solidFill>
                  <a:srgbClr val="888888"/>
                </a:solidFill>
                <a:latin typeface="Arial" pitchFamily="34" charset="0"/>
                <a:ea typeface="Arial" pitchFamily="34" charset="-122"/>
                <a:cs typeface="Arial" pitchFamily="34" charset="-120"/>
              </a:rPr>
              <a:t>3B</a:t>
            </a:r>
            <a:endParaRPr lang="en-US" sz="800" dirty="0"/>
          </a:p>
        </p:txBody>
      </p:sp>
      <p:sp>
        <p:nvSpPr>
          <p:cNvPr id="10" name="Text 8"/>
          <p:cNvSpPr/>
          <p:nvPr/>
        </p:nvSpPr>
        <p:spPr>
          <a:xfrm>
            <a:off x="2279600" y="1857226"/>
            <a:ext cx="444401" cy="698450"/>
          </a:xfrm>
          <a:prstGeom prst="roundRect">
            <a:avLst>
              <a:gd name="adj" fmla="val 8573"/>
            </a:avLst>
          </a:prstGeom>
          <a:solidFill>
            <a:srgbClr val="40695B"/>
          </a:solidFill>
          <a:ln/>
        </p:spPr>
        <p:txBody>
          <a:bodyPr wrap="square" rtlCol="0" anchor="ctr"/>
          <a:lstStyle/>
          <a:p>
            <a:pPr indent="0" marL="0">
              <a:buNone/>
            </a:pPr>
            <a:endParaRPr lang="en-US" dirty="0"/>
          </a:p>
        </p:txBody>
      </p:sp>
      <p:sp>
        <p:nvSpPr>
          <p:cNvPr id="11" name="Text 9"/>
          <p:cNvSpPr/>
          <p:nvPr/>
        </p:nvSpPr>
        <p:spPr>
          <a:xfrm>
            <a:off x="2275156" y="2606427"/>
            <a:ext cx="453289" cy="114300"/>
          </a:xfrm>
          <a:prstGeom prst="rect">
            <a:avLst/>
          </a:prstGeom>
          <a:noFill/>
          <a:ln/>
        </p:spPr>
        <p:txBody>
          <a:bodyPr wrap="square" lIns="0" tIns="0" rIns="0" bIns="0" rtlCol="0" anchor="t"/>
          <a:lstStyle/>
          <a:p>
            <a:pPr algn="ctr" indent="0" marL="0">
              <a:spcBef>
                <a:spcPts val="400"/>
              </a:spcBef>
              <a:spcAft>
                <a:spcPts val="800"/>
              </a:spcAft>
              <a:buNone/>
            </a:pPr>
            <a:r>
              <a:rPr lang="en-US" sz="800" dirty="0">
                <a:solidFill>
                  <a:srgbClr val="888888"/>
                </a:solidFill>
                <a:latin typeface="Arial" pitchFamily="34" charset="0"/>
                <a:ea typeface="Arial" pitchFamily="34" charset="-122"/>
                <a:cs typeface="Arial" pitchFamily="34" charset="-120"/>
              </a:rPr>
              <a:t>9B</a:t>
            </a:r>
            <a:endParaRPr lang="en-US" sz="800" dirty="0"/>
          </a:p>
        </p:txBody>
      </p:sp>
      <p:sp>
        <p:nvSpPr>
          <p:cNvPr id="12" name="Text 10"/>
          <p:cNvSpPr/>
          <p:nvPr/>
        </p:nvSpPr>
        <p:spPr>
          <a:xfrm>
            <a:off x="3439716" y="1603177"/>
            <a:ext cx="444401" cy="952500"/>
          </a:xfrm>
          <a:prstGeom prst="roundRect">
            <a:avLst>
              <a:gd name="adj" fmla="val 8573"/>
            </a:avLst>
          </a:prstGeom>
          <a:solidFill>
            <a:srgbClr val="40695B"/>
          </a:solidFill>
          <a:ln/>
        </p:spPr>
        <p:txBody>
          <a:bodyPr wrap="square" rtlCol="0" anchor="ctr"/>
          <a:lstStyle/>
          <a:p>
            <a:pPr indent="0" marL="0">
              <a:buNone/>
            </a:pPr>
            <a:endParaRPr lang="en-US" dirty="0"/>
          </a:p>
        </p:txBody>
      </p:sp>
      <p:sp>
        <p:nvSpPr>
          <p:cNvPr id="13" name="Text 11"/>
          <p:cNvSpPr/>
          <p:nvPr/>
        </p:nvSpPr>
        <p:spPr>
          <a:xfrm>
            <a:off x="3435272" y="2606427"/>
            <a:ext cx="453289" cy="114300"/>
          </a:xfrm>
          <a:prstGeom prst="rect">
            <a:avLst/>
          </a:prstGeom>
          <a:noFill/>
          <a:ln/>
        </p:spPr>
        <p:txBody>
          <a:bodyPr wrap="square" lIns="0" tIns="0" rIns="0" bIns="0" rtlCol="0" anchor="t"/>
          <a:lstStyle/>
          <a:p>
            <a:pPr algn="ctr" indent="0" marL="0">
              <a:spcBef>
                <a:spcPts val="400"/>
              </a:spcBef>
              <a:spcAft>
                <a:spcPts val="800"/>
              </a:spcAft>
              <a:buNone/>
            </a:pPr>
            <a:r>
              <a:rPr lang="en-US" sz="800" dirty="0">
                <a:solidFill>
                  <a:srgbClr val="888888"/>
                </a:solidFill>
                <a:latin typeface="Arial" pitchFamily="34" charset="0"/>
                <a:ea typeface="Arial" pitchFamily="34" charset="-122"/>
                <a:cs typeface="Arial" pitchFamily="34" charset="-120"/>
              </a:rPr>
              <a:t>27B</a:t>
            </a:r>
            <a:endParaRPr lang="en-US" sz="800" dirty="0"/>
          </a:p>
        </p:txBody>
      </p:sp>
      <p:sp>
        <p:nvSpPr>
          <p:cNvPr id="14" name="Text 12"/>
          <p:cNvSpPr/>
          <p:nvPr/>
        </p:nvSpPr>
        <p:spPr>
          <a:xfrm>
            <a:off x="597561" y="3050679"/>
            <a:ext cx="3808628" cy="161925"/>
          </a:xfrm>
          <a:prstGeom prst="rect">
            <a:avLst/>
          </a:prstGeom>
          <a:noFill/>
          <a:ln/>
        </p:spPr>
        <p:txBody>
          <a:bodyPr wrap="square" lIns="0" tIns="0" rIns="0" bIns="0" rtlCol="0" anchor="t"/>
          <a:lstStyle/>
          <a:p>
            <a:pPr algn="ctr" indent="0" marL="0">
              <a:spcBef>
                <a:spcPts val="800"/>
              </a:spcBef>
              <a:spcAft>
                <a:spcPts val="900"/>
              </a:spcAft>
              <a:buNone/>
            </a:pPr>
            <a:r>
              <a:rPr lang="en-US" sz="900" dirty="0">
                <a:solidFill>
                  <a:srgbClr val="666666"/>
                </a:solidFill>
                <a:latin typeface="Arial" pitchFamily="34" charset="0"/>
                <a:ea typeface="Arial" pitchFamily="34" charset="-122"/>
                <a:cs typeface="Arial" pitchFamily="34" charset="-120"/>
              </a:rPr>
              <a:t>不同计算预算下 mHC 性能优势保持稳健</a:t>
            </a:r>
            <a:endParaRPr lang="en-US" sz="900" dirty="0"/>
          </a:p>
        </p:txBody>
      </p:sp>
      <p:sp>
        <p:nvSpPr>
          <p:cNvPr id="15" name="Text 13"/>
          <p:cNvSpPr/>
          <p:nvPr/>
        </p:nvSpPr>
        <p:spPr>
          <a:xfrm>
            <a:off x="4648200" y="834926"/>
            <a:ext cx="3987850" cy="2618929"/>
          </a:xfrm>
          <a:prstGeom prst="roundRect">
            <a:avLst>
              <a:gd name="adj" fmla="val 2910"/>
            </a:avLst>
          </a:prstGeom>
          <a:solidFill>
            <a:srgbClr val="F5F5F7"/>
          </a:solidFill>
          <a:ln/>
        </p:spPr>
        <p:txBody>
          <a:bodyPr wrap="square" rtlCol="0" anchor="ctr"/>
          <a:lstStyle/>
          <a:p>
            <a:pPr indent="0" marL="0">
              <a:buNone/>
            </a:pPr>
            <a:endParaRPr lang="en-US" dirty="0"/>
          </a:p>
        </p:txBody>
      </p:sp>
      <p:sp>
        <p:nvSpPr>
          <p:cNvPr id="16" name="Text 14"/>
          <p:cNvSpPr/>
          <p:nvPr/>
        </p:nvSpPr>
        <p:spPr>
          <a:xfrm>
            <a:off x="4737811" y="1114276"/>
            <a:ext cx="3808628" cy="209550"/>
          </a:xfrm>
          <a:prstGeom prst="rect">
            <a:avLst/>
          </a:prstGeom>
          <a:noFill/>
          <a:ln/>
        </p:spPr>
        <p:txBody>
          <a:bodyPr wrap="square" lIns="0" tIns="0" rIns="0" bIns="0" rtlCol="0" anchor="t"/>
          <a:lstStyle/>
          <a:p>
            <a:pPr algn="ctr" indent="0" marL="0">
              <a:spcBef>
                <a:spcPts val="1200"/>
              </a:spcBef>
              <a:spcAft>
                <a:spcPts val="800"/>
              </a:spcAft>
              <a:buNone/>
            </a:pPr>
            <a:r>
              <a:rPr lang="en-US" sz="1200" b="1" dirty="0">
                <a:solidFill>
                  <a:srgbClr val="40695B"/>
                </a:solidFill>
                <a:latin typeface="Arial" pitchFamily="34" charset="0"/>
                <a:ea typeface="Arial" pitchFamily="34" charset="-122"/>
                <a:cs typeface="Arial" pitchFamily="34" charset="-120"/>
              </a:rPr>
              <a:t>Token 扩展 (Token Scaling)</a:t>
            </a:r>
            <a:endParaRPr lang="en-US" sz="1200" dirty="0"/>
          </a:p>
        </p:txBody>
      </p:sp>
      <p:sp>
        <p:nvSpPr>
          <p:cNvPr id="17" name="Text 15"/>
          <p:cNvSpPr/>
          <p:nvPr/>
        </p:nvSpPr>
        <p:spPr>
          <a:xfrm>
            <a:off x="4775150" y="1425327"/>
            <a:ext cx="3733949" cy="1523851"/>
          </a:xfrm>
          <a:prstGeom prst="roundRect">
            <a:avLst>
              <a:gd name="adj" fmla="val 3334"/>
            </a:avLst>
          </a:prstGeom>
          <a:solidFill>
            <a:srgbClr val="181B24"/>
          </a:solidFill>
          <a:ln/>
        </p:spPr>
        <p:txBody>
          <a:bodyPr wrap="square" rtlCol="0" anchor="ctr"/>
          <a:lstStyle/>
          <a:p>
            <a:pPr indent="0" marL="0">
              <a:buNone/>
            </a:pPr>
            <a:endParaRPr lang="en-US" dirty="0"/>
          </a:p>
        </p:txBody>
      </p:sp>
      <p:sp>
        <p:nvSpPr>
          <p:cNvPr id="18" name="Text 16"/>
          <p:cNvSpPr/>
          <p:nvPr/>
        </p:nvSpPr>
        <p:spPr>
          <a:xfrm>
            <a:off x="5259884" y="2111276"/>
            <a:ext cx="444401" cy="444401"/>
          </a:xfrm>
          <a:prstGeom prst="roundRect">
            <a:avLst>
              <a:gd name="adj" fmla="val 8573"/>
            </a:avLst>
          </a:prstGeom>
          <a:solidFill>
            <a:srgbClr val="666666"/>
          </a:solidFill>
          <a:ln/>
        </p:spPr>
        <p:txBody>
          <a:bodyPr wrap="square" rtlCol="0" anchor="ctr"/>
          <a:lstStyle/>
          <a:p>
            <a:pPr indent="0" marL="0">
              <a:buNone/>
            </a:pPr>
            <a:endParaRPr lang="en-US" dirty="0"/>
          </a:p>
        </p:txBody>
      </p:sp>
      <p:sp>
        <p:nvSpPr>
          <p:cNvPr id="19" name="Text 17"/>
          <p:cNvSpPr/>
          <p:nvPr/>
        </p:nvSpPr>
        <p:spPr>
          <a:xfrm>
            <a:off x="5255440" y="2606427"/>
            <a:ext cx="453289" cy="114300"/>
          </a:xfrm>
          <a:prstGeom prst="rect">
            <a:avLst/>
          </a:prstGeom>
          <a:noFill/>
          <a:ln/>
        </p:spPr>
        <p:txBody>
          <a:bodyPr wrap="square" lIns="0" tIns="0" rIns="0" bIns="0" rtlCol="0" anchor="t"/>
          <a:lstStyle/>
          <a:p>
            <a:pPr algn="ctr" indent="0" marL="0">
              <a:spcBef>
                <a:spcPts val="400"/>
              </a:spcBef>
              <a:spcAft>
                <a:spcPts val="800"/>
              </a:spcAft>
              <a:buNone/>
            </a:pPr>
            <a:r>
              <a:rPr lang="en-US" sz="800" dirty="0">
                <a:solidFill>
                  <a:srgbClr val="888888"/>
                </a:solidFill>
                <a:latin typeface="Arial" pitchFamily="34" charset="0"/>
                <a:ea typeface="Arial" pitchFamily="34" charset="-122"/>
                <a:cs typeface="Arial" pitchFamily="34" charset="-120"/>
              </a:rPr>
              <a:t>0.5T</a:t>
            </a:r>
            <a:endParaRPr lang="en-US" sz="800" dirty="0"/>
          </a:p>
        </p:txBody>
      </p:sp>
      <p:sp>
        <p:nvSpPr>
          <p:cNvPr id="20" name="Text 18"/>
          <p:cNvSpPr/>
          <p:nvPr/>
        </p:nvSpPr>
        <p:spPr>
          <a:xfrm>
            <a:off x="6419850" y="1920776"/>
            <a:ext cx="444401" cy="634901"/>
          </a:xfrm>
          <a:prstGeom prst="roundRect">
            <a:avLst>
              <a:gd name="adj" fmla="val 8573"/>
            </a:avLst>
          </a:prstGeom>
          <a:solidFill>
            <a:srgbClr val="40695B"/>
          </a:solidFill>
          <a:ln/>
        </p:spPr>
        <p:txBody>
          <a:bodyPr wrap="square" rtlCol="0" anchor="ctr"/>
          <a:lstStyle/>
          <a:p>
            <a:pPr indent="0" marL="0">
              <a:buNone/>
            </a:pPr>
            <a:endParaRPr lang="en-US" dirty="0"/>
          </a:p>
        </p:txBody>
      </p:sp>
      <p:sp>
        <p:nvSpPr>
          <p:cNvPr id="21" name="Text 19"/>
          <p:cNvSpPr/>
          <p:nvPr/>
        </p:nvSpPr>
        <p:spPr>
          <a:xfrm>
            <a:off x="6415406" y="2606427"/>
            <a:ext cx="453289" cy="114300"/>
          </a:xfrm>
          <a:prstGeom prst="rect">
            <a:avLst/>
          </a:prstGeom>
          <a:noFill/>
          <a:ln/>
        </p:spPr>
        <p:txBody>
          <a:bodyPr wrap="square" lIns="0" tIns="0" rIns="0" bIns="0" rtlCol="0" anchor="t"/>
          <a:lstStyle/>
          <a:p>
            <a:pPr algn="ctr" indent="0" marL="0">
              <a:spcBef>
                <a:spcPts val="400"/>
              </a:spcBef>
              <a:spcAft>
                <a:spcPts val="800"/>
              </a:spcAft>
              <a:buNone/>
            </a:pPr>
            <a:r>
              <a:rPr lang="en-US" sz="800" dirty="0">
                <a:solidFill>
                  <a:srgbClr val="888888"/>
                </a:solidFill>
                <a:latin typeface="Arial" pitchFamily="34" charset="0"/>
                <a:ea typeface="Arial" pitchFamily="34" charset="-122"/>
                <a:cs typeface="Arial" pitchFamily="34" charset="-120"/>
              </a:rPr>
              <a:t>1T</a:t>
            </a:r>
            <a:endParaRPr lang="en-US" sz="800" dirty="0"/>
          </a:p>
        </p:txBody>
      </p:sp>
      <p:sp>
        <p:nvSpPr>
          <p:cNvPr id="22" name="Text 20"/>
          <p:cNvSpPr/>
          <p:nvPr/>
        </p:nvSpPr>
        <p:spPr>
          <a:xfrm>
            <a:off x="7579965" y="1666726"/>
            <a:ext cx="444401" cy="888950"/>
          </a:xfrm>
          <a:prstGeom prst="roundRect">
            <a:avLst>
              <a:gd name="adj" fmla="val 8573"/>
            </a:avLst>
          </a:prstGeom>
          <a:solidFill>
            <a:srgbClr val="40695B"/>
          </a:solidFill>
          <a:ln/>
        </p:spPr>
        <p:txBody>
          <a:bodyPr wrap="square" rtlCol="0" anchor="ctr"/>
          <a:lstStyle/>
          <a:p>
            <a:pPr indent="0" marL="0">
              <a:buNone/>
            </a:pPr>
            <a:endParaRPr lang="en-US" dirty="0"/>
          </a:p>
        </p:txBody>
      </p:sp>
      <p:sp>
        <p:nvSpPr>
          <p:cNvPr id="23" name="Text 21"/>
          <p:cNvSpPr/>
          <p:nvPr/>
        </p:nvSpPr>
        <p:spPr>
          <a:xfrm>
            <a:off x="7575521" y="2606427"/>
            <a:ext cx="453289" cy="114300"/>
          </a:xfrm>
          <a:prstGeom prst="rect">
            <a:avLst/>
          </a:prstGeom>
          <a:noFill/>
          <a:ln/>
        </p:spPr>
        <p:txBody>
          <a:bodyPr wrap="square" lIns="0" tIns="0" rIns="0" bIns="0" rtlCol="0" anchor="t"/>
          <a:lstStyle/>
          <a:p>
            <a:pPr algn="ctr" indent="0" marL="0">
              <a:spcBef>
                <a:spcPts val="400"/>
              </a:spcBef>
              <a:spcAft>
                <a:spcPts val="800"/>
              </a:spcAft>
              <a:buNone/>
            </a:pPr>
            <a:r>
              <a:rPr lang="en-US" sz="800" dirty="0">
                <a:solidFill>
                  <a:srgbClr val="888888"/>
                </a:solidFill>
                <a:latin typeface="Arial" pitchFamily="34" charset="0"/>
                <a:ea typeface="Arial" pitchFamily="34" charset="-122"/>
                <a:cs typeface="Arial" pitchFamily="34" charset="-120"/>
              </a:rPr>
              <a:t>2T</a:t>
            </a:r>
            <a:endParaRPr lang="en-US" sz="800" dirty="0"/>
          </a:p>
        </p:txBody>
      </p:sp>
      <p:sp>
        <p:nvSpPr>
          <p:cNvPr id="24" name="Text 22"/>
          <p:cNvSpPr/>
          <p:nvPr/>
        </p:nvSpPr>
        <p:spPr>
          <a:xfrm>
            <a:off x="4737811" y="3050679"/>
            <a:ext cx="3808628" cy="161925"/>
          </a:xfrm>
          <a:prstGeom prst="rect">
            <a:avLst/>
          </a:prstGeom>
          <a:noFill/>
          <a:ln/>
        </p:spPr>
        <p:txBody>
          <a:bodyPr wrap="square" lIns="0" tIns="0" rIns="0" bIns="0" rtlCol="0" anchor="t"/>
          <a:lstStyle/>
          <a:p>
            <a:pPr algn="ctr" indent="0" marL="0">
              <a:spcBef>
                <a:spcPts val="800"/>
              </a:spcBef>
              <a:spcAft>
                <a:spcPts val="900"/>
              </a:spcAft>
              <a:buNone/>
            </a:pPr>
            <a:r>
              <a:rPr lang="en-US" sz="900" dirty="0">
                <a:solidFill>
                  <a:srgbClr val="666666"/>
                </a:solidFill>
                <a:latin typeface="Arial" pitchFamily="34" charset="0"/>
                <a:ea typeface="Arial" pitchFamily="34" charset="-122"/>
                <a:cs typeface="Arial" pitchFamily="34" charset="-120"/>
              </a:rPr>
              <a:t>随训练数据增加，性能改善持续</a:t>
            </a:r>
            <a:endParaRPr lang="en-US" sz="900" dirty="0"/>
          </a:p>
        </p:txBody>
      </p:sp>
      <p:sp>
        <p:nvSpPr>
          <p:cNvPr id="25" name="Text 23"/>
          <p:cNvSpPr/>
          <p:nvPr/>
        </p:nvSpPr>
        <p:spPr>
          <a:xfrm>
            <a:off x="507950" y="3580805"/>
            <a:ext cx="8128099" cy="1003102"/>
          </a:xfrm>
          <a:prstGeom prst="roundRect">
            <a:avLst>
              <a:gd name="adj" fmla="val 7596"/>
            </a:avLst>
          </a:prstGeom>
          <a:solidFill>
            <a:srgbClr val="181B24"/>
          </a:solidFill>
          <a:ln/>
        </p:spPr>
        <p:txBody>
          <a:bodyPr wrap="square" rtlCol="0" anchor="ctr"/>
          <a:lstStyle/>
          <a:p>
            <a:pPr indent="0" marL="0">
              <a:buNone/>
            </a:pPr>
            <a:endParaRPr lang="en-US" dirty="0"/>
          </a:p>
        </p:txBody>
      </p:sp>
      <p:sp>
        <p:nvSpPr>
          <p:cNvPr id="26" name="Text 24"/>
          <p:cNvSpPr/>
          <p:nvPr/>
        </p:nvSpPr>
        <p:spPr>
          <a:xfrm>
            <a:off x="698450" y="3872805"/>
            <a:ext cx="7902041" cy="419100"/>
          </a:xfrm>
          <a:prstGeom prst="rect">
            <a:avLst/>
          </a:prstGeom>
          <a:noFill/>
          <a:ln/>
        </p:spPr>
        <p:txBody>
          <a:bodyPr wrap="square" lIns="0" tIns="0" rIns="0" bIns="0" rtlCol="0" anchor="t"/>
          <a:lstStyle/>
          <a:p>
            <a:pPr algn="l" indent="0" marL="0">
              <a:lnSpc>
                <a:spcPts val="1650"/>
              </a:lnSpc>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扩展性验证：</a:t>
            </a:r>
            <a:pPr algn="l" indent="0" marL="0">
              <a:lnSpc>
                <a:spcPts val="165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mHC 的性能优势在</a:t>
            </a:r>
            <a:pPr algn="l" indent="0" marL="0">
              <a:lnSpc>
                <a:spcPts val="1650"/>
              </a:lnSpc>
              <a:spcBef>
                <a:spcPts val="1100"/>
              </a:spcBef>
              <a:spcAft>
                <a:spcPts val="1100"/>
              </a:spcAft>
              <a:buNone/>
            </a:pPr>
            <a:r>
              <a:rPr lang="en-US" sz="1100" b="1" dirty="0">
                <a:solidFill>
                  <a:srgbClr val="40695B"/>
                </a:solidFill>
                <a:latin typeface="Arial" pitchFamily="34" charset="0"/>
                <a:ea typeface="Arial" pitchFamily="34" charset="-122"/>
                <a:cs typeface="Arial" pitchFamily="34" charset="-120"/>
              </a:rPr>
              <a:t>模型规模扩展</a:t>
            </a:r>
            <a:pPr algn="l" indent="0" marL="0">
              <a:lnSpc>
                <a:spcPts val="165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和</a:t>
            </a:r>
            <a:pPr algn="l" indent="0" marL="0">
              <a:lnSpc>
                <a:spcPts val="1650"/>
              </a:lnSpc>
              <a:spcBef>
                <a:spcPts val="1100"/>
              </a:spcBef>
              <a:spcAft>
                <a:spcPts val="1100"/>
              </a:spcAft>
              <a:buNone/>
            </a:pPr>
            <a:r>
              <a:rPr lang="en-US" sz="1100" b="1" dirty="0">
                <a:solidFill>
                  <a:srgbClr val="40695B"/>
                </a:solidFill>
                <a:latin typeface="Arial" pitchFamily="34" charset="0"/>
                <a:ea typeface="Arial" pitchFamily="34" charset="-122"/>
                <a:cs typeface="Arial" pitchFamily="34" charset="-120"/>
              </a:rPr>
              <a:t>训练数据扩展</a:t>
            </a:r>
            <a:pPr algn="l" indent="0" marL="0">
              <a:lnSpc>
                <a:spcPts val="165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两个维度上都保持一致。这表明 mHC 不是"小规模有效、大规模失效"的技巧，而是具有良好扩展性的架构改进。</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81B24"/>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Text 1"/>
          <p:cNvSpPr/>
          <p:nvPr/>
        </p:nvSpPr>
        <p:spPr>
          <a:xfrm>
            <a:off x="507950" y="304800"/>
            <a:ext cx="8290661" cy="161925"/>
          </a:xfrm>
          <a:prstGeom prst="rect">
            <a:avLst/>
          </a:prstGeom>
          <a:noFill/>
          <a:ln/>
        </p:spPr>
        <p:txBody>
          <a:bodyPr wrap="square" lIns="0" tIns="0" rIns="0" bIns="0" rtlCol="0" anchor="t"/>
          <a:lstStyle/>
          <a:p>
            <a:pPr algn="l" indent="0" marL="0">
              <a:spcBef>
                <a:spcPts val="900"/>
              </a:spcBef>
              <a:spcAft>
                <a:spcPts val="400"/>
              </a:spcAft>
              <a:buNone/>
            </a:pPr>
            <a:r>
              <a:rPr lang="en-US" sz="900" dirty="0">
                <a:solidFill>
                  <a:srgbClr val="B165FB"/>
                </a:solidFill>
                <a:latin typeface="Arial" pitchFamily="34" charset="0"/>
                <a:ea typeface="Arial" pitchFamily="34" charset="-122"/>
                <a:cs typeface="Arial" pitchFamily="34" charset="-120"/>
              </a:rPr>
              <a:t>PART 6: 独立复现验证</a:t>
            </a:r>
            <a:endParaRPr lang="en-US" sz="900" dirty="0"/>
          </a:p>
        </p:txBody>
      </p:sp>
      <p:sp>
        <p:nvSpPr>
          <p:cNvPr id="4" name="Shape 2"/>
          <p:cNvSpPr/>
          <p:nvPr/>
        </p:nvSpPr>
        <p:spPr>
          <a:xfrm>
            <a:off x="546050" y="517475"/>
            <a:ext cx="0" cy="352425"/>
          </a:xfrm>
          <a:prstGeom prst="line">
            <a:avLst/>
          </a:prstGeom>
          <a:noFill/>
          <a:ln w="76200">
            <a:solidFill>
              <a:srgbClr val="B165FB"/>
            </a:solidFill>
            <a:prstDash val="solid"/>
          </a:ln>
        </p:spPr>
      </p:sp>
      <p:sp>
        <p:nvSpPr>
          <p:cNvPr id="5" name="Text 3"/>
          <p:cNvSpPr/>
          <p:nvPr/>
        </p:nvSpPr>
        <p:spPr>
          <a:xfrm>
            <a:off x="774650" y="517475"/>
            <a:ext cx="8018627" cy="352425"/>
          </a:xfrm>
          <a:prstGeom prst="rect">
            <a:avLst/>
          </a:prstGeom>
          <a:noFill/>
          <a:ln/>
        </p:spPr>
        <p:txBody>
          <a:bodyPr wrap="square" lIns="0" tIns="0" rIns="0" bIns="0" rtlCol="0" anchor="t"/>
          <a:lstStyle/>
          <a:p>
            <a:pPr algn="l" indent="0" marL="0">
              <a:buNone/>
            </a:pPr>
            <a:r>
              <a:rPr lang="en-US" sz="2000" b="1" dirty="0">
                <a:solidFill>
                  <a:srgbClr val="FFFFFF"/>
                </a:solidFill>
                <a:latin typeface="Arial" pitchFamily="34" charset="0"/>
                <a:ea typeface="Arial" pitchFamily="34" charset="-122"/>
                <a:cs typeface="Arial" pitchFamily="34" charset="-120"/>
              </a:rPr>
              <a:t>Taylor Kolasinski 的复现实验</a:t>
            </a:r>
            <a:endParaRPr lang="en-US" sz="2000" dirty="0"/>
          </a:p>
        </p:txBody>
      </p:sp>
      <p:sp>
        <p:nvSpPr>
          <p:cNvPr id="6" name="Text 4"/>
          <p:cNvSpPr/>
          <p:nvPr/>
        </p:nvSpPr>
        <p:spPr>
          <a:xfrm>
            <a:off x="507950" y="971401"/>
            <a:ext cx="8128099" cy="1618952"/>
          </a:xfrm>
          <a:prstGeom prst="roundRect">
            <a:avLst>
              <a:gd name="adj" fmla="val 4707"/>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7" name="Text 5"/>
          <p:cNvSpPr/>
          <p:nvPr/>
        </p:nvSpPr>
        <p:spPr>
          <a:xfrm>
            <a:off x="644426" y="1514177"/>
            <a:ext cx="417767" cy="533400"/>
          </a:xfrm>
          <a:prstGeom prst="rect">
            <a:avLst/>
          </a:prstGeom>
          <a:noFill/>
          <a:ln/>
        </p:spPr>
        <p:txBody>
          <a:bodyPr wrap="square" lIns="0" tIns="0" rIns="0" bIns="0" rtlCol="0" anchor="t"/>
          <a:lstStyle/>
          <a:p>
            <a:pPr algn="l" indent="0" marL="0">
              <a:spcBef>
                <a:spcPts val="3200"/>
              </a:spcBef>
              <a:spcAft>
                <a:spcPts val="3200"/>
              </a:spcAft>
              <a:buNone/>
            </a:pPr>
            <a:r>
              <a:rPr lang="en-US" sz="3200" dirty="0">
                <a:solidFill>
                  <a:srgbClr val="000000"/>
                </a:solidFill>
                <a:latin typeface="Arial" pitchFamily="34" charset="0"/>
                <a:ea typeface="Arial" pitchFamily="34" charset="-122"/>
                <a:cs typeface="Arial" pitchFamily="34" charset="-120"/>
              </a:rPr>
              <a:t>👨‍💻</a:t>
            </a:r>
            <a:endParaRPr lang="en-US" sz="3200" dirty="0"/>
          </a:p>
        </p:txBody>
      </p:sp>
      <p:sp>
        <p:nvSpPr>
          <p:cNvPr id="8" name="Text 6"/>
          <p:cNvSpPr/>
          <p:nvPr/>
        </p:nvSpPr>
        <p:spPr>
          <a:xfrm>
            <a:off x="1244501" y="1549152"/>
            <a:ext cx="7400175" cy="209550"/>
          </a:xfrm>
          <a:prstGeom prst="rect">
            <a:avLst/>
          </a:prstGeom>
          <a:noFill/>
          <a:ln/>
        </p:spPr>
        <p:txBody>
          <a:bodyPr wrap="square" lIns="0" tIns="0" rIns="0" bIns="0" rtlCol="0" anchor="t"/>
          <a:lstStyle/>
          <a:p>
            <a:pPr algn="l" indent="0" marL="0">
              <a:spcBef>
                <a:spcPts val="1400"/>
              </a:spcBef>
              <a:spcAft>
                <a:spcPts val="400"/>
              </a:spcAft>
              <a:buNone/>
            </a:pPr>
            <a:r>
              <a:rPr lang="en-US" sz="1400" b="1" dirty="0">
                <a:solidFill>
                  <a:srgbClr val="B165FB"/>
                </a:solidFill>
                <a:latin typeface="Arial" pitchFamily="34" charset="0"/>
                <a:ea typeface="Arial" pitchFamily="34" charset="-122"/>
                <a:cs typeface="Arial" pitchFamily="34" charset="-120"/>
              </a:rPr>
              <a:t>Taylor Kolasinski</a:t>
            </a:r>
            <a:endParaRPr lang="en-US" sz="1400" dirty="0"/>
          </a:p>
        </p:txBody>
      </p:sp>
      <p:sp>
        <p:nvSpPr>
          <p:cNvPr id="9" name="Text 7"/>
          <p:cNvSpPr/>
          <p:nvPr/>
        </p:nvSpPr>
        <p:spPr>
          <a:xfrm>
            <a:off x="1244501" y="1885652"/>
            <a:ext cx="7400175" cy="177701"/>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dirty="0">
                <a:solidFill>
                  <a:srgbClr val="CCCCCC"/>
                </a:solidFill>
                <a:latin typeface="Arial" pitchFamily="34" charset="0"/>
                <a:ea typeface="Arial" pitchFamily="34" charset="-122"/>
                <a:cs typeface="Arial" pitchFamily="34" charset="-120"/>
              </a:rPr>
              <a:t>FlowMode 工程师，独立研究者。租用 8 张 H100 GPU，成功复现了 mHC，</a:t>
            </a:r>
            <a:pPr algn="l" indent="0" marL="0">
              <a:lnSpc>
                <a:spcPts val="1400"/>
              </a:lnSpc>
              <a:spcBef>
                <a:spcPts val="1000"/>
              </a:spcBef>
              <a:spcAft>
                <a:spcPts val="1000"/>
              </a:spcAft>
              <a:buNone/>
            </a:pPr>
            <a:r>
              <a:rPr lang="en-US" sz="1000" b="1" dirty="0">
                <a:solidFill>
                  <a:srgbClr val="CCCCCC"/>
                </a:solidFill>
                <a:latin typeface="Arial" pitchFamily="34" charset="0"/>
                <a:ea typeface="Arial" pitchFamily="34" charset="-122"/>
                <a:cs typeface="Arial" pitchFamily="34" charset="-120"/>
              </a:rPr>
              <a:t>结果比官方报告更加震撼</a:t>
            </a:r>
            <a:pPr algn="l" indent="0" marL="0">
              <a:lnSpc>
                <a:spcPts val="1400"/>
              </a:lnSpc>
              <a:spcBef>
                <a:spcPts val="1000"/>
              </a:spcBef>
              <a:spcAft>
                <a:spcPts val="1000"/>
              </a:spcAft>
              <a:buNone/>
            </a:pPr>
            <a:r>
              <a:rPr lang="en-US" sz="1000" dirty="0">
                <a:solidFill>
                  <a:srgbClr val="CCCCCC"/>
                </a:solidFill>
                <a:latin typeface="Arial" pitchFamily="34" charset="0"/>
                <a:ea typeface="Arial" pitchFamily="34" charset="-122"/>
                <a:cs typeface="Arial" pitchFamily="34" charset="-120"/>
              </a:rPr>
              <a:t>。</a:t>
            </a:r>
            <a:endParaRPr lang="en-US" sz="1000" dirty="0"/>
          </a:p>
        </p:txBody>
      </p:sp>
      <p:sp>
        <p:nvSpPr>
          <p:cNvPr id="10" name="Text 8"/>
          <p:cNvSpPr/>
          <p:nvPr/>
        </p:nvSpPr>
        <p:spPr>
          <a:xfrm>
            <a:off x="507950" y="2691854"/>
            <a:ext cx="1936700" cy="1063228"/>
          </a:xfrm>
          <a:prstGeom prst="roundRect">
            <a:avLst>
              <a:gd name="adj" fmla="val 7167"/>
            </a:avLst>
          </a:prstGeom>
          <a:solidFill>
            <a:srgbClr val="B165FB">
              <a:alpha val="10000"/>
            </a:srgbClr>
          </a:solidFill>
          <a:ln w="9525">
            <a:solidFill>
              <a:srgbClr val="B165FB"/>
            </a:solidFill>
          </a:ln>
        </p:spPr>
        <p:txBody>
          <a:bodyPr wrap="square" rtlCol="0" anchor="ctr"/>
          <a:lstStyle/>
          <a:p>
            <a:pPr indent="0" marL="0">
              <a:buNone/>
            </a:pPr>
            <a:endParaRPr lang="en-US" dirty="0"/>
          </a:p>
        </p:txBody>
      </p:sp>
      <p:sp>
        <p:nvSpPr>
          <p:cNvPr id="11" name="Text 9"/>
          <p:cNvSpPr/>
          <p:nvPr/>
        </p:nvSpPr>
        <p:spPr>
          <a:xfrm>
            <a:off x="601830" y="3031480"/>
            <a:ext cx="1748942" cy="266700"/>
          </a:xfrm>
          <a:prstGeom prst="rect">
            <a:avLst/>
          </a:prstGeom>
          <a:noFill/>
          <a:ln/>
        </p:spPr>
        <p:txBody>
          <a:bodyPr wrap="square" lIns="0" tIns="0" rIns="0" bIns="0" rtlCol="0" anchor="t"/>
          <a:lstStyle/>
          <a:p>
            <a:pPr algn="ctr" indent="0" marL="0">
              <a:spcBef>
                <a:spcPts val="1800"/>
              </a:spcBef>
              <a:spcAft>
                <a:spcPts val="200"/>
              </a:spcAft>
              <a:buNone/>
            </a:pPr>
            <a:r>
              <a:rPr lang="en-US" sz="1800" b="1" dirty="0">
                <a:solidFill>
                  <a:srgbClr val="B165FB"/>
                </a:solidFill>
                <a:latin typeface="Arial" pitchFamily="34" charset="0"/>
                <a:ea typeface="Arial" pitchFamily="34" charset="-122"/>
                <a:cs typeface="Arial" pitchFamily="34" charset="-120"/>
              </a:rPr>
              <a:t>8×H100</a:t>
            </a:r>
            <a:endParaRPr lang="en-US" sz="1800" dirty="0"/>
          </a:p>
        </p:txBody>
      </p:sp>
      <p:sp>
        <p:nvSpPr>
          <p:cNvPr id="12" name="Text 10"/>
          <p:cNvSpPr/>
          <p:nvPr/>
        </p:nvSpPr>
        <p:spPr>
          <a:xfrm>
            <a:off x="601830" y="3399681"/>
            <a:ext cx="1748942" cy="142875"/>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888888"/>
                </a:solidFill>
                <a:latin typeface="Arial" pitchFamily="34" charset="0"/>
                <a:ea typeface="Arial" pitchFamily="34" charset="-122"/>
                <a:cs typeface="Arial" pitchFamily="34" charset="-120"/>
              </a:rPr>
              <a:t>Lambda Labs 租用</a:t>
            </a:r>
            <a:endParaRPr lang="en-US" sz="800" dirty="0"/>
          </a:p>
        </p:txBody>
      </p:sp>
      <p:sp>
        <p:nvSpPr>
          <p:cNvPr id="13" name="Text 11"/>
          <p:cNvSpPr/>
          <p:nvPr/>
        </p:nvSpPr>
        <p:spPr>
          <a:xfrm>
            <a:off x="2571601" y="2691854"/>
            <a:ext cx="1936849" cy="1063228"/>
          </a:xfrm>
          <a:prstGeom prst="roundRect">
            <a:avLst>
              <a:gd name="adj" fmla="val 7167"/>
            </a:avLst>
          </a:prstGeom>
          <a:solidFill>
            <a:srgbClr val="B165FB">
              <a:alpha val="10000"/>
            </a:srgbClr>
          </a:solidFill>
          <a:ln w="9525">
            <a:solidFill>
              <a:srgbClr val="B165FB"/>
            </a:solidFill>
          </a:ln>
        </p:spPr>
        <p:txBody>
          <a:bodyPr wrap="square" rtlCol="0" anchor="ctr"/>
          <a:lstStyle/>
          <a:p>
            <a:pPr indent="0" marL="0">
              <a:buNone/>
            </a:pPr>
            <a:endParaRPr lang="en-US" dirty="0"/>
          </a:p>
        </p:txBody>
      </p:sp>
      <p:sp>
        <p:nvSpPr>
          <p:cNvPr id="14" name="Text 12"/>
          <p:cNvSpPr/>
          <p:nvPr/>
        </p:nvSpPr>
        <p:spPr>
          <a:xfrm>
            <a:off x="2665479" y="3031480"/>
            <a:ext cx="1749094" cy="266700"/>
          </a:xfrm>
          <a:prstGeom prst="rect">
            <a:avLst/>
          </a:prstGeom>
          <a:noFill/>
          <a:ln/>
        </p:spPr>
        <p:txBody>
          <a:bodyPr wrap="square" lIns="0" tIns="0" rIns="0" bIns="0" rtlCol="0" anchor="t"/>
          <a:lstStyle/>
          <a:p>
            <a:pPr algn="ctr" indent="0" marL="0">
              <a:spcBef>
                <a:spcPts val="1800"/>
              </a:spcBef>
              <a:spcAft>
                <a:spcPts val="200"/>
              </a:spcAft>
              <a:buNone/>
            </a:pPr>
            <a:r>
              <a:rPr lang="en-US" sz="1800" b="1" dirty="0">
                <a:solidFill>
                  <a:srgbClr val="B165FB"/>
                </a:solidFill>
                <a:latin typeface="Arial" pitchFamily="34" charset="0"/>
                <a:ea typeface="Arial" pitchFamily="34" charset="-122"/>
                <a:cs typeface="Arial" pitchFamily="34" charset="-120"/>
              </a:rPr>
              <a:t>1.7B</a:t>
            </a:r>
            <a:endParaRPr lang="en-US" sz="1800" dirty="0"/>
          </a:p>
        </p:txBody>
      </p:sp>
      <p:sp>
        <p:nvSpPr>
          <p:cNvPr id="15" name="Text 13"/>
          <p:cNvSpPr/>
          <p:nvPr/>
        </p:nvSpPr>
        <p:spPr>
          <a:xfrm>
            <a:off x="2665479" y="3399681"/>
            <a:ext cx="1749094" cy="142875"/>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888888"/>
                </a:solidFill>
                <a:latin typeface="Arial" pitchFamily="34" charset="0"/>
                <a:ea typeface="Arial" pitchFamily="34" charset="-122"/>
                <a:cs typeface="Arial" pitchFamily="34" charset="-120"/>
              </a:rPr>
              <a:t>参数模型规模</a:t>
            </a:r>
            <a:endParaRPr lang="en-US" sz="800" dirty="0"/>
          </a:p>
        </p:txBody>
      </p:sp>
      <p:sp>
        <p:nvSpPr>
          <p:cNvPr id="16" name="Text 14"/>
          <p:cNvSpPr/>
          <p:nvPr/>
        </p:nvSpPr>
        <p:spPr>
          <a:xfrm>
            <a:off x="4635401" y="2691854"/>
            <a:ext cx="1936849" cy="1063228"/>
          </a:xfrm>
          <a:prstGeom prst="roundRect">
            <a:avLst>
              <a:gd name="adj" fmla="val 7167"/>
            </a:avLst>
          </a:prstGeom>
          <a:solidFill>
            <a:srgbClr val="B165FB">
              <a:alpha val="10000"/>
            </a:srgbClr>
          </a:solidFill>
          <a:ln w="9525">
            <a:solidFill>
              <a:srgbClr val="B165FB"/>
            </a:solidFill>
          </a:ln>
        </p:spPr>
        <p:txBody>
          <a:bodyPr wrap="square" rtlCol="0" anchor="ctr"/>
          <a:lstStyle/>
          <a:p>
            <a:pPr indent="0" marL="0">
              <a:buNone/>
            </a:pPr>
            <a:endParaRPr lang="en-US" dirty="0"/>
          </a:p>
        </p:txBody>
      </p:sp>
      <p:sp>
        <p:nvSpPr>
          <p:cNvPr id="17" name="Text 15"/>
          <p:cNvSpPr/>
          <p:nvPr/>
        </p:nvSpPr>
        <p:spPr>
          <a:xfrm>
            <a:off x="4729279" y="3031480"/>
            <a:ext cx="1749094" cy="266700"/>
          </a:xfrm>
          <a:prstGeom prst="rect">
            <a:avLst/>
          </a:prstGeom>
          <a:noFill/>
          <a:ln/>
        </p:spPr>
        <p:txBody>
          <a:bodyPr wrap="square" lIns="0" tIns="0" rIns="0" bIns="0" rtlCol="0" anchor="t"/>
          <a:lstStyle/>
          <a:p>
            <a:pPr algn="ctr" indent="0" marL="0">
              <a:spcBef>
                <a:spcPts val="1800"/>
              </a:spcBef>
              <a:spcAft>
                <a:spcPts val="200"/>
              </a:spcAft>
              <a:buNone/>
            </a:pPr>
            <a:r>
              <a:rPr lang="en-US" sz="1800" b="1" dirty="0">
                <a:solidFill>
                  <a:srgbClr val="B165FB"/>
                </a:solidFill>
                <a:latin typeface="Arial" pitchFamily="34" charset="0"/>
                <a:ea typeface="Arial" pitchFamily="34" charset="-122"/>
                <a:cs typeface="Arial" pitchFamily="34" charset="-120"/>
              </a:rPr>
              <a:t>~17h</a:t>
            </a:r>
            <a:endParaRPr lang="en-US" sz="1800" dirty="0"/>
          </a:p>
        </p:txBody>
      </p:sp>
      <p:sp>
        <p:nvSpPr>
          <p:cNvPr id="18" name="Text 16"/>
          <p:cNvSpPr/>
          <p:nvPr/>
        </p:nvSpPr>
        <p:spPr>
          <a:xfrm>
            <a:off x="4729279" y="3399681"/>
            <a:ext cx="1749094" cy="142875"/>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888888"/>
                </a:solidFill>
                <a:latin typeface="Arial" pitchFamily="34" charset="0"/>
                <a:ea typeface="Arial" pitchFamily="34" charset="-122"/>
                <a:cs typeface="Arial" pitchFamily="34" charset="-120"/>
              </a:rPr>
              <a:t>总训练时间</a:t>
            </a:r>
            <a:endParaRPr lang="en-US" sz="800" dirty="0"/>
          </a:p>
        </p:txBody>
      </p:sp>
      <p:sp>
        <p:nvSpPr>
          <p:cNvPr id="19" name="Text 17"/>
          <p:cNvSpPr/>
          <p:nvPr/>
        </p:nvSpPr>
        <p:spPr>
          <a:xfrm>
            <a:off x="6699200" y="2691854"/>
            <a:ext cx="1936849" cy="1063228"/>
          </a:xfrm>
          <a:prstGeom prst="roundRect">
            <a:avLst>
              <a:gd name="adj" fmla="val 7167"/>
            </a:avLst>
          </a:prstGeom>
          <a:solidFill>
            <a:srgbClr val="B165FB">
              <a:alpha val="10000"/>
            </a:srgbClr>
          </a:solidFill>
          <a:ln w="9525">
            <a:solidFill>
              <a:srgbClr val="B165FB"/>
            </a:solidFill>
          </a:ln>
        </p:spPr>
        <p:txBody>
          <a:bodyPr wrap="square" rtlCol="0" anchor="ctr"/>
          <a:lstStyle/>
          <a:p>
            <a:pPr indent="0" marL="0">
              <a:buNone/>
            </a:pPr>
            <a:endParaRPr lang="en-US" dirty="0"/>
          </a:p>
        </p:txBody>
      </p:sp>
      <p:sp>
        <p:nvSpPr>
          <p:cNvPr id="20" name="Text 18"/>
          <p:cNvSpPr/>
          <p:nvPr/>
        </p:nvSpPr>
        <p:spPr>
          <a:xfrm>
            <a:off x="6793078" y="3031480"/>
            <a:ext cx="1749094" cy="266700"/>
          </a:xfrm>
          <a:prstGeom prst="rect">
            <a:avLst/>
          </a:prstGeom>
          <a:noFill/>
          <a:ln/>
        </p:spPr>
        <p:txBody>
          <a:bodyPr wrap="square" lIns="0" tIns="0" rIns="0" bIns="0" rtlCol="0" anchor="t"/>
          <a:lstStyle/>
          <a:p>
            <a:pPr algn="ctr" indent="0" marL="0">
              <a:spcBef>
                <a:spcPts val="1800"/>
              </a:spcBef>
              <a:spcAft>
                <a:spcPts val="200"/>
              </a:spcAft>
              <a:buNone/>
            </a:pPr>
            <a:r>
              <a:rPr lang="en-US" sz="1800" b="1" dirty="0">
                <a:solidFill>
                  <a:srgbClr val="B165FB"/>
                </a:solidFill>
                <a:latin typeface="Arial" pitchFamily="34" charset="0"/>
                <a:ea typeface="Arial" pitchFamily="34" charset="-122"/>
                <a:cs typeface="Arial" pitchFamily="34" charset="-120"/>
              </a:rPr>
              <a:t>10924×</a:t>
            </a:r>
            <a:endParaRPr lang="en-US" sz="1800" dirty="0"/>
          </a:p>
        </p:txBody>
      </p:sp>
      <p:sp>
        <p:nvSpPr>
          <p:cNvPr id="21" name="Text 19"/>
          <p:cNvSpPr/>
          <p:nvPr/>
        </p:nvSpPr>
        <p:spPr>
          <a:xfrm>
            <a:off x="6793078" y="3399681"/>
            <a:ext cx="1749094" cy="142875"/>
          </a:xfrm>
          <a:prstGeom prst="rect">
            <a:avLst/>
          </a:prstGeom>
          <a:noFill/>
          <a:ln/>
        </p:spPr>
        <p:txBody>
          <a:bodyPr wrap="square" lIns="0" tIns="0" rIns="0" bIns="0" rtlCol="0" anchor="t"/>
          <a:lstStyle/>
          <a:p>
            <a:pPr algn="ctr" indent="0" marL="0">
              <a:spcBef>
                <a:spcPts val="800"/>
              </a:spcBef>
              <a:spcAft>
                <a:spcPts val="800"/>
              </a:spcAft>
              <a:buNone/>
            </a:pPr>
            <a:r>
              <a:rPr lang="en-US" sz="800" dirty="0">
                <a:solidFill>
                  <a:srgbClr val="888888"/>
                </a:solidFill>
                <a:latin typeface="Arial" pitchFamily="34" charset="0"/>
                <a:ea typeface="Arial" pitchFamily="34" charset="-122"/>
                <a:cs typeface="Arial" pitchFamily="34" charset="-120"/>
              </a:rPr>
              <a:t>信号放大倍数</a:t>
            </a:r>
            <a:endParaRPr lang="en-US" sz="800" dirty="0"/>
          </a:p>
        </p:txBody>
      </p:sp>
      <p:sp>
        <p:nvSpPr>
          <p:cNvPr id="22" name="Text 20"/>
          <p:cNvSpPr/>
          <p:nvPr/>
        </p:nvSpPr>
        <p:spPr>
          <a:xfrm>
            <a:off x="507950" y="3856583"/>
            <a:ext cx="8128099" cy="637877"/>
          </a:xfrm>
          <a:prstGeom prst="roundRect">
            <a:avLst>
              <a:gd name="adj" fmla="val 11946"/>
            </a:avLst>
          </a:prstGeom>
          <a:solidFill>
            <a:srgbClr val="40695B"/>
          </a:solidFill>
          <a:ln/>
        </p:spPr>
        <p:txBody>
          <a:bodyPr wrap="square" rtlCol="0" anchor="ctr"/>
          <a:lstStyle/>
          <a:p>
            <a:pPr indent="0" marL="0">
              <a:buNone/>
            </a:pPr>
            <a:endParaRPr lang="en-US" dirty="0"/>
          </a:p>
        </p:txBody>
      </p:sp>
      <p:sp>
        <p:nvSpPr>
          <p:cNvPr id="23" name="Text 21"/>
          <p:cNvSpPr/>
          <p:nvPr/>
        </p:nvSpPr>
        <p:spPr>
          <a:xfrm>
            <a:off x="634901" y="4085034"/>
            <a:ext cx="8031682" cy="180975"/>
          </a:xfrm>
          <a:prstGeom prst="rect">
            <a:avLst/>
          </a:prstGeom>
          <a:noFill/>
          <a:ln/>
        </p:spPr>
        <p:txBody>
          <a:bodyPr wrap="square" lIns="0" tIns="0" rIns="0" bIns="0" rtlCol="0" anchor="t"/>
          <a:lstStyle/>
          <a:p>
            <a:pPr algn="l" indent="0" marL="0">
              <a:spcBef>
                <a:spcPts val="1000"/>
              </a:spcBef>
              <a:spcAft>
                <a:spcPts val="1000"/>
              </a:spcAft>
              <a:buNone/>
            </a:pPr>
            <a:r>
              <a:rPr lang="en-US" sz="1000" i="1" dirty="0">
                <a:solidFill>
                  <a:srgbClr val="FFFFFF"/>
                </a:solidFill>
                <a:latin typeface="Arial" pitchFamily="34" charset="0"/>
                <a:ea typeface="Arial" pitchFamily="34" charset="-122"/>
                <a:cs typeface="Arial" pitchFamily="34" charset="-120"/>
              </a:rPr>
              <a:t>「我原本以为 DeepSeek 的 3000 倍放大已经很夸张了，没想到在我的实验中看到了 10924 倍！」</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190500"/>
            <a:ext cx="0" cy="352425"/>
          </a:xfrm>
          <a:prstGeom prst="line">
            <a:avLst/>
          </a:prstGeom>
          <a:noFill/>
          <a:ln w="76200">
            <a:solidFill>
              <a:srgbClr val="B165FB"/>
            </a:solidFill>
            <a:prstDash val="solid"/>
          </a:ln>
        </p:spPr>
      </p:sp>
      <p:sp>
        <p:nvSpPr>
          <p:cNvPr id="4" name="Text 2"/>
          <p:cNvSpPr/>
          <p:nvPr/>
        </p:nvSpPr>
        <p:spPr>
          <a:xfrm>
            <a:off x="774650" y="190500"/>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复现实验配置</a:t>
            </a:r>
            <a:endParaRPr lang="en-US" sz="2000" dirty="0"/>
          </a:p>
        </p:txBody>
      </p:sp>
      <p:sp>
        <p:nvSpPr>
          <p:cNvPr id="5" name="Text 3"/>
          <p:cNvSpPr/>
          <p:nvPr/>
        </p:nvSpPr>
        <p:spPr>
          <a:xfrm>
            <a:off x="507950" y="644426"/>
            <a:ext cx="4000500" cy="933152"/>
          </a:xfrm>
          <a:prstGeom prst="roundRect">
            <a:avLst>
              <a:gd name="adj" fmla="val 8166"/>
            </a:avLst>
          </a:prstGeom>
          <a:solidFill>
            <a:srgbClr val="F5F5F7"/>
          </a:solidFill>
          <a:ln/>
        </p:spPr>
        <p:txBody>
          <a:bodyPr wrap="square" rtlCol="0" anchor="ctr"/>
          <a:lstStyle/>
          <a:p>
            <a:pPr indent="0" marL="0">
              <a:buNone/>
            </a:pPr>
            <a:endParaRPr lang="en-US" dirty="0"/>
          </a:p>
        </p:txBody>
      </p:sp>
      <p:sp>
        <p:nvSpPr>
          <p:cNvPr id="6" name="Text 4"/>
          <p:cNvSpPr/>
          <p:nvPr/>
        </p:nvSpPr>
        <p:spPr>
          <a:xfrm>
            <a:off x="609451" y="872877"/>
            <a:ext cx="3873448" cy="180975"/>
          </a:xfrm>
          <a:prstGeom prst="rect">
            <a:avLst/>
          </a:prstGeom>
          <a:noFill/>
          <a:ln/>
        </p:spPr>
        <p:txBody>
          <a:bodyPr wrap="square" lIns="0" tIns="0" rIns="0" bIns="0" rtlCol="0" anchor="t"/>
          <a:lstStyle/>
          <a:p>
            <a:pPr algn="l" indent="0" marL="0">
              <a:spcBef>
                <a:spcPts val="1000"/>
              </a:spcBef>
              <a:spcAft>
                <a:spcPts val="400"/>
              </a:spcAft>
              <a:buNone/>
            </a:pPr>
            <a:r>
              <a:rPr lang="en-US" sz="1000" b="1" dirty="0">
                <a:solidFill>
                  <a:srgbClr val="B165FB"/>
                </a:solidFill>
                <a:latin typeface="Arial" pitchFamily="34" charset="0"/>
                <a:ea typeface="Arial" pitchFamily="34" charset="-122"/>
                <a:cs typeface="Arial" pitchFamily="34" charset="-120"/>
              </a:rPr>
              <a:t>硬件配置</a:t>
            </a:r>
            <a:endParaRPr lang="en-US" sz="1000" dirty="0"/>
          </a:p>
        </p:txBody>
      </p:sp>
      <p:sp>
        <p:nvSpPr>
          <p:cNvPr id="7" name="Text 5"/>
          <p:cNvSpPr/>
          <p:nvPr/>
        </p:nvSpPr>
        <p:spPr>
          <a:xfrm>
            <a:off x="609451" y="1104602"/>
            <a:ext cx="3873448" cy="133350"/>
          </a:xfrm>
          <a:prstGeom prst="rect">
            <a:avLst/>
          </a:prstGeom>
          <a:noFill/>
          <a:ln/>
        </p:spPr>
        <p:txBody>
          <a:bodyPr wrap="square" lIns="0" tIns="0" rIns="0" bIns="0" rtlCol="0" anchor="t"/>
          <a:lstStyle/>
          <a:p>
            <a:pPr algn="l" indent="0" marL="0">
              <a:spcBef>
                <a:spcPts val="300"/>
              </a:spcBef>
              <a:spcAft>
                <a:spcPts val="300"/>
              </a:spcAft>
              <a:buNone/>
            </a:pPr>
            <a:r>
              <a:rPr lang="en-US" sz="900" dirty="0">
                <a:solidFill>
                  <a:srgbClr val="333333"/>
                </a:solidFill>
                <a:latin typeface="Arial" pitchFamily="34" charset="0"/>
                <a:ea typeface="Arial" pitchFamily="34" charset="-122"/>
                <a:cs typeface="Arial" pitchFamily="34" charset="-120"/>
              </a:rPr>
              <a:t>GPU: </a:t>
            </a:r>
            <a:pPr algn="l" indent="0" marL="0">
              <a:spcBef>
                <a:spcPts val="300"/>
              </a:spcBef>
              <a:spcAft>
                <a:spcPts val="300"/>
              </a:spcAft>
              <a:buNone/>
            </a:pPr>
            <a:r>
              <a:rPr lang="en-US" sz="900" dirty="0">
                <a:solidFill>
                  <a:srgbClr val="666666"/>
                </a:solidFill>
                <a:latin typeface="Arial" pitchFamily="34" charset="0"/>
                <a:ea typeface="Arial" pitchFamily="34" charset="-122"/>
                <a:cs typeface="Arial" pitchFamily="34" charset="-120"/>
              </a:rPr>
              <a:t>8× H100 80GB</a:t>
            </a:r>
            <a:endParaRPr lang="en-US" sz="900" dirty="0"/>
          </a:p>
        </p:txBody>
      </p:sp>
      <p:sp>
        <p:nvSpPr>
          <p:cNvPr id="8" name="Text 6"/>
          <p:cNvSpPr/>
          <p:nvPr/>
        </p:nvSpPr>
        <p:spPr>
          <a:xfrm>
            <a:off x="609451" y="1276052"/>
            <a:ext cx="3873448" cy="161925"/>
          </a:xfrm>
          <a:prstGeom prst="rect">
            <a:avLst/>
          </a:prstGeom>
          <a:noFill/>
          <a:ln/>
        </p:spPr>
        <p:txBody>
          <a:bodyPr wrap="square" lIns="0" tIns="0" rIns="0" bIns="0" rtlCol="0" anchor="t"/>
          <a:lstStyle/>
          <a:p>
            <a:pPr algn="l" indent="0" marL="0">
              <a:spcBef>
                <a:spcPts val="300"/>
              </a:spcBef>
              <a:spcAft>
                <a:spcPts val="300"/>
              </a:spcAft>
              <a:buNone/>
            </a:pPr>
            <a:r>
              <a:rPr lang="en-US" sz="900" dirty="0">
                <a:solidFill>
                  <a:srgbClr val="333333"/>
                </a:solidFill>
                <a:latin typeface="Arial" pitchFamily="34" charset="0"/>
                <a:ea typeface="Arial" pitchFamily="34" charset="-122"/>
                <a:cs typeface="Arial" pitchFamily="34" charset="-120"/>
              </a:rPr>
              <a:t>来源: </a:t>
            </a:r>
            <a:pPr algn="l" indent="0" marL="0">
              <a:spcBef>
                <a:spcPts val="300"/>
              </a:spcBef>
              <a:spcAft>
                <a:spcPts val="300"/>
              </a:spcAft>
              <a:buNone/>
            </a:pPr>
            <a:r>
              <a:rPr lang="en-US" sz="900" dirty="0">
                <a:solidFill>
                  <a:srgbClr val="666666"/>
                </a:solidFill>
                <a:latin typeface="Arial" pitchFamily="34" charset="0"/>
                <a:ea typeface="Arial" pitchFamily="34" charset="-122"/>
                <a:cs typeface="Arial" pitchFamily="34" charset="-120"/>
              </a:rPr>
              <a:t>Lambda Labs</a:t>
            </a:r>
            <a:endParaRPr lang="en-US" sz="900" dirty="0"/>
          </a:p>
        </p:txBody>
      </p:sp>
      <p:sp>
        <p:nvSpPr>
          <p:cNvPr id="9" name="Text 7"/>
          <p:cNvSpPr/>
          <p:nvPr/>
        </p:nvSpPr>
        <p:spPr>
          <a:xfrm>
            <a:off x="507950" y="1653778"/>
            <a:ext cx="4000500" cy="1161752"/>
          </a:xfrm>
          <a:prstGeom prst="roundRect">
            <a:avLst>
              <a:gd name="adj" fmla="val 6559"/>
            </a:avLst>
          </a:prstGeom>
          <a:solidFill>
            <a:srgbClr val="F5F5F7"/>
          </a:solidFill>
          <a:ln/>
        </p:spPr>
        <p:txBody>
          <a:bodyPr wrap="square" rtlCol="0" anchor="ctr"/>
          <a:lstStyle/>
          <a:p>
            <a:pPr indent="0" marL="0">
              <a:buNone/>
            </a:pPr>
            <a:endParaRPr lang="en-US" dirty="0"/>
          </a:p>
        </p:txBody>
      </p:sp>
      <p:sp>
        <p:nvSpPr>
          <p:cNvPr id="10" name="Text 8"/>
          <p:cNvSpPr/>
          <p:nvPr/>
        </p:nvSpPr>
        <p:spPr>
          <a:xfrm>
            <a:off x="609451" y="1882229"/>
            <a:ext cx="3873448" cy="180975"/>
          </a:xfrm>
          <a:prstGeom prst="rect">
            <a:avLst/>
          </a:prstGeom>
          <a:noFill/>
          <a:ln/>
        </p:spPr>
        <p:txBody>
          <a:bodyPr wrap="square" lIns="0" tIns="0" rIns="0" bIns="0" rtlCol="0" anchor="t"/>
          <a:lstStyle/>
          <a:p>
            <a:pPr algn="l" indent="0" marL="0">
              <a:spcBef>
                <a:spcPts val="1000"/>
              </a:spcBef>
              <a:spcAft>
                <a:spcPts val="400"/>
              </a:spcAft>
              <a:buNone/>
            </a:pPr>
            <a:r>
              <a:rPr lang="en-US" sz="1000" b="1" dirty="0">
                <a:solidFill>
                  <a:srgbClr val="B165FB"/>
                </a:solidFill>
                <a:latin typeface="Arial" pitchFamily="34" charset="0"/>
                <a:ea typeface="Arial" pitchFamily="34" charset="-122"/>
                <a:cs typeface="Arial" pitchFamily="34" charset="-120"/>
              </a:rPr>
              <a:t>训练配置</a:t>
            </a:r>
            <a:endParaRPr lang="en-US" sz="1000" dirty="0"/>
          </a:p>
        </p:txBody>
      </p:sp>
      <p:sp>
        <p:nvSpPr>
          <p:cNvPr id="11" name="Text 9"/>
          <p:cNvSpPr/>
          <p:nvPr/>
        </p:nvSpPr>
        <p:spPr>
          <a:xfrm>
            <a:off x="609451" y="2113955"/>
            <a:ext cx="3873448" cy="161925"/>
          </a:xfrm>
          <a:prstGeom prst="rect">
            <a:avLst/>
          </a:prstGeom>
          <a:noFill/>
          <a:ln/>
        </p:spPr>
        <p:txBody>
          <a:bodyPr wrap="square" lIns="0" tIns="0" rIns="0" bIns="0" rtlCol="0" anchor="t"/>
          <a:lstStyle/>
          <a:p>
            <a:pPr algn="l" indent="0" marL="0">
              <a:spcBef>
                <a:spcPts val="300"/>
              </a:spcBef>
              <a:spcAft>
                <a:spcPts val="300"/>
              </a:spcAft>
              <a:buNone/>
            </a:pPr>
            <a:r>
              <a:rPr lang="en-US" sz="900" dirty="0">
                <a:solidFill>
                  <a:srgbClr val="333333"/>
                </a:solidFill>
                <a:latin typeface="Arial" pitchFamily="34" charset="0"/>
                <a:ea typeface="Arial" pitchFamily="34" charset="-122"/>
                <a:cs typeface="Arial" pitchFamily="34" charset="-120"/>
              </a:rPr>
              <a:t>步数: </a:t>
            </a:r>
            <a:pPr algn="l" indent="0" marL="0">
              <a:spcBef>
                <a:spcPts val="300"/>
              </a:spcBef>
              <a:spcAft>
                <a:spcPts val="300"/>
              </a:spcAft>
              <a:buNone/>
            </a:pPr>
            <a:r>
              <a:rPr lang="en-US" sz="900" dirty="0">
                <a:solidFill>
                  <a:srgbClr val="666666"/>
                </a:solidFill>
                <a:latin typeface="Arial" pitchFamily="34" charset="0"/>
                <a:ea typeface="Arial" pitchFamily="34" charset="-122"/>
                <a:cs typeface="Arial" pitchFamily="34" charset="-120"/>
              </a:rPr>
              <a:t>5,000 步</a:t>
            </a:r>
            <a:endParaRPr lang="en-US" sz="900" dirty="0"/>
          </a:p>
        </p:txBody>
      </p:sp>
      <p:sp>
        <p:nvSpPr>
          <p:cNvPr id="12" name="Text 10"/>
          <p:cNvSpPr/>
          <p:nvPr/>
        </p:nvSpPr>
        <p:spPr>
          <a:xfrm>
            <a:off x="609451" y="2313980"/>
            <a:ext cx="3873448" cy="161925"/>
          </a:xfrm>
          <a:prstGeom prst="rect">
            <a:avLst/>
          </a:prstGeom>
          <a:noFill/>
          <a:ln/>
        </p:spPr>
        <p:txBody>
          <a:bodyPr wrap="square" lIns="0" tIns="0" rIns="0" bIns="0" rtlCol="0" anchor="t"/>
          <a:lstStyle/>
          <a:p>
            <a:pPr algn="l" indent="0" marL="0">
              <a:spcBef>
                <a:spcPts val="300"/>
              </a:spcBef>
              <a:spcAft>
                <a:spcPts val="300"/>
              </a:spcAft>
              <a:buNone/>
            </a:pPr>
            <a:r>
              <a:rPr lang="en-US" sz="900" dirty="0">
                <a:solidFill>
                  <a:srgbClr val="333333"/>
                </a:solidFill>
                <a:latin typeface="Arial" pitchFamily="34" charset="0"/>
                <a:ea typeface="Arial" pitchFamily="34" charset="-122"/>
                <a:cs typeface="Arial" pitchFamily="34" charset="-120"/>
              </a:rPr>
              <a:t>精度: </a:t>
            </a:r>
            <a:pPr algn="l" indent="0" marL="0">
              <a:spcBef>
                <a:spcPts val="300"/>
              </a:spcBef>
              <a:spcAft>
                <a:spcPts val="300"/>
              </a:spcAft>
              <a:buNone/>
            </a:pPr>
            <a:r>
              <a:rPr lang="en-US" sz="900" dirty="0">
                <a:solidFill>
                  <a:srgbClr val="666666"/>
                </a:solidFill>
                <a:latin typeface="Arial" pitchFamily="34" charset="0"/>
                <a:ea typeface="Arial" pitchFamily="34" charset="-122"/>
                <a:cs typeface="Arial" pitchFamily="34" charset="-120"/>
              </a:rPr>
              <a:t>BF16 混合精度</a:t>
            </a:r>
            <a:endParaRPr lang="en-US" sz="900" dirty="0"/>
          </a:p>
        </p:txBody>
      </p:sp>
      <p:sp>
        <p:nvSpPr>
          <p:cNvPr id="13" name="Text 11"/>
          <p:cNvSpPr/>
          <p:nvPr/>
        </p:nvSpPr>
        <p:spPr>
          <a:xfrm>
            <a:off x="609451" y="2514005"/>
            <a:ext cx="3873448" cy="161925"/>
          </a:xfrm>
          <a:prstGeom prst="rect">
            <a:avLst/>
          </a:prstGeom>
          <a:noFill/>
          <a:ln/>
        </p:spPr>
        <p:txBody>
          <a:bodyPr wrap="square" lIns="0" tIns="0" rIns="0" bIns="0" rtlCol="0" anchor="t"/>
          <a:lstStyle/>
          <a:p>
            <a:pPr algn="l" indent="0" marL="0">
              <a:spcBef>
                <a:spcPts val="300"/>
              </a:spcBef>
              <a:spcAft>
                <a:spcPts val="300"/>
              </a:spcAft>
              <a:buNone/>
            </a:pPr>
            <a:r>
              <a:rPr lang="en-US" sz="900" dirty="0">
                <a:solidFill>
                  <a:srgbClr val="333333"/>
                </a:solidFill>
                <a:latin typeface="Arial" pitchFamily="34" charset="0"/>
                <a:ea typeface="Arial" pitchFamily="34" charset="-122"/>
                <a:cs typeface="Arial" pitchFamily="34" charset="-120"/>
              </a:rPr>
              <a:t>随机种子: </a:t>
            </a:r>
            <a:pPr algn="l" indent="0" marL="0">
              <a:spcBef>
                <a:spcPts val="300"/>
              </a:spcBef>
              <a:spcAft>
                <a:spcPts val="300"/>
              </a:spcAft>
              <a:buNone/>
            </a:pPr>
            <a:r>
              <a:rPr lang="en-US" sz="900" dirty="0">
                <a:solidFill>
                  <a:srgbClr val="666666"/>
                </a:solidFill>
                <a:latin typeface="Arial" pitchFamily="34" charset="0"/>
                <a:ea typeface="Arial" pitchFamily="34" charset="-122"/>
                <a:cs typeface="Arial" pitchFamily="34" charset="-120"/>
              </a:rPr>
              <a:t>3 个</a:t>
            </a:r>
            <a:endParaRPr lang="en-US" sz="900" dirty="0"/>
          </a:p>
        </p:txBody>
      </p:sp>
      <p:sp>
        <p:nvSpPr>
          <p:cNvPr id="14" name="Text 12"/>
          <p:cNvSpPr/>
          <p:nvPr/>
        </p:nvSpPr>
        <p:spPr>
          <a:xfrm>
            <a:off x="4635401" y="644426"/>
            <a:ext cx="4000649" cy="761702"/>
          </a:xfrm>
          <a:prstGeom prst="roundRect">
            <a:avLst>
              <a:gd name="adj" fmla="val 10004"/>
            </a:avLst>
          </a:prstGeom>
          <a:solidFill>
            <a:srgbClr val="F5F5F7"/>
          </a:solidFill>
          <a:ln/>
        </p:spPr>
        <p:txBody>
          <a:bodyPr wrap="square" rtlCol="0" anchor="ctr"/>
          <a:lstStyle/>
          <a:p>
            <a:pPr indent="0" marL="0">
              <a:buNone/>
            </a:pPr>
            <a:endParaRPr lang="en-US" dirty="0"/>
          </a:p>
        </p:txBody>
      </p:sp>
      <p:sp>
        <p:nvSpPr>
          <p:cNvPr id="15" name="Text 13"/>
          <p:cNvSpPr/>
          <p:nvPr/>
        </p:nvSpPr>
        <p:spPr>
          <a:xfrm>
            <a:off x="4736902" y="872877"/>
            <a:ext cx="3873600" cy="180975"/>
          </a:xfrm>
          <a:prstGeom prst="rect">
            <a:avLst/>
          </a:prstGeom>
          <a:noFill/>
          <a:ln/>
        </p:spPr>
        <p:txBody>
          <a:bodyPr wrap="square" lIns="0" tIns="0" rIns="0" bIns="0" rtlCol="0" anchor="t"/>
          <a:lstStyle/>
          <a:p>
            <a:pPr algn="l" indent="0" marL="0">
              <a:spcBef>
                <a:spcPts val="1000"/>
              </a:spcBef>
              <a:spcAft>
                <a:spcPts val="400"/>
              </a:spcAft>
              <a:buNone/>
            </a:pPr>
            <a:r>
              <a:rPr lang="en-US" sz="1000" b="1" dirty="0">
                <a:solidFill>
                  <a:srgbClr val="B165FB"/>
                </a:solidFill>
                <a:latin typeface="Arial" pitchFamily="34" charset="0"/>
                <a:ea typeface="Arial" pitchFamily="34" charset="-122"/>
                <a:cs typeface="Arial" pitchFamily="34" charset="-120"/>
              </a:rPr>
              <a:t>数据集</a:t>
            </a:r>
            <a:endParaRPr lang="en-US" sz="1000" dirty="0"/>
          </a:p>
        </p:txBody>
      </p:sp>
      <p:sp>
        <p:nvSpPr>
          <p:cNvPr id="16" name="Text 14"/>
          <p:cNvSpPr/>
          <p:nvPr/>
        </p:nvSpPr>
        <p:spPr>
          <a:xfrm>
            <a:off x="4736902" y="1104602"/>
            <a:ext cx="3873600" cy="161925"/>
          </a:xfrm>
          <a:prstGeom prst="rect">
            <a:avLst/>
          </a:prstGeom>
          <a:noFill/>
          <a:ln/>
        </p:spPr>
        <p:txBody>
          <a:bodyPr wrap="square" lIns="0" tIns="0" rIns="0" bIns="0" rtlCol="0" anchor="t"/>
          <a:lstStyle/>
          <a:p>
            <a:pPr algn="l" indent="0" marL="0">
              <a:spcBef>
                <a:spcPts val="300"/>
              </a:spcBef>
              <a:spcAft>
                <a:spcPts val="300"/>
              </a:spcAft>
              <a:buNone/>
            </a:pPr>
            <a:r>
              <a:rPr lang="en-US" sz="900" dirty="0">
                <a:solidFill>
                  <a:srgbClr val="333333"/>
                </a:solidFill>
                <a:latin typeface="Arial" pitchFamily="34" charset="0"/>
                <a:ea typeface="Arial" pitchFamily="34" charset="-122"/>
                <a:cs typeface="Arial" pitchFamily="34" charset="-120"/>
              </a:rPr>
              <a:t>名称: </a:t>
            </a:r>
            <a:pPr algn="l" indent="0" marL="0">
              <a:spcBef>
                <a:spcPts val="300"/>
              </a:spcBef>
              <a:spcAft>
                <a:spcPts val="300"/>
              </a:spcAft>
              <a:buNone/>
            </a:pPr>
            <a:r>
              <a:rPr lang="en-US" sz="900" dirty="0">
                <a:solidFill>
                  <a:srgbClr val="666666"/>
                </a:solidFill>
                <a:latin typeface="Arial" pitchFamily="34" charset="0"/>
                <a:ea typeface="Arial" pitchFamily="34" charset="-122"/>
                <a:cs typeface="Arial" pitchFamily="34" charset="-120"/>
              </a:rPr>
              <a:t>C4 (英文网页文本)</a:t>
            </a:r>
            <a:endParaRPr lang="en-US" sz="900" dirty="0"/>
          </a:p>
        </p:txBody>
      </p:sp>
      <p:sp>
        <p:nvSpPr>
          <p:cNvPr id="17" name="Text 15"/>
          <p:cNvSpPr/>
          <p:nvPr/>
        </p:nvSpPr>
        <p:spPr>
          <a:xfrm>
            <a:off x="4635401" y="1482328"/>
            <a:ext cx="4000649" cy="1161752"/>
          </a:xfrm>
          <a:prstGeom prst="roundRect">
            <a:avLst>
              <a:gd name="adj" fmla="val 6559"/>
            </a:avLst>
          </a:prstGeom>
          <a:solidFill>
            <a:srgbClr val="F5F5F7"/>
          </a:solidFill>
          <a:ln/>
        </p:spPr>
        <p:txBody>
          <a:bodyPr wrap="square" rtlCol="0" anchor="ctr"/>
          <a:lstStyle/>
          <a:p>
            <a:pPr indent="0" marL="0">
              <a:buNone/>
            </a:pPr>
            <a:endParaRPr lang="en-US" dirty="0"/>
          </a:p>
        </p:txBody>
      </p:sp>
      <p:sp>
        <p:nvSpPr>
          <p:cNvPr id="18" name="Text 16"/>
          <p:cNvSpPr/>
          <p:nvPr/>
        </p:nvSpPr>
        <p:spPr>
          <a:xfrm>
            <a:off x="4736902" y="1710779"/>
            <a:ext cx="3873600" cy="180975"/>
          </a:xfrm>
          <a:prstGeom prst="rect">
            <a:avLst/>
          </a:prstGeom>
          <a:noFill/>
          <a:ln/>
        </p:spPr>
        <p:txBody>
          <a:bodyPr wrap="square" lIns="0" tIns="0" rIns="0" bIns="0" rtlCol="0" anchor="t"/>
          <a:lstStyle/>
          <a:p>
            <a:pPr algn="l" indent="0" marL="0">
              <a:spcBef>
                <a:spcPts val="1000"/>
              </a:spcBef>
              <a:spcAft>
                <a:spcPts val="400"/>
              </a:spcAft>
              <a:buNone/>
            </a:pPr>
            <a:r>
              <a:rPr lang="en-US" sz="1000" b="1" dirty="0">
                <a:solidFill>
                  <a:srgbClr val="B165FB"/>
                </a:solidFill>
                <a:latin typeface="Arial" pitchFamily="34" charset="0"/>
                <a:ea typeface="Arial" pitchFamily="34" charset="-122"/>
                <a:cs typeface="Arial" pitchFamily="34" charset="-120"/>
              </a:rPr>
              <a:t>实验变量</a:t>
            </a:r>
            <a:endParaRPr lang="en-US" sz="1000" dirty="0"/>
          </a:p>
        </p:txBody>
      </p:sp>
      <p:sp>
        <p:nvSpPr>
          <p:cNvPr id="19" name="Text 17"/>
          <p:cNvSpPr/>
          <p:nvPr/>
        </p:nvSpPr>
        <p:spPr>
          <a:xfrm>
            <a:off x="4736902" y="1942505"/>
            <a:ext cx="3873600" cy="161925"/>
          </a:xfrm>
          <a:prstGeom prst="rect">
            <a:avLst/>
          </a:prstGeom>
          <a:noFill/>
          <a:ln/>
        </p:spPr>
        <p:txBody>
          <a:bodyPr wrap="square" lIns="0" tIns="0" rIns="0" bIns="0" rtlCol="0" anchor="t"/>
          <a:lstStyle/>
          <a:p>
            <a:pPr algn="l" indent="0" marL="0">
              <a:spcBef>
                <a:spcPts val="300"/>
              </a:spcBef>
              <a:spcAft>
                <a:spcPts val="300"/>
              </a:spcAft>
              <a:buNone/>
            </a:pPr>
            <a:r>
              <a:rPr lang="en-US" sz="900" dirty="0">
                <a:solidFill>
                  <a:srgbClr val="333333"/>
                </a:solidFill>
                <a:latin typeface="Arial" pitchFamily="34" charset="0"/>
                <a:ea typeface="Arial" pitchFamily="34" charset="-122"/>
                <a:cs typeface="Arial" pitchFamily="34" charset="-120"/>
              </a:rPr>
              <a:t>架构: </a:t>
            </a:r>
            <a:pPr algn="l" indent="0" marL="0">
              <a:spcBef>
                <a:spcPts val="300"/>
              </a:spcBef>
              <a:spcAft>
                <a:spcPts val="300"/>
              </a:spcAft>
              <a:buNone/>
            </a:pPr>
            <a:r>
              <a:rPr lang="en-US" sz="900" dirty="0">
                <a:solidFill>
                  <a:srgbClr val="666666"/>
                </a:solidFill>
                <a:latin typeface="Arial" pitchFamily="34" charset="0"/>
                <a:ea typeface="Arial" pitchFamily="34" charset="-122"/>
                <a:cs typeface="Arial" pitchFamily="34" charset="-120"/>
              </a:rPr>
              <a:t>HC vs mHC</a:t>
            </a:r>
            <a:endParaRPr lang="en-US" sz="900" dirty="0"/>
          </a:p>
        </p:txBody>
      </p:sp>
      <p:sp>
        <p:nvSpPr>
          <p:cNvPr id="20" name="Text 18"/>
          <p:cNvSpPr/>
          <p:nvPr/>
        </p:nvSpPr>
        <p:spPr>
          <a:xfrm>
            <a:off x="4736902" y="2142530"/>
            <a:ext cx="3873600" cy="161925"/>
          </a:xfrm>
          <a:prstGeom prst="rect">
            <a:avLst/>
          </a:prstGeom>
          <a:noFill/>
          <a:ln/>
        </p:spPr>
        <p:txBody>
          <a:bodyPr wrap="square" lIns="0" tIns="0" rIns="0" bIns="0" rtlCol="0" anchor="t"/>
          <a:lstStyle/>
          <a:p>
            <a:pPr algn="l" indent="0" marL="0">
              <a:spcBef>
                <a:spcPts val="300"/>
              </a:spcBef>
              <a:spcAft>
                <a:spcPts val="300"/>
              </a:spcAft>
              <a:buNone/>
            </a:pPr>
            <a:r>
              <a:rPr lang="en-US" sz="900" dirty="0">
                <a:solidFill>
                  <a:srgbClr val="333333"/>
                </a:solidFill>
                <a:latin typeface="Arial" pitchFamily="34" charset="0"/>
                <a:ea typeface="Arial" pitchFamily="34" charset="-122"/>
                <a:cs typeface="Arial" pitchFamily="34" charset="-120"/>
              </a:rPr>
              <a:t>深度: </a:t>
            </a:r>
            <a:pPr algn="l" indent="0" marL="0">
              <a:spcBef>
                <a:spcPts val="300"/>
              </a:spcBef>
              <a:spcAft>
                <a:spcPts val="300"/>
              </a:spcAft>
              <a:buNone/>
            </a:pPr>
            <a:r>
              <a:rPr lang="en-US" sz="900" dirty="0">
                <a:solidFill>
                  <a:srgbClr val="666666"/>
                </a:solidFill>
                <a:latin typeface="Arial" pitchFamily="34" charset="0"/>
                <a:ea typeface="Arial" pitchFamily="34" charset="-122"/>
                <a:cs typeface="Arial" pitchFamily="34" charset="-120"/>
              </a:rPr>
              <a:t>32/48/64层</a:t>
            </a:r>
            <a:endParaRPr lang="en-US" sz="900" dirty="0"/>
          </a:p>
        </p:txBody>
      </p:sp>
      <p:sp>
        <p:nvSpPr>
          <p:cNvPr id="21" name="Text 19"/>
          <p:cNvSpPr/>
          <p:nvPr/>
        </p:nvSpPr>
        <p:spPr>
          <a:xfrm>
            <a:off x="4736902" y="2342555"/>
            <a:ext cx="3873600" cy="161925"/>
          </a:xfrm>
          <a:prstGeom prst="rect">
            <a:avLst/>
          </a:prstGeom>
          <a:noFill/>
          <a:ln/>
        </p:spPr>
        <p:txBody>
          <a:bodyPr wrap="square" lIns="0" tIns="0" rIns="0" bIns="0" rtlCol="0" anchor="t"/>
          <a:lstStyle/>
          <a:p>
            <a:pPr algn="l" indent="0" marL="0">
              <a:spcBef>
                <a:spcPts val="300"/>
              </a:spcBef>
              <a:spcAft>
                <a:spcPts val="300"/>
              </a:spcAft>
              <a:buNone/>
            </a:pPr>
            <a:r>
              <a:rPr lang="en-US" sz="900" dirty="0">
                <a:solidFill>
                  <a:srgbClr val="333333"/>
                </a:solidFill>
                <a:latin typeface="Arial" pitchFamily="34" charset="0"/>
                <a:ea typeface="Arial" pitchFamily="34" charset="-122"/>
                <a:cs typeface="Arial" pitchFamily="34" charset="-120"/>
              </a:rPr>
              <a:t>学习率: </a:t>
            </a:r>
            <a:pPr algn="l" indent="0" marL="0">
              <a:spcBef>
                <a:spcPts val="300"/>
              </a:spcBef>
              <a:spcAft>
                <a:spcPts val="300"/>
              </a:spcAft>
              <a:buNone/>
            </a:pPr>
            <a:r>
              <a:rPr lang="en-US" sz="900" dirty="0">
                <a:solidFill>
                  <a:srgbClr val="666666"/>
                </a:solidFill>
                <a:latin typeface="Arial" pitchFamily="34" charset="0"/>
                <a:ea typeface="Arial" pitchFamily="34" charset="-122"/>
                <a:cs typeface="Arial" pitchFamily="34" charset="-120"/>
              </a:rPr>
              <a:t>1× / 3×</a:t>
            </a:r>
            <a:endParaRPr lang="en-US" sz="900" dirty="0"/>
          </a:p>
        </p:txBody>
      </p:sp>
      <p:sp>
        <p:nvSpPr>
          <p:cNvPr id="22" name="Text 20"/>
          <p:cNvSpPr/>
          <p:nvPr/>
        </p:nvSpPr>
        <p:spPr>
          <a:xfrm>
            <a:off x="507950" y="3745409"/>
            <a:ext cx="8128099" cy="542925"/>
          </a:xfrm>
          <a:prstGeom prst="roundRect">
            <a:avLst>
              <a:gd name="adj" fmla="val 14035"/>
            </a:avLst>
          </a:prstGeom>
          <a:solidFill>
            <a:srgbClr val="181B24"/>
          </a:solidFill>
          <a:ln/>
        </p:spPr>
        <p:txBody>
          <a:bodyPr wrap="square" rtlCol="0" anchor="ctr"/>
          <a:lstStyle/>
          <a:p>
            <a:pPr indent="0" marL="0">
              <a:buNone/>
            </a:pPr>
            <a:endParaRPr lang="en-US" dirty="0"/>
          </a:p>
        </p:txBody>
      </p:sp>
      <p:sp>
        <p:nvSpPr>
          <p:cNvPr id="23" name="Text 21"/>
          <p:cNvSpPr/>
          <p:nvPr/>
        </p:nvSpPr>
        <p:spPr>
          <a:xfrm>
            <a:off x="634901" y="3935909"/>
            <a:ext cx="8031682" cy="161925"/>
          </a:xfrm>
          <a:prstGeom prst="rect">
            <a:avLst/>
          </a:prstGeom>
          <a:noFill/>
          <a:ln/>
        </p:spPr>
        <p:txBody>
          <a:bodyPr wrap="square" lIns="0" tIns="0" rIns="0" bIns="0" rtlCol="0" anchor="t"/>
          <a:lstStyle/>
          <a:p>
            <a:pPr algn="l" indent="0" marL="0">
              <a:spcBef>
                <a:spcPts val="900"/>
              </a:spcBef>
              <a:spcAft>
                <a:spcPts val="900"/>
              </a:spcAft>
              <a:buNone/>
            </a:pPr>
            <a:r>
              <a:rPr lang="en-US" sz="900" dirty="0">
                <a:solidFill>
                  <a:srgbClr val="B165FB"/>
                </a:solidFill>
                <a:latin typeface="Arial" pitchFamily="34" charset="0"/>
                <a:ea typeface="Arial" pitchFamily="34" charset="-122"/>
                <a:cs typeface="Arial" pitchFamily="34" charset="-120"/>
              </a:rPr>
              <a:t>博客: taylorkolasinski.com/notes/mhc-reproduction/</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81B24"/>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E74C3C"/>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E74C3C"/>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震撼结果：10924 倍信号放大</a:t>
            </a:r>
            <a:endParaRPr lang="en-US" sz="2200" dirty="0"/>
          </a:p>
        </p:txBody>
      </p:sp>
      <p:sp>
        <p:nvSpPr>
          <p:cNvPr id="5" name="Text 3"/>
          <p:cNvSpPr/>
          <p:nvPr/>
        </p:nvSpPr>
        <p:spPr>
          <a:xfrm>
            <a:off x="507950" y="885676"/>
            <a:ext cx="8290661" cy="247650"/>
          </a:xfrm>
          <a:prstGeom prst="rect">
            <a:avLst/>
          </a:prstGeom>
          <a:noFill/>
          <a:ln/>
        </p:spPr>
        <p:txBody>
          <a:bodyPr wrap="square" lIns="0" tIns="0" rIns="0" bIns="0" rtlCol="0" anchor="t"/>
          <a:lstStyle/>
          <a:p>
            <a:pPr algn="l" indent="0" marL="0">
              <a:spcBef>
                <a:spcPts val="1400"/>
              </a:spcBef>
              <a:spcAft>
                <a:spcPts val="1200"/>
              </a:spcAft>
              <a:buNone/>
            </a:pPr>
            <a:r>
              <a:rPr lang="en-US" sz="1400" dirty="0">
                <a:solidFill>
                  <a:srgbClr val="E74C3C"/>
                </a:solidFill>
                <a:latin typeface="Arial" pitchFamily="34" charset="0"/>
                <a:ea typeface="Arial" pitchFamily="34" charset="-122"/>
                <a:cs typeface="Arial" pitchFamily="34" charset="-120"/>
              </a:rPr>
              <a:t>HC 的不稳定性比 DeepSeek 报告的更加严重！</a:t>
            </a:r>
            <a:endParaRPr lang="en-US" sz="1400" dirty="0"/>
          </a:p>
        </p:txBody>
      </p:sp>
      <p:sp>
        <p:nvSpPr>
          <p:cNvPr id="6" name="Text 4"/>
          <p:cNvSpPr/>
          <p:nvPr/>
        </p:nvSpPr>
        <p:spPr>
          <a:xfrm>
            <a:off x="507950" y="3406229"/>
            <a:ext cx="8128099" cy="924223"/>
          </a:xfrm>
          <a:prstGeom prst="roundRect">
            <a:avLst>
              <a:gd name="adj" fmla="val 8245"/>
            </a:avLst>
          </a:prstGeom>
          <a:solidFill>
            <a:srgbClr val="E74C3C"/>
          </a:solidFill>
          <a:ln/>
        </p:spPr>
        <p:txBody>
          <a:bodyPr wrap="square" rtlCol="0" anchor="ctr"/>
          <a:lstStyle/>
          <a:p>
            <a:pPr indent="0" marL="0">
              <a:buNone/>
            </a:pPr>
            <a:endParaRPr lang="en-US" dirty="0"/>
          </a:p>
        </p:txBody>
      </p:sp>
      <p:sp>
        <p:nvSpPr>
          <p:cNvPr id="7" name="Text 5"/>
          <p:cNvSpPr/>
          <p:nvPr/>
        </p:nvSpPr>
        <p:spPr>
          <a:xfrm>
            <a:off x="660350" y="3672780"/>
            <a:ext cx="7979765" cy="39112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惊人发现：</a:t>
            </a:r>
            <a:pPr algn="l" indent="0" marL="0">
              <a:lnSpc>
                <a:spcPts val="154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Taylor 在仅 1.7B 参数的模型上就观测到了 </a:t>
            </a:r>
            <a:pPr algn="l" indent="0" marL="0">
              <a:lnSpc>
                <a:spcPts val="1540"/>
              </a:lnSpc>
              <a:spcBef>
                <a:spcPts val="1100"/>
              </a:spcBef>
              <a:spcAft>
                <a:spcPts val="1100"/>
              </a:spcAft>
              <a:buNone/>
            </a:pPr>
            <a:r>
              <a:rPr lang="en-US" sz="1100" b="1" dirty="0">
                <a:solidFill>
                  <a:srgbClr val="FFFFFF"/>
                </a:solidFill>
                <a:latin typeface="Arial" pitchFamily="34" charset="0"/>
                <a:ea typeface="Arial" pitchFamily="34" charset="-122"/>
                <a:cs typeface="Arial" pitchFamily="34" charset="-120"/>
              </a:rPr>
              <a:t>10,924 倍</a:t>
            </a:r>
            <a:pPr algn="l" indent="0" marL="0">
              <a:lnSpc>
                <a:spcPts val="1540"/>
              </a:lnSpc>
              <a:spcBef>
                <a:spcPts val="1100"/>
              </a:spcBef>
              <a:spcAft>
                <a:spcPts val="1100"/>
              </a:spcAft>
              <a:buNone/>
            </a:pPr>
            <a:r>
              <a:rPr lang="en-US" sz="1100" dirty="0">
                <a:solidFill>
                  <a:srgbClr val="FFFFFF"/>
                </a:solidFill>
                <a:latin typeface="Arial" pitchFamily="34" charset="0"/>
                <a:ea typeface="Arial" pitchFamily="34" charset="-122"/>
                <a:cs typeface="Arial" pitchFamily="34" charset="-120"/>
              </a:rPr>
              <a:t>的信号放大——远超 DeepSeek 在 27B 模型上报告的 3,000 倍！这表明 HC 的不稳定性可能比论文描述的更加普遍和严重。</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B165FB"/>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HC vs mHC 稳定性对比</a:t>
            </a:r>
            <a:endParaRPr lang="en-US" sz="2200" dirty="0"/>
          </a:p>
        </p:txBody>
      </p:sp>
      <p:sp>
        <p:nvSpPr>
          <p:cNvPr id="5" name="Text 3"/>
          <p:cNvSpPr/>
          <p:nvPr/>
        </p:nvSpPr>
        <p:spPr>
          <a:xfrm>
            <a:off x="507950" y="834926"/>
            <a:ext cx="3987850" cy="2333030"/>
          </a:xfrm>
          <a:prstGeom prst="roundRect">
            <a:avLst>
              <a:gd name="adj" fmla="val 3266"/>
            </a:avLst>
          </a:prstGeom>
          <a:solidFill>
            <a:srgbClr val="FFF5F5"/>
          </a:solidFill>
          <a:ln w="19050">
            <a:solidFill>
              <a:srgbClr val="E74C3C"/>
            </a:solidFill>
          </a:ln>
        </p:spPr>
        <p:txBody>
          <a:bodyPr wrap="square" rtlCol="0" anchor="ctr"/>
          <a:lstStyle/>
          <a:p>
            <a:pPr indent="0" marL="0">
              <a:buNone/>
            </a:pPr>
            <a:endParaRPr lang="en-US" dirty="0"/>
          </a:p>
        </p:txBody>
      </p:sp>
      <p:sp>
        <p:nvSpPr>
          <p:cNvPr id="6" name="Text 4"/>
          <p:cNvSpPr/>
          <p:nvPr/>
        </p:nvSpPr>
        <p:spPr>
          <a:xfrm>
            <a:off x="616992" y="1158627"/>
            <a:ext cx="3769766" cy="209550"/>
          </a:xfrm>
          <a:prstGeom prst="rect">
            <a:avLst/>
          </a:prstGeom>
          <a:noFill/>
          <a:ln/>
        </p:spPr>
        <p:txBody>
          <a:bodyPr wrap="square" lIns="0" tIns="0" rIns="0" bIns="0" rtlCol="0" anchor="t"/>
          <a:lstStyle/>
          <a:p>
            <a:pPr algn="ctr" indent="0" marL="0">
              <a:spcBef>
                <a:spcPts val="1400"/>
              </a:spcBef>
              <a:spcAft>
                <a:spcPts val="800"/>
              </a:spcAft>
              <a:buNone/>
            </a:pPr>
            <a:r>
              <a:rPr lang="en-US" sz="1400" b="1" dirty="0">
                <a:solidFill>
                  <a:srgbClr val="E74C3C"/>
                </a:solidFill>
                <a:latin typeface="Arial" pitchFamily="34" charset="0"/>
                <a:ea typeface="Arial" pitchFamily="34" charset="-122"/>
                <a:cs typeface="Arial" pitchFamily="34" charset="-120"/>
              </a:rPr>
              <a:t>Hyper-Connections</a:t>
            </a:r>
            <a:endParaRPr lang="en-US" sz="1400" dirty="0"/>
          </a:p>
        </p:txBody>
      </p:sp>
      <p:sp>
        <p:nvSpPr>
          <p:cNvPr id="7" name="Text 5"/>
          <p:cNvSpPr/>
          <p:nvPr/>
        </p:nvSpPr>
        <p:spPr>
          <a:xfrm>
            <a:off x="653951" y="1469678"/>
            <a:ext cx="3695849" cy="1269802"/>
          </a:xfrm>
          <a:prstGeom prst="roundRect">
            <a:avLst>
              <a:gd name="adj" fmla="val 4001"/>
            </a:avLst>
          </a:prstGeom>
          <a:solidFill>
            <a:srgbClr val="181B24"/>
          </a:solidFill>
          <a:ln/>
        </p:spPr>
        <p:txBody>
          <a:bodyPr wrap="square" rtlCol="0" anchor="ctr"/>
          <a:lstStyle/>
          <a:p>
            <a:pPr indent="0" marL="0">
              <a:buNone/>
            </a:pPr>
            <a:endParaRPr lang="en-US" dirty="0"/>
          </a:p>
        </p:txBody>
      </p:sp>
      <p:sp>
        <p:nvSpPr>
          <p:cNvPr id="8" name="Text 6"/>
          <p:cNvSpPr/>
          <p:nvPr/>
        </p:nvSpPr>
        <p:spPr>
          <a:xfrm>
            <a:off x="717352" y="1634579"/>
            <a:ext cx="264747"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888888"/>
                </a:solidFill>
                <a:latin typeface="Arial" pitchFamily="34" charset="0"/>
                <a:ea typeface="Arial" pitchFamily="34" charset="-122"/>
                <a:cs typeface="Arial" pitchFamily="34" charset="-120"/>
              </a:rPr>
              <a:t>Amax</a:t>
            </a:r>
            <a:endParaRPr lang="en-US" sz="800" dirty="0"/>
          </a:p>
        </p:txBody>
      </p:sp>
      <p:sp>
        <p:nvSpPr>
          <p:cNvPr id="9" name="Text 7"/>
          <p:cNvSpPr/>
          <p:nvPr/>
        </p:nvSpPr>
        <p:spPr>
          <a:xfrm>
            <a:off x="1469231" y="2104579"/>
            <a:ext cx="25301" cy="507950"/>
          </a:xfrm>
          <a:prstGeom prst="rect">
            <a:avLst/>
          </a:prstGeom>
          <a:solidFill>
            <a:srgbClr val="E74C3C"/>
          </a:solidFill>
          <a:ln/>
        </p:spPr>
        <p:txBody>
          <a:bodyPr wrap="square" rtlCol="0" anchor="ctr"/>
          <a:lstStyle/>
          <a:p>
            <a:pPr indent="0" marL="0">
              <a:buNone/>
            </a:pPr>
            <a:endParaRPr lang="en-US" dirty="0"/>
          </a:p>
        </p:txBody>
      </p:sp>
      <p:sp>
        <p:nvSpPr>
          <p:cNvPr id="10" name="Text 8"/>
          <p:cNvSpPr/>
          <p:nvPr/>
        </p:nvSpPr>
        <p:spPr>
          <a:xfrm>
            <a:off x="2329755" y="1914079"/>
            <a:ext cx="25301" cy="698450"/>
          </a:xfrm>
          <a:prstGeom prst="rect">
            <a:avLst/>
          </a:prstGeom>
          <a:solidFill>
            <a:srgbClr val="E74C3C"/>
          </a:solidFill>
          <a:ln/>
        </p:spPr>
        <p:txBody>
          <a:bodyPr wrap="square" rtlCol="0" anchor="ctr"/>
          <a:lstStyle/>
          <a:p>
            <a:pPr indent="0" marL="0">
              <a:buNone/>
            </a:pPr>
            <a:endParaRPr lang="en-US" dirty="0"/>
          </a:p>
        </p:txBody>
      </p:sp>
      <p:sp>
        <p:nvSpPr>
          <p:cNvPr id="11" name="Text 9"/>
          <p:cNvSpPr/>
          <p:nvPr/>
        </p:nvSpPr>
        <p:spPr>
          <a:xfrm>
            <a:off x="3190131" y="2168128"/>
            <a:ext cx="25301" cy="444401"/>
          </a:xfrm>
          <a:prstGeom prst="rect">
            <a:avLst/>
          </a:prstGeom>
          <a:solidFill>
            <a:srgbClr val="E74C3C"/>
          </a:solidFill>
          <a:ln/>
        </p:spPr>
        <p:txBody>
          <a:bodyPr wrap="square" rtlCol="0" anchor="ctr"/>
          <a:lstStyle/>
          <a:p>
            <a:pPr indent="0" marL="0">
              <a:buNone/>
            </a:pPr>
            <a:endParaRPr lang="en-US" dirty="0"/>
          </a:p>
        </p:txBody>
      </p:sp>
      <p:sp>
        <p:nvSpPr>
          <p:cNvPr id="12" name="Text 10"/>
          <p:cNvSpPr/>
          <p:nvPr/>
        </p:nvSpPr>
        <p:spPr>
          <a:xfrm>
            <a:off x="3878610" y="1977628"/>
            <a:ext cx="25301" cy="634901"/>
          </a:xfrm>
          <a:prstGeom prst="rect">
            <a:avLst/>
          </a:prstGeom>
          <a:solidFill>
            <a:srgbClr val="E74C3C"/>
          </a:solidFill>
          <a:ln/>
        </p:spPr>
        <p:txBody>
          <a:bodyPr wrap="square" rtlCol="0" anchor="ctr"/>
          <a:lstStyle/>
          <a:p>
            <a:pPr indent="0" marL="0">
              <a:buNone/>
            </a:pPr>
            <a:endParaRPr lang="en-US" dirty="0"/>
          </a:p>
        </p:txBody>
      </p:sp>
      <p:sp>
        <p:nvSpPr>
          <p:cNvPr id="13" name="Text 11"/>
          <p:cNvSpPr/>
          <p:nvPr/>
        </p:nvSpPr>
        <p:spPr>
          <a:xfrm>
            <a:off x="3801219" y="2431703"/>
            <a:ext cx="494883" cy="142875"/>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E74C3C"/>
                </a:solidFill>
                <a:latin typeface="Arial" pitchFamily="34" charset="0"/>
                <a:ea typeface="Arial" pitchFamily="34" charset="-122"/>
                <a:cs typeface="Arial" pitchFamily="34" charset="-120"/>
              </a:rPr>
              <a:t>剧烈波动 ↑</a:t>
            </a:r>
            <a:endParaRPr lang="en-US" sz="800" dirty="0"/>
          </a:p>
        </p:txBody>
      </p:sp>
      <p:sp>
        <p:nvSpPr>
          <p:cNvPr id="14" name="Text 12"/>
          <p:cNvSpPr/>
          <p:nvPr/>
        </p:nvSpPr>
        <p:spPr>
          <a:xfrm>
            <a:off x="4648200" y="834926"/>
            <a:ext cx="3987850" cy="2333030"/>
          </a:xfrm>
          <a:prstGeom prst="roundRect">
            <a:avLst>
              <a:gd name="adj" fmla="val 3266"/>
            </a:avLst>
          </a:prstGeom>
          <a:solidFill>
            <a:srgbClr val="F0FFF0"/>
          </a:solidFill>
          <a:ln w="19050">
            <a:solidFill>
              <a:srgbClr val="40695B"/>
            </a:solidFill>
          </a:ln>
        </p:spPr>
        <p:txBody>
          <a:bodyPr wrap="square" rtlCol="0" anchor="ctr"/>
          <a:lstStyle/>
          <a:p>
            <a:pPr indent="0" marL="0">
              <a:buNone/>
            </a:pPr>
            <a:endParaRPr lang="en-US" dirty="0"/>
          </a:p>
        </p:txBody>
      </p:sp>
      <p:sp>
        <p:nvSpPr>
          <p:cNvPr id="15" name="Text 13"/>
          <p:cNvSpPr/>
          <p:nvPr/>
        </p:nvSpPr>
        <p:spPr>
          <a:xfrm>
            <a:off x="4757242" y="1158627"/>
            <a:ext cx="3769766" cy="209550"/>
          </a:xfrm>
          <a:prstGeom prst="rect">
            <a:avLst/>
          </a:prstGeom>
          <a:noFill/>
          <a:ln/>
        </p:spPr>
        <p:txBody>
          <a:bodyPr wrap="square" lIns="0" tIns="0" rIns="0" bIns="0" rtlCol="0" anchor="t"/>
          <a:lstStyle/>
          <a:p>
            <a:pPr algn="ctr" indent="0" marL="0">
              <a:spcBef>
                <a:spcPts val="1400"/>
              </a:spcBef>
              <a:spcAft>
                <a:spcPts val="800"/>
              </a:spcAft>
              <a:buNone/>
            </a:pPr>
            <a:r>
              <a:rPr lang="en-US" sz="1400" b="1" dirty="0">
                <a:solidFill>
                  <a:srgbClr val="40695B"/>
                </a:solidFill>
                <a:latin typeface="Arial" pitchFamily="34" charset="0"/>
                <a:ea typeface="Arial" pitchFamily="34" charset="-122"/>
                <a:cs typeface="Arial" pitchFamily="34" charset="-120"/>
              </a:rPr>
              <a:t>mHC (Manifold-Constrained)</a:t>
            </a:r>
            <a:endParaRPr lang="en-US" sz="1400" dirty="0"/>
          </a:p>
        </p:txBody>
      </p:sp>
      <p:sp>
        <p:nvSpPr>
          <p:cNvPr id="16" name="Text 14"/>
          <p:cNvSpPr/>
          <p:nvPr/>
        </p:nvSpPr>
        <p:spPr>
          <a:xfrm>
            <a:off x="4794200" y="1469678"/>
            <a:ext cx="3695849" cy="1269802"/>
          </a:xfrm>
          <a:prstGeom prst="roundRect">
            <a:avLst>
              <a:gd name="adj" fmla="val 4001"/>
            </a:avLst>
          </a:prstGeom>
          <a:solidFill>
            <a:srgbClr val="181B24"/>
          </a:solidFill>
          <a:ln/>
        </p:spPr>
        <p:txBody>
          <a:bodyPr wrap="square" rtlCol="0" anchor="ctr"/>
          <a:lstStyle/>
          <a:p>
            <a:pPr indent="0" marL="0">
              <a:buNone/>
            </a:pPr>
            <a:endParaRPr lang="en-US" dirty="0"/>
          </a:p>
        </p:txBody>
      </p:sp>
      <p:sp>
        <p:nvSpPr>
          <p:cNvPr id="17" name="Text 15"/>
          <p:cNvSpPr/>
          <p:nvPr/>
        </p:nvSpPr>
        <p:spPr>
          <a:xfrm>
            <a:off x="4857601" y="1634579"/>
            <a:ext cx="264747" cy="114300"/>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888888"/>
                </a:solidFill>
                <a:latin typeface="Arial" pitchFamily="34" charset="0"/>
                <a:ea typeface="Arial" pitchFamily="34" charset="-122"/>
                <a:cs typeface="Arial" pitchFamily="34" charset="-120"/>
              </a:rPr>
              <a:t>Amax</a:t>
            </a:r>
            <a:endParaRPr lang="en-US" sz="800" dirty="0"/>
          </a:p>
        </p:txBody>
      </p:sp>
      <p:sp>
        <p:nvSpPr>
          <p:cNvPr id="18" name="Text 16"/>
          <p:cNvSpPr/>
          <p:nvPr/>
        </p:nvSpPr>
        <p:spPr>
          <a:xfrm>
            <a:off x="4921151" y="2523679"/>
            <a:ext cx="3441948" cy="25301"/>
          </a:xfrm>
          <a:prstGeom prst="rect">
            <a:avLst/>
          </a:prstGeom>
          <a:solidFill>
            <a:srgbClr val="40695B"/>
          </a:solidFill>
          <a:ln/>
        </p:spPr>
        <p:txBody>
          <a:bodyPr wrap="square" rtlCol="0" anchor="ctr"/>
          <a:lstStyle/>
          <a:p>
            <a:pPr indent="0" marL="0">
              <a:buNone/>
            </a:pPr>
            <a:endParaRPr lang="en-US" dirty="0"/>
          </a:p>
        </p:txBody>
      </p:sp>
      <p:sp>
        <p:nvSpPr>
          <p:cNvPr id="19" name="Text 17"/>
          <p:cNvSpPr/>
          <p:nvPr/>
        </p:nvSpPr>
        <p:spPr>
          <a:xfrm>
            <a:off x="7890718" y="2431703"/>
            <a:ext cx="546649" cy="142875"/>
          </a:xfrm>
          <a:prstGeom prst="rect">
            <a:avLst/>
          </a:prstGeom>
          <a:noFill/>
          <a:ln/>
        </p:spPr>
        <p:txBody>
          <a:bodyPr wrap="square" lIns="0" tIns="0" rIns="0" bIns="0" rtlCol="0" anchor="t"/>
          <a:lstStyle/>
          <a:p>
            <a:pPr algn="l" indent="0" marL="0">
              <a:spcBef>
                <a:spcPts val="800"/>
              </a:spcBef>
              <a:spcAft>
                <a:spcPts val="800"/>
              </a:spcAft>
              <a:buNone/>
            </a:pPr>
            <a:r>
              <a:rPr lang="en-US" sz="800" dirty="0">
                <a:solidFill>
                  <a:srgbClr val="40695B"/>
                </a:solidFill>
                <a:latin typeface="Arial" pitchFamily="34" charset="0"/>
                <a:ea typeface="Arial" pitchFamily="34" charset="-122"/>
                <a:cs typeface="Arial" pitchFamily="34" charset="-120"/>
              </a:rPr>
              <a:t>始终平稳 →</a:t>
            </a:r>
            <a:endParaRPr lang="en-US" sz="800" dirty="0"/>
          </a:p>
        </p:txBody>
      </p:sp>
      <p:sp>
        <p:nvSpPr>
          <p:cNvPr id="20" name="Text 18"/>
          <p:cNvSpPr/>
          <p:nvPr/>
        </p:nvSpPr>
        <p:spPr>
          <a:xfrm>
            <a:off x="507950" y="3294906"/>
            <a:ext cx="8128099" cy="1510903"/>
          </a:xfrm>
          <a:prstGeom prst="roundRect">
            <a:avLst>
              <a:gd name="adj" fmla="val 5043"/>
            </a:avLst>
          </a:prstGeom>
          <a:solidFill>
            <a:srgbClr val="181B24"/>
          </a:solidFill>
          <a:ln/>
        </p:spPr>
        <p:txBody>
          <a:bodyPr wrap="square" rtlCol="0" anchor="ctr"/>
          <a:lstStyle/>
          <a:p>
            <a:pPr indent="0" marL="0">
              <a:buNone/>
            </a:pPr>
            <a:endParaRPr lang="en-US" dirty="0"/>
          </a:p>
        </p:txBody>
      </p:sp>
      <p:sp>
        <p:nvSpPr>
          <p:cNvPr id="21" name="Text 19"/>
          <p:cNvSpPr/>
          <p:nvPr/>
        </p:nvSpPr>
        <p:spPr>
          <a:xfrm>
            <a:off x="660350" y="3561457"/>
            <a:ext cx="7979765" cy="200025"/>
          </a:xfrm>
          <a:prstGeom prst="rect">
            <a:avLst/>
          </a:prstGeom>
          <a:noFill/>
          <a:ln/>
        </p:spPr>
        <p:txBody>
          <a:bodyPr wrap="square" lIns="0" tIns="0" rIns="0" bIns="0" rtlCol="0" anchor="t"/>
          <a:lstStyle/>
          <a:p>
            <a:pPr algn="l" indent="0" marL="0">
              <a:spcBef>
                <a:spcPts val="1100"/>
              </a:spcBef>
              <a:spcAft>
                <a:spcPts val="600"/>
              </a:spcAft>
              <a:buNone/>
            </a:pPr>
            <a:r>
              <a:rPr lang="en-US" sz="1100" b="1" dirty="0">
                <a:solidFill>
                  <a:srgbClr val="B165FB"/>
                </a:solidFill>
                <a:latin typeface="Arial" pitchFamily="34" charset="0"/>
                <a:ea typeface="Arial" pitchFamily="34" charset="-122"/>
                <a:cs typeface="Arial" pitchFamily="34" charset="-120"/>
              </a:rPr>
              <a:t>压力测试 (3倍学习率 + 64层深度)</a:t>
            </a:r>
            <a:endParaRPr lang="en-US" sz="1100" dirty="0"/>
          </a:p>
        </p:txBody>
      </p:sp>
      <p:sp>
        <p:nvSpPr>
          <p:cNvPr id="22" name="Text 20"/>
          <p:cNvSpPr/>
          <p:nvPr/>
        </p:nvSpPr>
        <p:spPr>
          <a:xfrm>
            <a:off x="635966" y="3951982"/>
            <a:ext cx="2487168" cy="133350"/>
          </a:xfrm>
          <a:prstGeom prst="rect">
            <a:avLst/>
          </a:prstGeom>
          <a:noFill/>
          <a:ln/>
        </p:spPr>
        <p:txBody>
          <a:bodyPr wrap="square" lIns="0" tIns="0" rIns="0" bIns="0" rtlCol="0" anchor="t"/>
          <a:lstStyle/>
          <a:p>
            <a:pPr algn="ctr" indent="0" marL="0">
              <a:spcBef>
                <a:spcPts val="900"/>
              </a:spcBef>
              <a:spcAft>
                <a:spcPts val="200"/>
              </a:spcAft>
              <a:buNone/>
            </a:pPr>
            <a:r>
              <a:rPr lang="en-US" sz="900" dirty="0">
                <a:solidFill>
                  <a:srgbClr val="888888"/>
                </a:solidFill>
                <a:latin typeface="Arial" pitchFamily="34" charset="0"/>
                <a:ea typeface="Arial" pitchFamily="34" charset="-122"/>
                <a:cs typeface="Arial" pitchFamily="34" charset="-120"/>
              </a:rPr>
              <a:t>HC Amax</a:t>
            </a:r>
            <a:endParaRPr lang="en-US" sz="900" dirty="0"/>
          </a:p>
        </p:txBody>
      </p:sp>
      <p:sp>
        <p:nvSpPr>
          <p:cNvPr id="23" name="Text 21"/>
          <p:cNvSpPr/>
          <p:nvPr/>
        </p:nvSpPr>
        <p:spPr>
          <a:xfrm>
            <a:off x="635966" y="4263033"/>
            <a:ext cx="2487168" cy="209550"/>
          </a:xfrm>
          <a:prstGeom prst="rect">
            <a:avLst/>
          </a:prstGeom>
          <a:noFill/>
          <a:ln/>
        </p:spPr>
        <p:txBody>
          <a:bodyPr wrap="square" lIns="0" tIns="0" rIns="0" bIns="0" rtlCol="0" anchor="t"/>
          <a:lstStyle/>
          <a:p>
            <a:pPr algn="ctr" indent="0" marL="0">
              <a:spcBef>
                <a:spcPts val="1400"/>
              </a:spcBef>
              <a:spcAft>
                <a:spcPts val="1400"/>
              </a:spcAft>
              <a:buNone/>
            </a:pPr>
            <a:r>
              <a:rPr lang="en-US" sz="1400" b="1" dirty="0">
                <a:solidFill>
                  <a:srgbClr val="E74C3C"/>
                </a:solidFill>
                <a:latin typeface="Arial" pitchFamily="34" charset="0"/>
                <a:ea typeface="Arial" pitchFamily="34" charset="-122"/>
                <a:cs typeface="Arial" pitchFamily="34" charset="-120"/>
              </a:rPr>
              <a:t>14,765×</a:t>
            </a:r>
            <a:endParaRPr lang="en-US" sz="1400" dirty="0"/>
          </a:p>
        </p:txBody>
      </p:sp>
      <p:sp>
        <p:nvSpPr>
          <p:cNvPr id="24" name="Text 22"/>
          <p:cNvSpPr/>
          <p:nvPr/>
        </p:nvSpPr>
        <p:spPr>
          <a:xfrm>
            <a:off x="3328266" y="3951982"/>
            <a:ext cx="2487320" cy="133350"/>
          </a:xfrm>
          <a:prstGeom prst="rect">
            <a:avLst/>
          </a:prstGeom>
          <a:noFill/>
          <a:ln/>
        </p:spPr>
        <p:txBody>
          <a:bodyPr wrap="square" lIns="0" tIns="0" rIns="0" bIns="0" rtlCol="0" anchor="t"/>
          <a:lstStyle/>
          <a:p>
            <a:pPr algn="ctr" indent="0" marL="0">
              <a:spcBef>
                <a:spcPts val="900"/>
              </a:spcBef>
              <a:spcAft>
                <a:spcPts val="200"/>
              </a:spcAft>
              <a:buNone/>
            </a:pPr>
            <a:r>
              <a:rPr lang="en-US" sz="900" dirty="0">
                <a:solidFill>
                  <a:srgbClr val="888888"/>
                </a:solidFill>
                <a:latin typeface="Arial" pitchFamily="34" charset="0"/>
                <a:ea typeface="Arial" pitchFamily="34" charset="-122"/>
                <a:cs typeface="Arial" pitchFamily="34" charset="-120"/>
              </a:rPr>
              <a:t>mHC Amax</a:t>
            </a:r>
            <a:endParaRPr lang="en-US" sz="900" dirty="0"/>
          </a:p>
        </p:txBody>
      </p:sp>
      <p:sp>
        <p:nvSpPr>
          <p:cNvPr id="25" name="Text 23"/>
          <p:cNvSpPr/>
          <p:nvPr/>
        </p:nvSpPr>
        <p:spPr>
          <a:xfrm>
            <a:off x="3328266" y="4263033"/>
            <a:ext cx="2487320" cy="209550"/>
          </a:xfrm>
          <a:prstGeom prst="rect">
            <a:avLst/>
          </a:prstGeom>
          <a:noFill/>
          <a:ln/>
        </p:spPr>
        <p:txBody>
          <a:bodyPr wrap="square" lIns="0" tIns="0" rIns="0" bIns="0" rtlCol="0" anchor="t"/>
          <a:lstStyle/>
          <a:p>
            <a:pPr algn="ctr" indent="0" marL="0">
              <a:spcBef>
                <a:spcPts val="1400"/>
              </a:spcBef>
              <a:spcAft>
                <a:spcPts val="1400"/>
              </a:spcAft>
              <a:buNone/>
            </a:pPr>
            <a:r>
              <a:rPr lang="en-US" sz="1400" b="1" dirty="0">
                <a:solidFill>
                  <a:srgbClr val="40695B"/>
                </a:solidFill>
                <a:latin typeface="Arial" pitchFamily="34" charset="0"/>
                <a:ea typeface="Arial" pitchFamily="34" charset="-122"/>
                <a:cs typeface="Arial" pitchFamily="34" charset="-120"/>
              </a:rPr>
              <a:t>1.0×</a:t>
            </a:r>
            <a:endParaRPr lang="en-US" sz="1400" dirty="0"/>
          </a:p>
        </p:txBody>
      </p:sp>
      <p:sp>
        <p:nvSpPr>
          <p:cNvPr id="26" name="Text 24"/>
          <p:cNvSpPr/>
          <p:nvPr/>
        </p:nvSpPr>
        <p:spPr>
          <a:xfrm>
            <a:off x="6020715" y="3951982"/>
            <a:ext cx="2487320" cy="161925"/>
          </a:xfrm>
          <a:prstGeom prst="rect">
            <a:avLst/>
          </a:prstGeom>
          <a:noFill/>
          <a:ln/>
        </p:spPr>
        <p:txBody>
          <a:bodyPr wrap="square" lIns="0" tIns="0" rIns="0" bIns="0" rtlCol="0" anchor="t"/>
          <a:lstStyle/>
          <a:p>
            <a:pPr algn="ctr" indent="0" marL="0">
              <a:spcBef>
                <a:spcPts val="900"/>
              </a:spcBef>
              <a:spcAft>
                <a:spcPts val="200"/>
              </a:spcAft>
              <a:buNone/>
            </a:pPr>
            <a:r>
              <a:rPr lang="en-US" sz="900" dirty="0">
                <a:solidFill>
                  <a:srgbClr val="888888"/>
                </a:solidFill>
                <a:latin typeface="Arial" pitchFamily="34" charset="0"/>
                <a:ea typeface="Arial" pitchFamily="34" charset="-122"/>
                <a:cs typeface="Arial" pitchFamily="34" charset="-120"/>
              </a:rPr>
              <a:t>稳定性差异</a:t>
            </a:r>
            <a:endParaRPr lang="en-US" sz="900" dirty="0"/>
          </a:p>
        </p:txBody>
      </p:sp>
      <p:sp>
        <p:nvSpPr>
          <p:cNvPr id="27" name="Text 25"/>
          <p:cNvSpPr/>
          <p:nvPr/>
        </p:nvSpPr>
        <p:spPr>
          <a:xfrm>
            <a:off x="6020715" y="4291608"/>
            <a:ext cx="2487320" cy="209550"/>
          </a:xfrm>
          <a:prstGeom prst="rect">
            <a:avLst/>
          </a:prstGeom>
          <a:noFill/>
          <a:ln/>
        </p:spPr>
        <p:txBody>
          <a:bodyPr wrap="square" lIns="0" tIns="0" rIns="0" bIns="0" rtlCol="0" anchor="t"/>
          <a:lstStyle/>
          <a:p>
            <a:pPr algn="ctr" indent="0" marL="0">
              <a:spcBef>
                <a:spcPts val="1400"/>
              </a:spcBef>
              <a:spcAft>
                <a:spcPts val="1400"/>
              </a:spcAft>
              <a:buNone/>
            </a:pPr>
            <a:r>
              <a:rPr lang="en-US" sz="1400" b="1" dirty="0">
                <a:solidFill>
                  <a:srgbClr val="B165FB"/>
                </a:solidFill>
                <a:latin typeface="Arial" pitchFamily="34" charset="0"/>
                <a:ea typeface="Arial" pitchFamily="34" charset="-122"/>
                <a:cs typeface="Arial" pitchFamily="34" charset="-120"/>
              </a:rPr>
              <a:t>14765 : 1</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Shape 1"/>
          <p:cNvSpPr/>
          <p:nvPr/>
        </p:nvSpPr>
        <p:spPr>
          <a:xfrm>
            <a:off x="546050" y="317450"/>
            <a:ext cx="0" cy="390525"/>
          </a:xfrm>
          <a:prstGeom prst="line">
            <a:avLst/>
          </a:prstGeom>
          <a:noFill/>
          <a:ln w="76200">
            <a:solidFill>
              <a:srgbClr val="B165FB"/>
            </a:solidFill>
            <a:prstDash val="solid"/>
          </a:ln>
        </p:spPr>
      </p:sp>
      <p:sp>
        <p:nvSpPr>
          <p:cNvPr id="4" name="Text 2"/>
          <p:cNvSpPr/>
          <p:nvPr/>
        </p:nvSpPr>
        <p:spPr>
          <a:xfrm>
            <a:off x="774650" y="317450"/>
            <a:ext cx="8018627" cy="390525"/>
          </a:xfrm>
          <a:prstGeom prst="rect">
            <a:avLst/>
          </a:prstGeom>
          <a:noFill/>
          <a:ln/>
        </p:spPr>
        <p:txBody>
          <a:bodyPr wrap="square" lIns="0" tIns="0" rIns="0" bIns="0" rtlCol="0" anchor="t"/>
          <a:lstStyle/>
          <a:p>
            <a:pPr algn="l" indent="0" marL="0">
              <a:buNone/>
            </a:pPr>
            <a:r>
              <a:rPr lang="en-US" sz="2200" b="1" dirty="0">
                <a:solidFill>
                  <a:srgbClr val="181B24"/>
                </a:solidFill>
                <a:latin typeface="Arial" pitchFamily="34" charset="0"/>
                <a:ea typeface="Arial" pitchFamily="34" charset="-122"/>
                <a:cs typeface="Arial" pitchFamily="34" charset="-120"/>
              </a:rPr>
              <a:t>逐层分析发现</a:t>
            </a:r>
            <a:endParaRPr lang="en-US" sz="2200" dirty="0"/>
          </a:p>
        </p:txBody>
      </p:sp>
      <p:sp>
        <p:nvSpPr>
          <p:cNvPr id="5" name="Text 3"/>
          <p:cNvSpPr/>
          <p:nvPr/>
        </p:nvSpPr>
        <p:spPr>
          <a:xfrm>
            <a:off x="507950" y="834926"/>
            <a:ext cx="8128099" cy="1324273"/>
          </a:xfrm>
          <a:prstGeom prst="roundRect">
            <a:avLst>
              <a:gd name="adj" fmla="val 5754"/>
            </a:avLst>
          </a:prstGeom>
          <a:solidFill>
            <a:srgbClr val="FFF5F5"/>
          </a:solidFill>
          <a:ln w="19050">
            <a:solidFill>
              <a:srgbClr val="E74C3C"/>
            </a:solidFill>
          </a:ln>
        </p:spPr>
        <p:txBody>
          <a:bodyPr wrap="square" rtlCol="0" anchor="ctr"/>
          <a:lstStyle/>
          <a:p>
            <a:pPr indent="0" marL="0">
              <a:buNone/>
            </a:pPr>
            <a:endParaRPr lang="en-US" dirty="0"/>
          </a:p>
        </p:txBody>
      </p:sp>
      <p:sp>
        <p:nvSpPr>
          <p:cNvPr id="6" name="Text 4"/>
          <p:cNvSpPr/>
          <p:nvPr/>
        </p:nvSpPr>
        <p:spPr>
          <a:xfrm>
            <a:off x="679400" y="1133326"/>
            <a:ext cx="7940903" cy="209550"/>
          </a:xfrm>
          <a:prstGeom prst="rect">
            <a:avLst/>
          </a:prstGeom>
          <a:noFill/>
          <a:ln/>
        </p:spPr>
        <p:txBody>
          <a:bodyPr wrap="square" lIns="0" tIns="0" rIns="0" bIns="0" rtlCol="0" anchor="t"/>
          <a:lstStyle/>
          <a:p>
            <a:pPr algn="l" indent="0" marL="0">
              <a:spcBef>
                <a:spcPts val="1200"/>
              </a:spcBef>
              <a:spcAft>
                <a:spcPts val="600"/>
              </a:spcAft>
              <a:buNone/>
            </a:pPr>
            <a:r>
              <a:rPr lang="en-US" sz="1200" b="1" dirty="0">
                <a:solidFill>
                  <a:srgbClr val="E74C3C"/>
                </a:solidFill>
                <a:latin typeface="Arial" pitchFamily="34" charset="0"/>
                <a:ea typeface="Arial" pitchFamily="34" charset="-122"/>
                <a:cs typeface="Arial" pitchFamily="34" charset="-120"/>
              </a:rPr>
              <a:t>惊人发现：不稳定性始于第 0 层！</a:t>
            </a:r>
            <a:endParaRPr lang="en-US" sz="1200" dirty="0"/>
          </a:p>
        </p:txBody>
      </p:sp>
      <p:sp>
        <p:nvSpPr>
          <p:cNvPr id="7" name="Text 5"/>
          <p:cNvSpPr/>
          <p:nvPr/>
        </p:nvSpPr>
        <p:spPr>
          <a:xfrm>
            <a:off x="679400" y="1482477"/>
            <a:ext cx="7940903" cy="391120"/>
          </a:xfrm>
          <a:prstGeom prst="rect">
            <a:avLst/>
          </a:prstGeom>
          <a:noFill/>
          <a:ln/>
        </p:spPr>
        <p:txBody>
          <a:bodyPr wrap="square" lIns="0" tIns="0" rIns="0" bIns="0" rtlCol="0" anchor="t"/>
          <a:lstStyle/>
          <a:p>
            <a:pPr algn="l" indent="0" marL="0">
              <a:lnSpc>
                <a:spcPts val="1540"/>
              </a:lnSpc>
              <a:spcBef>
                <a:spcPts val="1100"/>
              </a:spcBef>
              <a:spcAft>
                <a:spcPts val="1100"/>
              </a:spcAft>
              <a:buNone/>
            </a:pPr>
            <a:r>
              <a:rPr lang="en-US" sz="1100" dirty="0">
                <a:solidFill>
                  <a:srgbClr val="333333"/>
                </a:solidFill>
                <a:latin typeface="Arial" pitchFamily="34" charset="0"/>
                <a:ea typeface="Arial" pitchFamily="34" charset="-122"/>
                <a:cs typeface="Arial" pitchFamily="34" charset="-120"/>
              </a:rPr>
              <a:t>通过逐层分析 Amax，Taylor 发现 HC 的不稳定性</a:t>
            </a:r>
            <a:pPr algn="l" indent="0" marL="0">
              <a:lnSpc>
                <a:spcPts val="1540"/>
              </a:lnSpc>
              <a:spcBef>
                <a:spcPts val="1100"/>
              </a:spcBef>
              <a:spcAft>
                <a:spcPts val="1100"/>
              </a:spcAft>
              <a:buNone/>
            </a:pPr>
            <a:r>
              <a:rPr lang="en-US" sz="1100" b="1" dirty="0">
                <a:solidFill>
                  <a:srgbClr val="333333"/>
                </a:solidFill>
                <a:latin typeface="Arial" pitchFamily="34" charset="0"/>
                <a:ea typeface="Arial" pitchFamily="34" charset="-122"/>
                <a:cs typeface="Arial" pitchFamily="34" charset="-120"/>
              </a:rPr>
              <a:t>从输入层（第 0 层）就开始</a:t>
            </a:r>
            <a:pPr algn="l" indent="0" marL="0">
              <a:lnSpc>
                <a:spcPts val="1540"/>
              </a:lnSpc>
              <a:spcBef>
                <a:spcPts val="1100"/>
              </a:spcBef>
              <a:spcAft>
                <a:spcPts val="1100"/>
              </a:spcAft>
              <a:buNone/>
            </a:pPr>
            <a:r>
              <a:rPr lang="en-US" sz="1100" dirty="0">
                <a:solidFill>
                  <a:srgbClr val="333333"/>
                </a:solidFill>
                <a:latin typeface="Arial" pitchFamily="34" charset="0"/>
                <a:ea typeface="Arial" pitchFamily="34" charset="-122"/>
                <a:cs typeface="Arial" pitchFamily="34" charset="-120"/>
              </a:rPr>
              <a:t>，而不是在深层逐渐累积。原因：第 0 层直接处理原始 Embeddings，</a:t>
            </a:r>
            <a:pPr algn="l" indent="0" marL="0">
              <a:lnSpc>
                <a:spcPts val="1540"/>
              </a:lnSpc>
              <a:spcBef>
                <a:spcPts val="1100"/>
              </a:spcBef>
              <a:spcAft>
                <a:spcPts val="1100"/>
              </a:spcAft>
              <a:buNone/>
            </a:pPr>
            <a:r>
              <a:rPr lang="en-US" sz="1100" b="1" dirty="0">
                <a:solidFill>
                  <a:srgbClr val="333333"/>
                </a:solidFill>
                <a:latin typeface="Arial" pitchFamily="34" charset="0"/>
                <a:ea typeface="Arial" pitchFamily="34" charset="-122"/>
                <a:cs typeface="Arial" pitchFamily="34" charset="-120"/>
              </a:rPr>
              <a:t>没有 LayerNorm 的保护</a:t>
            </a:r>
            <a:pPr algn="l" indent="0" marL="0">
              <a:lnSpc>
                <a:spcPts val="1540"/>
              </a:lnSpc>
              <a:spcBef>
                <a:spcPts val="1100"/>
              </a:spcBef>
              <a:spcAft>
                <a:spcPts val="1100"/>
              </a:spcAft>
              <a:buNone/>
            </a:pPr>
            <a:r>
              <a:rPr lang="en-US" sz="1100" dirty="0">
                <a:solidFill>
                  <a:srgbClr val="333333"/>
                </a:solidFill>
                <a:latin typeface="Arial" pitchFamily="34" charset="0"/>
                <a:ea typeface="Arial" pitchFamily="34" charset="-122"/>
                <a:cs typeface="Arial" pitchFamily="34" charset="-120"/>
              </a:rPr>
              <a:t>。</a:t>
            </a:r>
            <a:endParaRPr lang="en-US" sz="1100" dirty="0"/>
          </a:p>
        </p:txBody>
      </p:sp>
      <p:sp>
        <p:nvSpPr>
          <p:cNvPr id="8" name="Text 6"/>
          <p:cNvSpPr/>
          <p:nvPr/>
        </p:nvSpPr>
        <p:spPr>
          <a:xfrm>
            <a:off x="507950" y="2286149"/>
            <a:ext cx="3987850" cy="1259979"/>
          </a:xfrm>
          <a:prstGeom prst="roundRect">
            <a:avLst>
              <a:gd name="adj" fmla="val 6048"/>
            </a:avLst>
          </a:prstGeom>
          <a:solidFill>
            <a:srgbClr val="181B24"/>
          </a:solidFill>
          <a:ln/>
        </p:spPr>
        <p:txBody>
          <a:bodyPr wrap="square" rtlCol="0" anchor="ctr"/>
          <a:lstStyle/>
          <a:p>
            <a:pPr indent="0" marL="0">
              <a:buNone/>
            </a:pPr>
            <a:endParaRPr lang="en-US" dirty="0"/>
          </a:p>
        </p:txBody>
      </p:sp>
      <p:sp>
        <p:nvSpPr>
          <p:cNvPr id="9" name="Text 7"/>
          <p:cNvSpPr/>
          <p:nvPr/>
        </p:nvSpPr>
        <p:spPr>
          <a:xfrm>
            <a:off x="597561" y="2540050"/>
            <a:ext cx="3808628" cy="180975"/>
          </a:xfrm>
          <a:prstGeom prst="rect">
            <a:avLst/>
          </a:prstGeom>
          <a:noFill/>
          <a:ln/>
        </p:spPr>
        <p:txBody>
          <a:bodyPr wrap="square" lIns="0" tIns="0" rIns="0" bIns="0" rtlCol="0" anchor="t"/>
          <a:lstStyle/>
          <a:p>
            <a:pPr algn="ctr" indent="0" marL="0">
              <a:spcBef>
                <a:spcPts val="1000"/>
              </a:spcBef>
              <a:spcAft>
                <a:spcPts val="800"/>
              </a:spcAft>
              <a:buNone/>
            </a:pPr>
            <a:r>
              <a:rPr lang="en-US" sz="1000" dirty="0">
                <a:solidFill>
                  <a:srgbClr val="888888"/>
                </a:solidFill>
                <a:latin typeface="Arial" pitchFamily="34" charset="0"/>
                <a:ea typeface="Arial" pitchFamily="34" charset="-122"/>
                <a:cs typeface="Arial" pitchFamily="34" charset="-120"/>
              </a:rPr>
              <a:t>HC 逐层稳定性 (红=不稳定)</a:t>
            </a:r>
            <a:endParaRPr lang="en-US" sz="1000" dirty="0"/>
          </a:p>
        </p:txBody>
      </p:sp>
      <p:sp>
        <p:nvSpPr>
          <p:cNvPr id="10" name="Text 8"/>
          <p:cNvSpPr/>
          <p:nvPr/>
        </p:nvSpPr>
        <p:spPr>
          <a:xfrm>
            <a:off x="634901" y="2822525"/>
            <a:ext cx="444550" cy="152400"/>
          </a:xfrm>
          <a:prstGeom prst="roundRect">
            <a:avLst>
              <a:gd name="adj" fmla="val 16667"/>
            </a:avLst>
          </a:prstGeom>
          <a:solidFill>
            <a:srgbClr val="E74C3C"/>
          </a:solidFill>
          <a:ln/>
        </p:spPr>
        <p:txBody>
          <a:bodyPr wrap="square" rtlCol="0" anchor="ctr"/>
          <a:lstStyle/>
          <a:p>
            <a:pPr indent="0" marL="0">
              <a:buNone/>
            </a:pPr>
            <a:endParaRPr lang="en-US" dirty="0"/>
          </a:p>
        </p:txBody>
      </p:sp>
      <p:sp>
        <p:nvSpPr>
          <p:cNvPr id="11" name="Text 9"/>
          <p:cNvSpPr/>
          <p:nvPr/>
        </p:nvSpPr>
        <p:spPr>
          <a:xfrm>
            <a:off x="1104751" y="2822525"/>
            <a:ext cx="444550" cy="152400"/>
          </a:xfrm>
          <a:prstGeom prst="roundRect">
            <a:avLst>
              <a:gd name="adj" fmla="val 16667"/>
            </a:avLst>
          </a:prstGeom>
          <a:solidFill>
            <a:srgbClr val="E74C3C"/>
          </a:solidFill>
          <a:ln/>
        </p:spPr>
        <p:txBody>
          <a:bodyPr wrap="square" rtlCol="0" anchor="ctr"/>
          <a:lstStyle/>
          <a:p>
            <a:pPr indent="0" marL="0">
              <a:buNone/>
            </a:pPr>
            <a:endParaRPr lang="en-US" dirty="0"/>
          </a:p>
        </p:txBody>
      </p:sp>
      <p:sp>
        <p:nvSpPr>
          <p:cNvPr id="12" name="Text 10"/>
          <p:cNvSpPr/>
          <p:nvPr/>
        </p:nvSpPr>
        <p:spPr>
          <a:xfrm>
            <a:off x="1574602" y="2822525"/>
            <a:ext cx="444698" cy="152400"/>
          </a:xfrm>
          <a:prstGeom prst="roundRect">
            <a:avLst>
              <a:gd name="adj" fmla="val 16667"/>
            </a:avLst>
          </a:prstGeom>
          <a:solidFill>
            <a:srgbClr val="F39C12"/>
          </a:solidFill>
          <a:ln/>
        </p:spPr>
        <p:txBody>
          <a:bodyPr wrap="square" rtlCol="0" anchor="ctr"/>
          <a:lstStyle/>
          <a:p>
            <a:pPr indent="0" marL="0">
              <a:buNone/>
            </a:pPr>
            <a:endParaRPr lang="en-US" dirty="0"/>
          </a:p>
        </p:txBody>
      </p:sp>
      <p:sp>
        <p:nvSpPr>
          <p:cNvPr id="13" name="Text 11"/>
          <p:cNvSpPr/>
          <p:nvPr/>
        </p:nvSpPr>
        <p:spPr>
          <a:xfrm>
            <a:off x="2044601" y="2822525"/>
            <a:ext cx="444550" cy="152400"/>
          </a:xfrm>
          <a:prstGeom prst="roundRect">
            <a:avLst>
              <a:gd name="adj" fmla="val 16667"/>
            </a:avLst>
          </a:prstGeom>
          <a:solidFill>
            <a:srgbClr val="F39C12"/>
          </a:solidFill>
          <a:ln/>
        </p:spPr>
        <p:txBody>
          <a:bodyPr wrap="square" rtlCol="0" anchor="ctr"/>
          <a:lstStyle/>
          <a:p>
            <a:pPr indent="0" marL="0">
              <a:buNone/>
            </a:pPr>
            <a:endParaRPr lang="en-US" dirty="0"/>
          </a:p>
        </p:txBody>
      </p:sp>
      <p:sp>
        <p:nvSpPr>
          <p:cNvPr id="14" name="Text 12"/>
          <p:cNvSpPr/>
          <p:nvPr/>
        </p:nvSpPr>
        <p:spPr>
          <a:xfrm>
            <a:off x="2514451" y="2822525"/>
            <a:ext cx="444550" cy="152400"/>
          </a:xfrm>
          <a:prstGeom prst="roundRect">
            <a:avLst>
              <a:gd name="adj" fmla="val 16667"/>
            </a:avLst>
          </a:prstGeom>
          <a:solidFill>
            <a:srgbClr val="F1C40F"/>
          </a:solidFill>
          <a:ln/>
        </p:spPr>
        <p:txBody>
          <a:bodyPr wrap="square" rtlCol="0" anchor="ctr"/>
          <a:lstStyle/>
          <a:p>
            <a:pPr indent="0" marL="0">
              <a:buNone/>
            </a:pPr>
            <a:endParaRPr lang="en-US" dirty="0"/>
          </a:p>
        </p:txBody>
      </p:sp>
      <p:sp>
        <p:nvSpPr>
          <p:cNvPr id="15" name="Text 13"/>
          <p:cNvSpPr/>
          <p:nvPr/>
        </p:nvSpPr>
        <p:spPr>
          <a:xfrm>
            <a:off x="2984302" y="2822525"/>
            <a:ext cx="444698" cy="152400"/>
          </a:xfrm>
          <a:prstGeom prst="roundRect">
            <a:avLst>
              <a:gd name="adj" fmla="val 16667"/>
            </a:avLst>
          </a:prstGeom>
          <a:solidFill>
            <a:srgbClr val="F39C12"/>
          </a:solidFill>
          <a:ln/>
        </p:spPr>
        <p:txBody>
          <a:bodyPr wrap="square" rtlCol="0" anchor="ctr"/>
          <a:lstStyle/>
          <a:p>
            <a:pPr indent="0" marL="0">
              <a:buNone/>
            </a:pPr>
            <a:endParaRPr lang="en-US" dirty="0"/>
          </a:p>
        </p:txBody>
      </p:sp>
      <p:sp>
        <p:nvSpPr>
          <p:cNvPr id="16" name="Text 14"/>
          <p:cNvSpPr/>
          <p:nvPr/>
        </p:nvSpPr>
        <p:spPr>
          <a:xfrm>
            <a:off x="3454301" y="2822525"/>
            <a:ext cx="444550" cy="152400"/>
          </a:xfrm>
          <a:prstGeom prst="roundRect">
            <a:avLst>
              <a:gd name="adj" fmla="val 16667"/>
            </a:avLst>
          </a:prstGeom>
          <a:solidFill>
            <a:srgbClr val="E74C3C"/>
          </a:solidFill>
          <a:ln/>
        </p:spPr>
        <p:txBody>
          <a:bodyPr wrap="square" rtlCol="0" anchor="ctr"/>
          <a:lstStyle/>
          <a:p>
            <a:pPr indent="0" marL="0">
              <a:buNone/>
            </a:pPr>
            <a:endParaRPr lang="en-US" dirty="0"/>
          </a:p>
        </p:txBody>
      </p:sp>
      <p:sp>
        <p:nvSpPr>
          <p:cNvPr id="17" name="Text 15"/>
          <p:cNvSpPr/>
          <p:nvPr/>
        </p:nvSpPr>
        <p:spPr>
          <a:xfrm>
            <a:off x="3924151" y="2822525"/>
            <a:ext cx="444698" cy="152400"/>
          </a:xfrm>
          <a:prstGeom prst="roundRect">
            <a:avLst>
              <a:gd name="adj" fmla="val 16667"/>
            </a:avLst>
          </a:prstGeom>
          <a:solidFill>
            <a:srgbClr val="E74C3C"/>
          </a:solidFill>
          <a:ln/>
        </p:spPr>
        <p:txBody>
          <a:bodyPr wrap="square" rtlCol="0" anchor="ctr"/>
          <a:lstStyle/>
          <a:p>
            <a:pPr indent="0" marL="0">
              <a:buNone/>
            </a:pPr>
            <a:endParaRPr lang="en-US" dirty="0"/>
          </a:p>
        </p:txBody>
      </p:sp>
      <p:sp>
        <p:nvSpPr>
          <p:cNvPr id="18" name="Text 16"/>
          <p:cNvSpPr/>
          <p:nvPr/>
        </p:nvSpPr>
        <p:spPr>
          <a:xfrm>
            <a:off x="634901" y="3000226"/>
            <a:ext cx="444550" cy="152400"/>
          </a:xfrm>
          <a:prstGeom prst="roundRect">
            <a:avLst>
              <a:gd name="adj" fmla="val 16667"/>
            </a:avLst>
          </a:prstGeom>
          <a:solidFill>
            <a:srgbClr val="F39C12"/>
          </a:solidFill>
          <a:ln/>
        </p:spPr>
        <p:txBody>
          <a:bodyPr wrap="square" rtlCol="0" anchor="ctr"/>
          <a:lstStyle/>
          <a:p>
            <a:pPr indent="0" marL="0">
              <a:buNone/>
            </a:pPr>
            <a:endParaRPr lang="en-US" dirty="0"/>
          </a:p>
        </p:txBody>
      </p:sp>
      <p:sp>
        <p:nvSpPr>
          <p:cNvPr id="19" name="Text 17"/>
          <p:cNvSpPr/>
          <p:nvPr/>
        </p:nvSpPr>
        <p:spPr>
          <a:xfrm>
            <a:off x="1104751" y="3000226"/>
            <a:ext cx="444550" cy="152400"/>
          </a:xfrm>
          <a:prstGeom prst="roundRect">
            <a:avLst>
              <a:gd name="adj" fmla="val 16667"/>
            </a:avLst>
          </a:prstGeom>
          <a:solidFill>
            <a:srgbClr val="E74C3C"/>
          </a:solidFill>
          <a:ln/>
        </p:spPr>
        <p:txBody>
          <a:bodyPr wrap="square" rtlCol="0" anchor="ctr"/>
          <a:lstStyle/>
          <a:p>
            <a:pPr indent="0" marL="0">
              <a:buNone/>
            </a:pPr>
            <a:endParaRPr lang="en-US" dirty="0"/>
          </a:p>
        </p:txBody>
      </p:sp>
      <p:sp>
        <p:nvSpPr>
          <p:cNvPr id="20" name="Text 18"/>
          <p:cNvSpPr/>
          <p:nvPr/>
        </p:nvSpPr>
        <p:spPr>
          <a:xfrm>
            <a:off x="1574602" y="3000226"/>
            <a:ext cx="444698" cy="152400"/>
          </a:xfrm>
          <a:prstGeom prst="roundRect">
            <a:avLst>
              <a:gd name="adj" fmla="val 16667"/>
            </a:avLst>
          </a:prstGeom>
          <a:solidFill>
            <a:srgbClr val="F1C40F"/>
          </a:solidFill>
          <a:ln/>
        </p:spPr>
        <p:txBody>
          <a:bodyPr wrap="square" rtlCol="0" anchor="ctr"/>
          <a:lstStyle/>
          <a:p>
            <a:pPr indent="0" marL="0">
              <a:buNone/>
            </a:pPr>
            <a:endParaRPr lang="en-US" dirty="0"/>
          </a:p>
        </p:txBody>
      </p:sp>
      <p:sp>
        <p:nvSpPr>
          <p:cNvPr id="21" name="Text 19"/>
          <p:cNvSpPr/>
          <p:nvPr/>
        </p:nvSpPr>
        <p:spPr>
          <a:xfrm>
            <a:off x="2044601" y="3000226"/>
            <a:ext cx="444550" cy="152400"/>
          </a:xfrm>
          <a:prstGeom prst="roundRect">
            <a:avLst>
              <a:gd name="adj" fmla="val 16667"/>
            </a:avLst>
          </a:prstGeom>
          <a:solidFill>
            <a:srgbClr val="F39C12"/>
          </a:solidFill>
          <a:ln/>
        </p:spPr>
        <p:txBody>
          <a:bodyPr wrap="square" rtlCol="0" anchor="ctr"/>
          <a:lstStyle/>
          <a:p>
            <a:pPr indent="0" marL="0">
              <a:buNone/>
            </a:pPr>
            <a:endParaRPr lang="en-US" dirty="0"/>
          </a:p>
        </p:txBody>
      </p:sp>
      <p:sp>
        <p:nvSpPr>
          <p:cNvPr id="22" name="Text 20"/>
          <p:cNvSpPr/>
          <p:nvPr/>
        </p:nvSpPr>
        <p:spPr>
          <a:xfrm>
            <a:off x="2514451" y="3000226"/>
            <a:ext cx="444550" cy="152400"/>
          </a:xfrm>
          <a:prstGeom prst="roundRect">
            <a:avLst>
              <a:gd name="adj" fmla="val 16667"/>
            </a:avLst>
          </a:prstGeom>
          <a:solidFill>
            <a:srgbClr val="E74C3C"/>
          </a:solidFill>
          <a:ln/>
        </p:spPr>
        <p:txBody>
          <a:bodyPr wrap="square" rtlCol="0" anchor="ctr"/>
          <a:lstStyle/>
          <a:p>
            <a:pPr indent="0" marL="0">
              <a:buNone/>
            </a:pPr>
            <a:endParaRPr lang="en-US" dirty="0"/>
          </a:p>
        </p:txBody>
      </p:sp>
      <p:sp>
        <p:nvSpPr>
          <p:cNvPr id="23" name="Text 21"/>
          <p:cNvSpPr/>
          <p:nvPr/>
        </p:nvSpPr>
        <p:spPr>
          <a:xfrm>
            <a:off x="2984302" y="3000226"/>
            <a:ext cx="444698" cy="152400"/>
          </a:xfrm>
          <a:prstGeom prst="roundRect">
            <a:avLst>
              <a:gd name="adj" fmla="val 16667"/>
            </a:avLst>
          </a:prstGeom>
          <a:solidFill>
            <a:srgbClr val="F39C12"/>
          </a:solidFill>
          <a:ln/>
        </p:spPr>
        <p:txBody>
          <a:bodyPr wrap="square" rtlCol="0" anchor="ctr"/>
          <a:lstStyle/>
          <a:p>
            <a:pPr indent="0" marL="0">
              <a:buNone/>
            </a:pPr>
            <a:endParaRPr lang="en-US" dirty="0"/>
          </a:p>
        </p:txBody>
      </p:sp>
      <p:sp>
        <p:nvSpPr>
          <p:cNvPr id="24" name="Text 22"/>
          <p:cNvSpPr/>
          <p:nvPr/>
        </p:nvSpPr>
        <p:spPr>
          <a:xfrm>
            <a:off x="3454301" y="3000226"/>
            <a:ext cx="444550" cy="152400"/>
          </a:xfrm>
          <a:prstGeom prst="roundRect">
            <a:avLst>
              <a:gd name="adj" fmla="val 16667"/>
            </a:avLst>
          </a:prstGeom>
          <a:solidFill>
            <a:srgbClr val="F1C40F"/>
          </a:solidFill>
          <a:ln/>
        </p:spPr>
        <p:txBody>
          <a:bodyPr wrap="square" rtlCol="0" anchor="ctr"/>
          <a:lstStyle/>
          <a:p>
            <a:pPr indent="0" marL="0">
              <a:buNone/>
            </a:pPr>
            <a:endParaRPr lang="en-US" dirty="0"/>
          </a:p>
        </p:txBody>
      </p:sp>
      <p:sp>
        <p:nvSpPr>
          <p:cNvPr id="25" name="Text 23"/>
          <p:cNvSpPr/>
          <p:nvPr/>
        </p:nvSpPr>
        <p:spPr>
          <a:xfrm>
            <a:off x="3924151" y="3000226"/>
            <a:ext cx="444698" cy="152400"/>
          </a:xfrm>
          <a:prstGeom prst="roundRect">
            <a:avLst>
              <a:gd name="adj" fmla="val 16667"/>
            </a:avLst>
          </a:prstGeom>
          <a:solidFill>
            <a:srgbClr val="E74C3C"/>
          </a:solidFill>
          <a:ln/>
        </p:spPr>
        <p:txBody>
          <a:bodyPr wrap="square" rtlCol="0" anchor="ctr"/>
          <a:lstStyle/>
          <a:p>
            <a:pPr indent="0" marL="0">
              <a:buNone/>
            </a:pPr>
            <a:endParaRPr lang="en-US" dirty="0"/>
          </a:p>
        </p:txBody>
      </p:sp>
      <p:sp>
        <p:nvSpPr>
          <p:cNvPr id="26" name="Text 24"/>
          <p:cNvSpPr/>
          <p:nvPr/>
        </p:nvSpPr>
        <p:spPr>
          <a:xfrm>
            <a:off x="597561" y="3203377"/>
            <a:ext cx="3808628" cy="114300"/>
          </a:xfrm>
          <a:prstGeom prst="rect">
            <a:avLst/>
          </a:prstGeom>
          <a:noFill/>
          <a:ln/>
        </p:spPr>
        <p:txBody>
          <a:bodyPr wrap="square" lIns="0" tIns="0" rIns="0" bIns="0" rtlCol="0" anchor="t"/>
          <a:lstStyle/>
          <a:p>
            <a:pPr algn="ctr" indent="0" marL="0">
              <a:spcBef>
                <a:spcPts val="400"/>
              </a:spcBef>
              <a:spcAft>
                <a:spcPts val="800"/>
              </a:spcAft>
              <a:buNone/>
            </a:pPr>
            <a:r>
              <a:rPr lang="en-US" sz="800" dirty="0">
                <a:solidFill>
                  <a:srgbClr val="666666"/>
                </a:solidFill>
                <a:latin typeface="Arial" pitchFamily="34" charset="0"/>
                <a:ea typeface="Arial" pitchFamily="34" charset="-122"/>
                <a:cs typeface="Arial" pitchFamily="34" charset="-120"/>
              </a:rPr>
              <a:t>Layer 0 → Layer 31</a:t>
            </a:r>
            <a:endParaRPr lang="en-US" sz="800" dirty="0"/>
          </a:p>
        </p:txBody>
      </p:sp>
      <p:sp>
        <p:nvSpPr>
          <p:cNvPr id="27" name="Text 25"/>
          <p:cNvSpPr/>
          <p:nvPr/>
        </p:nvSpPr>
        <p:spPr>
          <a:xfrm>
            <a:off x="4648200" y="2286149"/>
            <a:ext cx="3987850" cy="1259979"/>
          </a:xfrm>
          <a:prstGeom prst="roundRect">
            <a:avLst>
              <a:gd name="adj" fmla="val 6048"/>
            </a:avLst>
          </a:prstGeom>
          <a:solidFill>
            <a:srgbClr val="181B24"/>
          </a:solidFill>
          <a:ln/>
        </p:spPr>
        <p:txBody>
          <a:bodyPr wrap="square" rtlCol="0" anchor="ctr"/>
          <a:lstStyle/>
          <a:p>
            <a:pPr indent="0" marL="0">
              <a:buNone/>
            </a:pPr>
            <a:endParaRPr lang="en-US" dirty="0"/>
          </a:p>
        </p:txBody>
      </p:sp>
      <p:sp>
        <p:nvSpPr>
          <p:cNvPr id="28" name="Text 26"/>
          <p:cNvSpPr/>
          <p:nvPr/>
        </p:nvSpPr>
        <p:spPr>
          <a:xfrm>
            <a:off x="4737811" y="2540050"/>
            <a:ext cx="3808628" cy="180975"/>
          </a:xfrm>
          <a:prstGeom prst="rect">
            <a:avLst/>
          </a:prstGeom>
          <a:noFill/>
          <a:ln/>
        </p:spPr>
        <p:txBody>
          <a:bodyPr wrap="square" lIns="0" tIns="0" rIns="0" bIns="0" rtlCol="0" anchor="t"/>
          <a:lstStyle/>
          <a:p>
            <a:pPr algn="ctr" indent="0" marL="0">
              <a:spcBef>
                <a:spcPts val="1000"/>
              </a:spcBef>
              <a:spcAft>
                <a:spcPts val="800"/>
              </a:spcAft>
              <a:buNone/>
            </a:pPr>
            <a:r>
              <a:rPr lang="en-US" sz="1000" dirty="0">
                <a:solidFill>
                  <a:srgbClr val="888888"/>
                </a:solidFill>
                <a:latin typeface="Arial" pitchFamily="34" charset="0"/>
                <a:ea typeface="Arial" pitchFamily="34" charset="-122"/>
                <a:cs typeface="Arial" pitchFamily="34" charset="-120"/>
              </a:rPr>
              <a:t>mHC 逐层稳定性 (绿=稳定)</a:t>
            </a:r>
            <a:endParaRPr lang="en-US" sz="1000" dirty="0"/>
          </a:p>
        </p:txBody>
      </p:sp>
      <p:sp>
        <p:nvSpPr>
          <p:cNvPr id="29" name="Text 27"/>
          <p:cNvSpPr/>
          <p:nvPr/>
        </p:nvSpPr>
        <p:spPr>
          <a:xfrm>
            <a:off x="4775150" y="2822525"/>
            <a:ext cx="444550"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30" name="Text 28"/>
          <p:cNvSpPr/>
          <p:nvPr/>
        </p:nvSpPr>
        <p:spPr>
          <a:xfrm>
            <a:off x="5245001" y="2822525"/>
            <a:ext cx="444550"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31" name="Text 29"/>
          <p:cNvSpPr/>
          <p:nvPr/>
        </p:nvSpPr>
        <p:spPr>
          <a:xfrm>
            <a:off x="5714851" y="2822525"/>
            <a:ext cx="444698"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32" name="Text 30"/>
          <p:cNvSpPr/>
          <p:nvPr/>
        </p:nvSpPr>
        <p:spPr>
          <a:xfrm>
            <a:off x="6184850" y="2822525"/>
            <a:ext cx="444550"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33" name="Text 31"/>
          <p:cNvSpPr/>
          <p:nvPr/>
        </p:nvSpPr>
        <p:spPr>
          <a:xfrm>
            <a:off x="6654701" y="2822525"/>
            <a:ext cx="444550"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34" name="Text 32"/>
          <p:cNvSpPr/>
          <p:nvPr/>
        </p:nvSpPr>
        <p:spPr>
          <a:xfrm>
            <a:off x="7124551" y="2822525"/>
            <a:ext cx="444698"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35" name="Text 33"/>
          <p:cNvSpPr/>
          <p:nvPr/>
        </p:nvSpPr>
        <p:spPr>
          <a:xfrm>
            <a:off x="7594550" y="2822525"/>
            <a:ext cx="444550"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36" name="Text 34"/>
          <p:cNvSpPr/>
          <p:nvPr/>
        </p:nvSpPr>
        <p:spPr>
          <a:xfrm>
            <a:off x="8064401" y="2822525"/>
            <a:ext cx="444698"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37" name="Text 35"/>
          <p:cNvSpPr/>
          <p:nvPr/>
        </p:nvSpPr>
        <p:spPr>
          <a:xfrm>
            <a:off x="4775150" y="3000226"/>
            <a:ext cx="444550"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38" name="Text 36"/>
          <p:cNvSpPr/>
          <p:nvPr/>
        </p:nvSpPr>
        <p:spPr>
          <a:xfrm>
            <a:off x="5245001" y="3000226"/>
            <a:ext cx="444550"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39" name="Text 37"/>
          <p:cNvSpPr/>
          <p:nvPr/>
        </p:nvSpPr>
        <p:spPr>
          <a:xfrm>
            <a:off x="5714851" y="3000226"/>
            <a:ext cx="444698"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40" name="Text 38"/>
          <p:cNvSpPr/>
          <p:nvPr/>
        </p:nvSpPr>
        <p:spPr>
          <a:xfrm>
            <a:off x="6184850" y="3000226"/>
            <a:ext cx="444550"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41" name="Text 39"/>
          <p:cNvSpPr/>
          <p:nvPr/>
        </p:nvSpPr>
        <p:spPr>
          <a:xfrm>
            <a:off x="6654701" y="3000226"/>
            <a:ext cx="444550"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42" name="Text 40"/>
          <p:cNvSpPr/>
          <p:nvPr/>
        </p:nvSpPr>
        <p:spPr>
          <a:xfrm>
            <a:off x="7124551" y="3000226"/>
            <a:ext cx="444698"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43" name="Text 41"/>
          <p:cNvSpPr/>
          <p:nvPr/>
        </p:nvSpPr>
        <p:spPr>
          <a:xfrm>
            <a:off x="7594550" y="3000226"/>
            <a:ext cx="444550"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44" name="Text 42"/>
          <p:cNvSpPr/>
          <p:nvPr/>
        </p:nvSpPr>
        <p:spPr>
          <a:xfrm>
            <a:off x="8064401" y="3000226"/>
            <a:ext cx="444698" cy="152400"/>
          </a:xfrm>
          <a:prstGeom prst="roundRect">
            <a:avLst>
              <a:gd name="adj" fmla="val 16667"/>
            </a:avLst>
          </a:prstGeom>
          <a:solidFill>
            <a:srgbClr val="40695B"/>
          </a:solidFill>
          <a:ln/>
        </p:spPr>
        <p:txBody>
          <a:bodyPr wrap="square" rtlCol="0" anchor="ctr"/>
          <a:lstStyle/>
          <a:p>
            <a:pPr indent="0" marL="0">
              <a:buNone/>
            </a:pPr>
            <a:endParaRPr lang="en-US" dirty="0"/>
          </a:p>
        </p:txBody>
      </p:sp>
      <p:sp>
        <p:nvSpPr>
          <p:cNvPr id="45" name="Text 43"/>
          <p:cNvSpPr/>
          <p:nvPr/>
        </p:nvSpPr>
        <p:spPr>
          <a:xfrm>
            <a:off x="4737811" y="3203377"/>
            <a:ext cx="3808628" cy="114300"/>
          </a:xfrm>
          <a:prstGeom prst="rect">
            <a:avLst/>
          </a:prstGeom>
          <a:noFill/>
          <a:ln/>
        </p:spPr>
        <p:txBody>
          <a:bodyPr wrap="square" lIns="0" tIns="0" rIns="0" bIns="0" rtlCol="0" anchor="t"/>
          <a:lstStyle/>
          <a:p>
            <a:pPr algn="ctr" indent="0" marL="0">
              <a:spcBef>
                <a:spcPts val="400"/>
              </a:spcBef>
              <a:spcAft>
                <a:spcPts val="800"/>
              </a:spcAft>
              <a:buNone/>
            </a:pPr>
            <a:r>
              <a:rPr lang="en-US" sz="800" dirty="0">
                <a:solidFill>
                  <a:srgbClr val="666666"/>
                </a:solidFill>
                <a:latin typeface="Arial" pitchFamily="34" charset="0"/>
                <a:ea typeface="Arial" pitchFamily="34" charset="-122"/>
                <a:cs typeface="Arial" pitchFamily="34" charset="-120"/>
              </a:rPr>
              <a:t>Layer 0 → Layer 31</a:t>
            </a:r>
            <a:endParaRPr lang="en-US" sz="800" dirty="0"/>
          </a:p>
        </p:txBody>
      </p:sp>
      <p:sp>
        <p:nvSpPr>
          <p:cNvPr id="46" name="Text 44"/>
          <p:cNvSpPr/>
          <p:nvPr/>
        </p:nvSpPr>
        <p:spPr>
          <a:xfrm>
            <a:off x="507950" y="3673078"/>
            <a:ext cx="8128099" cy="863203"/>
          </a:xfrm>
          <a:prstGeom prst="roundRect">
            <a:avLst>
              <a:gd name="adj" fmla="val 8828"/>
            </a:avLst>
          </a:prstGeom>
          <a:solidFill>
            <a:srgbClr val="40695B"/>
          </a:solidFill>
          <a:ln/>
        </p:spPr>
        <p:txBody>
          <a:bodyPr wrap="square" rtlCol="0" anchor="ctr"/>
          <a:lstStyle/>
          <a:p>
            <a:pPr indent="0" marL="0">
              <a:buNone/>
            </a:pPr>
            <a:endParaRPr lang="en-US" dirty="0"/>
          </a:p>
        </p:txBody>
      </p:sp>
      <p:sp>
        <p:nvSpPr>
          <p:cNvPr id="47" name="Text 45"/>
          <p:cNvSpPr/>
          <p:nvPr/>
        </p:nvSpPr>
        <p:spPr>
          <a:xfrm>
            <a:off x="660350" y="3926979"/>
            <a:ext cx="7979765" cy="355402"/>
          </a:xfrm>
          <a:prstGeom prst="rect">
            <a:avLst/>
          </a:prstGeom>
          <a:noFill/>
          <a:ln/>
        </p:spPr>
        <p:txBody>
          <a:bodyPr wrap="square" lIns="0" tIns="0" rIns="0" bIns="0" rtlCol="0" anchor="t"/>
          <a:lstStyle/>
          <a:p>
            <a:pPr algn="l" indent="0" marL="0">
              <a:lnSpc>
                <a:spcPts val="1400"/>
              </a:lnSpc>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关键洞察：</a:t>
            </a:r>
            <a:pPr algn="l" indent="0" marL="0">
              <a:lnSpc>
                <a:spcPts val="1400"/>
              </a:lnSpc>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第 0 层的输入混合矩阵是"金丝雀"——它最先显示不稳定迹象。如果你只能监控一个地方，就监控第 0 层。mHC 在所有层级、所有训练步数中均呈现绿色（稳定），完美验证了双随机约束的有效性。</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0695B"/>
          </a:solidFill>
          <a:ln/>
        </p:spPr>
        <p:txBody>
          <a:bodyPr wrap="square" rtlCol="0" anchor="ctr"/>
          <a:lstStyle/>
          <a:p>
            <a:pPr indent="0" marL="0">
              <a:buNone/>
            </a:pPr>
            <a:endParaRPr lang="en-US" dirty="0"/>
          </a:p>
        </p:txBody>
      </p:sp>
      <p:sp>
        <p:nvSpPr>
          <p:cNvPr id="3" name="Text 1"/>
          <p:cNvSpPr/>
          <p:nvPr/>
        </p:nvSpPr>
        <p:spPr>
          <a:xfrm>
            <a:off x="507950" y="266700"/>
            <a:ext cx="8290661" cy="161925"/>
          </a:xfrm>
          <a:prstGeom prst="rect">
            <a:avLst/>
          </a:prstGeom>
          <a:noFill/>
          <a:ln/>
        </p:spPr>
        <p:txBody>
          <a:bodyPr wrap="square" lIns="0" tIns="0" rIns="0" bIns="0" rtlCol="0" anchor="t"/>
          <a:lstStyle/>
          <a:p>
            <a:pPr algn="l" indent="0" marL="0">
              <a:spcBef>
                <a:spcPts val="900"/>
              </a:spcBef>
              <a:spcAft>
                <a:spcPts val="400"/>
              </a:spcAft>
              <a:buNone/>
            </a:pPr>
            <a:r>
              <a:rPr lang="en-US" sz="900" dirty="0">
                <a:solidFill>
                  <a:srgbClr val="40695B"/>
                </a:solidFill>
                <a:latin typeface="Arial" pitchFamily="34" charset="0"/>
                <a:ea typeface="Arial" pitchFamily="34" charset="-122"/>
                <a:cs typeface="Arial" pitchFamily="34" charset="-120"/>
              </a:rPr>
              <a:t>PART 7: 总结与展望</a:t>
            </a:r>
            <a:endParaRPr lang="en-US" sz="900" dirty="0"/>
          </a:p>
        </p:txBody>
      </p:sp>
      <p:sp>
        <p:nvSpPr>
          <p:cNvPr id="4" name="Shape 2"/>
          <p:cNvSpPr/>
          <p:nvPr/>
        </p:nvSpPr>
        <p:spPr>
          <a:xfrm>
            <a:off x="546050" y="479375"/>
            <a:ext cx="0" cy="352425"/>
          </a:xfrm>
          <a:prstGeom prst="line">
            <a:avLst/>
          </a:prstGeom>
          <a:noFill/>
          <a:ln w="76200">
            <a:solidFill>
              <a:srgbClr val="40695B"/>
            </a:solidFill>
            <a:prstDash val="solid"/>
          </a:ln>
        </p:spPr>
      </p:sp>
      <p:sp>
        <p:nvSpPr>
          <p:cNvPr id="5" name="Text 3"/>
          <p:cNvSpPr/>
          <p:nvPr/>
        </p:nvSpPr>
        <p:spPr>
          <a:xfrm>
            <a:off x="774650" y="479375"/>
            <a:ext cx="8018627" cy="352425"/>
          </a:xfrm>
          <a:prstGeom prst="rect">
            <a:avLst/>
          </a:prstGeom>
          <a:noFill/>
          <a:ln/>
        </p:spPr>
        <p:txBody>
          <a:bodyPr wrap="square" lIns="0" tIns="0" rIns="0" bIns="0" rtlCol="0" anchor="t"/>
          <a:lstStyle/>
          <a:p>
            <a:pPr algn="l" indent="0" marL="0">
              <a:buNone/>
            </a:pPr>
            <a:r>
              <a:rPr lang="en-US" sz="2000" b="1" dirty="0">
                <a:solidFill>
                  <a:srgbClr val="181B24"/>
                </a:solidFill>
                <a:latin typeface="Arial" pitchFamily="34" charset="0"/>
                <a:ea typeface="Arial" pitchFamily="34" charset="-122"/>
                <a:cs typeface="Arial" pitchFamily="34" charset="-120"/>
              </a:rPr>
              <a:t>实施建议</a:t>
            </a:r>
            <a:endParaRPr lang="en-US" sz="2000" dirty="0"/>
          </a:p>
        </p:txBody>
      </p:sp>
      <p:sp>
        <p:nvSpPr>
          <p:cNvPr id="6" name="Text 4"/>
          <p:cNvSpPr/>
          <p:nvPr/>
        </p:nvSpPr>
        <p:spPr>
          <a:xfrm>
            <a:off x="507950" y="933301"/>
            <a:ext cx="8128099" cy="811857"/>
          </a:xfrm>
          <a:prstGeom prst="roundRect">
            <a:avLst>
              <a:gd name="adj" fmla="val 9386"/>
            </a:avLst>
          </a:prstGeom>
          <a:solidFill>
            <a:srgbClr val="F5F5F7"/>
          </a:solidFill>
          <a:ln/>
        </p:spPr>
        <p:txBody>
          <a:bodyPr wrap="square" rtlCol="0" anchor="ctr"/>
          <a:lstStyle/>
          <a:p>
            <a:pPr indent="0" marL="0">
              <a:buNone/>
            </a:pPr>
            <a:endParaRPr lang="en-US" dirty="0"/>
          </a:p>
        </p:txBody>
      </p:sp>
      <p:sp>
        <p:nvSpPr>
          <p:cNvPr id="7" name="Text 5"/>
          <p:cNvSpPr/>
          <p:nvPr/>
        </p:nvSpPr>
        <p:spPr>
          <a:xfrm>
            <a:off x="507950" y="933301"/>
            <a:ext cx="403771" cy="811857"/>
          </a:xfrm>
          <a:prstGeom prst="rect">
            <a:avLst/>
          </a:prstGeom>
          <a:solidFill>
            <a:srgbClr val="40695B"/>
          </a:solidFill>
          <a:ln/>
        </p:spPr>
        <p:txBody>
          <a:bodyPr wrap="square" rtlCol="0" anchor="ctr"/>
          <a:lstStyle/>
          <a:p>
            <a:pPr indent="0" marL="0">
              <a:buNone/>
            </a:pPr>
            <a:endParaRPr lang="en-US" dirty="0"/>
          </a:p>
        </p:txBody>
      </p:sp>
      <p:sp>
        <p:nvSpPr>
          <p:cNvPr id="8" name="Text 6"/>
          <p:cNvSpPr/>
          <p:nvPr/>
        </p:nvSpPr>
        <p:spPr>
          <a:xfrm>
            <a:off x="660350" y="1234380"/>
            <a:ext cx="100950" cy="20955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038671" y="1123652"/>
            <a:ext cx="7619836" cy="1809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181B24"/>
                </a:solidFill>
                <a:latin typeface="Arial" pitchFamily="34" charset="0"/>
                <a:ea typeface="Arial" pitchFamily="34" charset="-122"/>
                <a:cs typeface="Arial" pitchFamily="34" charset="-120"/>
              </a:rPr>
              <a:t>必须使用 Sinkhorn 投影</a:t>
            </a:r>
            <a:endParaRPr lang="en-US" sz="1000" dirty="0"/>
          </a:p>
        </p:txBody>
      </p:sp>
      <p:sp>
        <p:nvSpPr>
          <p:cNvPr id="10" name="Text 8"/>
          <p:cNvSpPr/>
          <p:nvPr/>
        </p:nvSpPr>
        <p:spPr>
          <a:xfrm>
            <a:off x="1038671" y="1418927"/>
            <a:ext cx="7619836" cy="148530"/>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核心修复仅需 </a:t>
            </a:r>
            <a:pPr algn="l" indent="0" marL="0">
              <a:lnSpc>
                <a:spcPts val="1170"/>
              </a:lnSpc>
              <a:spcBef>
                <a:spcPts val="900"/>
              </a:spcBef>
              <a:spcAft>
                <a:spcPts val="900"/>
              </a:spcAft>
              <a:buNone/>
            </a:pPr>
            <a:r>
              <a:rPr lang="en-US" sz="800" dirty="0">
                <a:solidFill>
                  <a:srgbClr val="B165FB"/>
                </a:solidFill>
                <a:latin typeface="Arial" pitchFamily="34" charset="0"/>
                <a:ea typeface="Arial" pitchFamily="34" charset="-122"/>
                <a:cs typeface="Arial" pitchFamily="34" charset="-120"/>
              </a:rPr>
              <a:t>~10 行代码</a:t>
            </a:r>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，却能带来巨大的稳定性提升。</a:t>
            </a:r>
            <a:endParaRPr lang="en-US" sz="900" dirty="0"/>
          </a:p>
        </p:txBody>
      </p:sp>
      <p:sp>
        <p:nvSpPr>
          <p:cNvPr id="11" name="Text 9"/>
          <p:cNvSpPr/>
          <p:nvPr/>
        </p:nvSpPr>
        <p:spPr>
          <a:xfrm>
            <a:off x="507950" y="1795909"/>
            <a:ext cx="8128099" cy="811857"/>
          </a:xfrm>
          <a:prstGeom prst="roundRect">
            <a:avLst>
              <a:gd name="adj" fmla="val 9386"/>
            </a:avLst>
          </a:prstGeom>
          <a:solidFill>
            <a:srgbClr val="F5F5F7"/>
          </a:solidFill>
          <a:ln/>
        </p:spPr>
        <p:txBody>
          <a:bodyPr wrap="square" rtlCol="0" anchor="ctr"/>
          <a:lstStyle/>
          <a:p>
            <a:pPr indent="0" marL="0">
              <a:buNone/>
            </a:pPr>
            <a:endParaRPr lang="en-US" dirty="0"/>
          </a:p>
        </p:txBody>
      </p:sp>
      <p:sp>
        <p:nvSpPr>
          <p:cNvPr id="12" name="Text 10"/>
          <p:cNvSpPr/>
          <p:nvPr/>
        </p:nvSpPr>
        <p:spPr>
          <a:xfrm>
            <a:off x="507950" y="1795909"/>
            <a:ext cx="403771" cy="811857"/>
          </a:xfrm>
          <a:prstGeom prst="rect">
            <a:avLst/>
          </a:prstGeom>
          <a:solidFill>
            <a:srgbClr val="40695B"/>
          </a:solidFill>
          <a:ln/>
        </p:spPr>
        <p:txBody>
          <a:bodyPr wrap="square" rtlCol="0" anchor="ctr"/>
          <a:lstStyle/>
          <a:p>
            <a:pPr indent="0" marL="0">
              <a:buNone/>
            </a:pPr>
            <a:endParaRPr lang="en-US" dirty="0"/>
          </a:p>
        </p:txBody>
      </p:sp>
      <p:sp>
        <p:nvSpPr>
          <p:cNvPr id="13" name="Text 11"/>
          <p:cNvSpPr/>
          <p:nvPr/>
        </p:nvSpPr>
        <p:spPr>
          <a:xfrm>
            <a:off x="660350" y="2096988"/>
            <a:ext cx="100950" cy="20955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1038671" y="1986260"/>
            <a:ext cx="7619836" cy="1809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181B24"/>
                </a:solidFill>
                <a:latin typeface="Arial" pitchFamily="34" charset="0"/>
                <a:ea typeface="Arial" pitchFamily="34" charset="-122"/>
                <a:cs typeface="Arial" pitchFamily="34" charset="-120"/>
              </a:rPr>
              <a:t>监控 Amax 值</a:t>
            </a:r>
            <a:endParaRPr lang="en-US" sz="1000" dirty="0"/>
          </a:p>
        </p:txBody>
      </p:sp>
      <p:sp>
        <p:nvSpPr>
          <p:cNvPr id="15" name="Text 13"/>
          <p:cNvSpPr/>
          <p:nvPr/>
        </p:nvSpPr>
        <p:spPr>
          <a:xfrm>
            <a:off x="1038671" y="2281535"/>
            <a:ext cx="7619836" cy="148530"/>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阈值：</a:t>
            </a:r>
            <a:pPr algn="l" indent="0" marL="0">
              <a:lnSpc>
                <a:spcPts val="1170"/>
              </a:lnSpc>
              <a:spcBef>
                <a:spcPts val="900"/>
              </a:spcBef>
              <a:spcAft>
                <a:spcPts val="900"/>
              </a:spcAft>
              <a:buNone/>
            </a:pPr>
            <a:r>
              <a:rPr lang="en-US" sz="800" dirty="0">
                <a:solidFill>
                  <a:srgbClr val="B165FB"/>
                </a:solidFill>
                <a:latin typeface="Arial" pitchFamily="34" charset="0"/>
                <a:ea typeface="Arial" pitchFamily="34" charset="-122"/>
                <a:cs typeface="Arial" pitchFamily="34" charset="-120"/>
              </a:rPr>
              <a:t>Amax &gt; 10×</a:t>
            </a:r>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 表示积聚不稳定性，需要警惕。</a:t>
            </a:r>
            <a:endParaRPr lang="en-US" sz="900" dirty="0"/>
          </a:p>
        </p:txBody>
      </p:sp>
      <p:sp>
        <p:nvSpPr>
          <p:cNvPr id="16" name="Text 14"/>
          <p:cNvSpPr/>
          <p:nvPr/>
        </p:nvSpPr>
        <p:spPr>
          <a:xfrm>
            <a:off x="507950" y="2658517"/>
            <a:ext cx="8128099" cy="811857"/>
          </a:xfrm>
          <a:prstGeom prst="roundRect">
            <a:avLst>
              <a:gd name="adj" fmla="val 9386"/>
            </a:avLst>
          </a:prstGeom>
          <a:solidFill>
            <a:srgbClr val="F5F5F7"/>
          </a:solidFill>
          <a:ln/>
        </p:spPr>
        <p:txBody>
          <a:bodyPr wrap="square" rtlCol="0" anchor="ctr"/>
          <a:lstStyle/>
          <a:p>
            <a:pPr indent="0" marL="0">
              <a:buNone/>
            </a:pPr>
            <a:endParaRPr lang="en-US" dirty="0"/>
          </a:p>
        </p:txBody>
      </p:sp>
      <p:sp>
        <p:nvSpPr>
          <p:cNvPr id="17" name="Text 15"/>
          <p:cNvSpPr/>
          <p:nvPr/>
        </p:nvSpPr>
        <p:spPr>
          <a:xfrm>
            <a:off x="507950" y="2658517"/>
            <a:ext cx="403771" cy="811857"/>
          </a:xfrm>
          <a:prstGeom prst="rect">
            <a:avLst/>
          </a:prstGeom>
          <a:solidFill>
            <a:srgbClr val="40695B"/>
          </a:solidFill>
          <a:ln/>
        </p:spPr>
        <p:txBody>
          <a:bodyPr wrap="square" rtlCol="0" anchor="ctr"/>
          <a:lstStyle/>
          <a:p>
            <a:pPr indent="0" marL="0">
              <a:buNone/>
            </a:pPr>
            <a:endParaRPr lang="en-US" dirty="0"/>
          </a:p>
        </p:txBody>
      </p:sp>
      <p:sp>
        <p:nvSpPr>
          <p:cNvPr id="18" name="Text 16"/>
          <p:cNvSpPr/>
          <p:nvPr/>
        </p:nvSpPr>
        <p:spPr>
          <a:xfrm>
            <a:off x="660350" y="2959596"/>
            <a:ext cx="100950" cy="20955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038671" y="2848868"/>
            <a:ext cx="7619836" cy="1809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181B24"/>
                </a:solidFill>
                <a:latin typeface="Arial" pitchFamily="34" charset="0"/>
                <a:ea typeface="Arial" pitchFamily="34" charset="-122"/>
                <a:cs typeface="Arial" pitchFamily="34" charset="-120"/>
              </a:rPr>
              <a:t>密切关注第 0 层</a:t>
            </a:r>
            <a:endParaRPr lang="en-US" sz="1000" dirty="0"/>
          </a:p>
        </p:txBody>
      </p:sp>
      <p:sp>
        <p:nvSpPr>
          <p:cNvPr id="20" name="Text 18"/>
          <p:cNvSpPr/>
          <p:nvPr/>
        </p:nvSpPr>
        <p:spPr>
          <a:xfrm>
            <a:off x="1038671" y="3144143"/>
            <a:ext cx="7619836" cy="148530"/>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输入混合矩阵是"金丝雀"——它最先显示不稳定迹象。</a:t>
            </a:r>
            <a:endParaRPr lang="en-US" sz="900" dirty="0"/>
          </a:p>
        </p:txBody>
      </p:sp>
      <p:sp>
        <p:nvSpPr>
          <p:cNvPr id="21" name="Text 19"/>
          <p:cNvSpPr/>
          <p:nvPr/>
        </p:nvSpPr>
        <p:spPr>
          <a:xfrm>
            <a:off x="507950" y="3521125"/>
            <a:ext cx="8128099" cy="811857"/>
          </a:xfrm>
          <a:prstGeom prst="roundRect">
            <a:avLst>
              <a:gd name="adj" fmla="val 9386"/>
            </a:avLst>
          </a:prstGeom>
          <a:solidFill>
            <a:srgbClr val="F5F5F7"/>
          </a:solidFill>
          <a:ln/>
        </p:spPr>
        <p:txBody>
          <a:bodyPr wrap="square" rtlCol="0" anchor="ctr"/>
          <a:lstStyle/>
          <a:p>
            <a:pPr indent="0" marL="0">
              <a:buNone/>
            </a:pPr>
            <a:endParaRPr lang="en-US" dirty="0"/>
          </a:p>
        </p:txBody>
      </p:sp>
      <p:sp>
        <p:nvSpPr>
          <p:cNvPr id="22" name="Text 20"/>
          <p:cNvSpPr/>
          <p:nvPr/>
        </p:nvSpPr>
        <p:spPr>
          <a:xfrm>
            <a:off x="507950" y="3521125"/>
            <a:ext cx="403771" cy="811857"/>
          </a:xfrm>
          <a:prstGeom prst="rect">
            <a:avLst/>
          </a:prstGeom>
          <a:solidFill>
            <a:srgbClr val="40695B"/>
          </a:solidFill>
          <a:ln/>
        </p:spPr>
        <p:txBody>
          <a:bodyPr wrap="square" rtlCol="0" anchor="ctr"/>
          <a:lstStyle/>
          <a:p>
            <a:pPr indent="0" marL="0">
              <a:buNone/>
            </a:pPr>
            <a:endParaRPr lang="en-US" dirty="0"/>
          </a:p>
        </p:txBody>
      </p:sp>
      <p:sp>
        <p:nvSpPr>
          <p:cNvPr id="23" name="Text 21"/>
          <p:cNvSpPr/>
          <p:nvPr/>
        </p:nvSpPr>
        <p:spPr>
          <a:xfrm>
            <a:off x="660350" y="3822204"/>
            <a:ext cx="100950" cy="20955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1038671" y="3711476"/>
            <a:ext cx="7619836" cy="180975"/>
          </a:xfrm>
          <a:prstGeom prst="rect">
            <a:avLst/>
          </a:prstGeom>
          <a:noFill/>
          <a:ln/>
        </p:spPr>
        <p:txBody>
          <a:bodyPr wrap="square" lIns="0" tIns="0" rIns="0" bIns="0" rtlCol="0" anchor="t"/>
          <a:lstStyle/>
          <a:p>
            <a:pPr algn="l" indent="0" marL="0">
              <a:spcBef>
                <a:spcPts val="1000"/>
              </a:spcBef>
              <a:spcAft>
                <a:spcPts val="200"/>
              </a:spcAft>
              <a:buNone/>
            </a:pPr>
            <a:r>
              <a:rPr lang="en-US" sz="1000" b="1" dirty="0">
                <a:solidFill>
                  <a:srgbClr val="181B24"/>
                </a:solidFill>
                <a:latin typeface="Arial" pitchFamily="34" charset="0"/>
                <a:ea typeface="Arial" pitchFamily="34" charset="-122"/>
                <a:cs typeface="Arial" pitchFamily="34" charset="-120"/>
              </a:rPr>
              <a:t>零性能代价</a:t>
            </a:r>
            <a:endParaRPr lang="en-US" sz="1000" dirty="0"/>
          </a:p>
        </p:txBody>
      </p:sp>
      <p:sp>
        <p:nvSpPr>
          <p:cNvPr id="25" name="Text 23"/>
          <p:cNvSpPr/>
          <p:nvPr/>
        </p:nvSpPr>
        <p:spPr>
          <a:xfrm>
            <a:off x="1038671" y="4006751"/>
            <a:ext cx="7619836" cy="148530"/>
          </a:xfrm>
          <a:prstGeom prst="rect">
            <a:avLst/>
          </a:prstGeom>
          <a:noFill/>
          <a:ln/>
        </p:spPr>
        <p:txBody>
          <a:bodyPr wrap="square" lIns="0" tIns="0" rIns="0" bIns="0" rtlCol="0" anchor="t"/>
          <a:lstStyle/>
          <a:p>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mHC 与 HC 的 Loss 相同，你获得的是</a:t>
            </a:r>
            <a:pPr algn="l" indent="0" marL="0">
              <a:lnSpc>
                <a:spcPts val="1170"/>
              </a:lnSpc>
              <a:spcBef>
                <a:spcPts val="900"/>
              </a:spcBef>
              <a:spcAft>
                <a:spcPts val="900"/>
              </a:spcAft>
              <a:buNone/>
            </a:pPr>
            <a:r>
              <a:rPr lang="en-US" sz="900" b="1" dirty="0">
                <a:solidFill>
                  <a:srgbClr val="666666"/>
                </a:solidFill>
                <a:latin typeface="Arial" pitchFamily="34" charset="0"/>
                <a:ea typeface="Arial" pitchFamily="34" charset="-122"/>
                <a:cs typeface="Arial" pitchFamily="34" charset="-120"/>
              </a:rPr>
              <a:t>纯粹的稳定性收益</a:t>
            </a:r>
            <a:pPr algn="l" indent="0" marL="0">
              <a:lnSpc>
                <a:spcPts val="1170"/>
              </a:lnSpc>
              <a:spcBef>
                <a:spcPts val="900"/>
              </a:spcBef>
              <a:spcAft>
                <a:spcPts val="900"/>
              </a:spcAft>
              <a:buNone/>
            </a:pPr>
            <a:r>
              <a:rPr lang="en-US" sz="900" dirty="0">
                <a:solidFill>
                  <a:srgbClr val="666666"/>
                </a:solidFill>
                <a:latin typeface="Arial" pitchFamily="34" charset="0"/>
                <a:ea typeface="Arial" pitchFamily="34" charset="-122"/>
                <a:cs typeface="Arial" pitchFamily="34" charset="-120"/>
              </a:rPr>
              <a:t>。</a:t>
            </a:r>
            <a:endParaRPr lang="en-US" sz="900" dirty="0"/>
          </a:p>
        </p:txBody>
      </p:sp>
      <p:sp>
        <p:nvSpPr>
          <p:cNvPr id="26" name="Text 24"/>
          <p:cNvSpPr/>
          <p:nvPr/>
        </p:nvSpPr>
        <p:spPr>
          <a:xfrm>
            <a:off x="507950" y="4409182"/>
            <a:ext cx="8128099" cy="637877"/>
          </a:xfrm>
          <a:prstGeom prst="roundRect">
            <a:avLst>
              <a:gd name="adj" fmla="val 11946"/>
            </a:avLst>
          </a:prstGeom>
          <a:solidFill>
            <a:srgbClr val="181B24"/>
          </a:solidFill>
          <a:ln/>
        </p:spPr>
        <p:txBody>
          <a:bodyPr wrap="square" rtlCol="0" anchor="ctr"/>
          <a:lstStyle/>
          <a:p>
            <a:pPr indent="0" marL="0">
              <a:buNone/>
            </a:pPr>
            <a:endParaRPr lang="en-US" dirty="0"/>
          </a:p>
        </p:txBody>
      </p:sp>
      <p:sp>
        <p:nvSpPr>
          <p:cNvPr id="27" name="Text 25"/>
          <p:cNvSpPr/>
          <p:nvPr/>
        </p:nvSpPr>
        <p:spPr>
          <a:xfrm>
            <a:off x="634901" y="4637633"/>
            <a:ext cx="8031682" cy="180975"/>
          </a:xfrm>
          <a:prstGeom prst="rect">
            <a:avLst/>
          </a:prstGeom>
          <a:noFill/>
          <a:ln/>
        </p:spPr>
        <p:txBody>
          <a:bodyPr wrap="square" lIns="0" tIns="0" rIns="0" bIns="0" rtlCol="0" anchor="t"/>
          <a:lstStyle/>
          <a:p>
            <a:pPr algn="l" indent="0" marL="0">
              <a:spcBef>
                <a:spcPts val="1000"/>
              </a:spcBef>
              <a:spcAft>
                <a:spcPts val="1000"/>
              </a:spcAft>
              <a:buNone/>
            </a:pPr>
            <a:r>
              <a:rPr lang="en-US" sz="1000" dirty="0">
                <a:solidFill>
                  <a:srgbClr val="FFFFFF"/>
                </a:solidFill>
                <a:latin typeface="Arial" pitchFamily="34" charset="0"/>
                <a:ea typeface="Arial" pitchFamily="34" charset="-122"/>
                <a:cs typeface="Arial" pitchFamily="34" charset="-120"/>
              </a:rPr>
              <a:t>核心原则：</a:t>
            </a:r>
            <a:pPr algn="l" indent="0" marL="0">
              <a:spcBef>
                <a:spcPts val="1000"/>
              </a:spcBef>
              <a:spcAft>
                <a:spcPts val="1000"/>
              </a:spcAft>
              <a:buNone/>
            </a:pPr>
            <a:r>
              <a:rPr lang="en-US" sz="1000" b="1" dirty="0">
                <a:solidFill>
                  <a:srgbClr val="40695B"/>
                </a:solidFill>
                <a:latin typeface="Arial" pitchFamily="34" charset="0"/>
                <a:ea typeface="Arial" pitchFamily="34" charset="-122"/>
                <a:cs typeface="Arial" pitchFamily="34" charset="-120"/>
              </a:rPr>
              <a:t>简单的数学约束 &gt; 复杂的工程补丁</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81B24"/>
        </a:solidFill>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B165FB"/>
          </a:solidFill>
          <a:ln/>
        </p:spPr>
        <p:txBody>
          <a:bodyPr wrap="square" rtlCol="0" anchor="ctr"/>
          <a:lstStyle/>
          <a:p>
            <a:pPr indent="0" marL="0">
              <a:buNone/>
            </a:pPr>
            <a:endParaRPr lang="en-US" dirty="0"/>
          </a:p>
        </p:txBody>
      </p:sp>
      <p:sp>
        <p:nvSpPr>
          <p:cNvPr id="3" name="Text 1"/>
          <p:cNvSpPr/>
          <p:nvPr/>
        </p:nvSpPr>
        <p:spPr>
          <a:xfrm>
            <a:off x="425150" y="377577"/>
            <a:ext cx="8445654" cy="390525"/>
          </a:xfrm>
          <a:prstGeom prst="rect">
            <a:avLst/>
          </a:prstGeom>
          <a:noFill/>
          <a:ln/>
        </p:spPr>
        <p:txBody>
          <a:bodyPr wrap="square" lIns="0" tIns="0" rIns="0" bIns="0" rtlCol="0" anchor="t"/>
          <a:lstStyle/>
          <a:p>
            <a:pPr algn="ctr" indent="0" marL="0">
              <a:spcBef>
                <a:spcPts val="1474"/>
              </a:spcBef>
              <a:spcAft>
                <a:spcPts val="1000"/>
              </a:spcAft>
              <a:buNone/>
            </a:pPr>
            <a:r>
              <a:rPr lang="en-US" sz="2200" b="1" dirty="0">
                <a:solidFill>
                  <a:srgbClr val="FFFFFF"/>
                </a:solidFill>
                <a:latin typeface="Arial" pitchFamily="34" charset="0"/>
                <a:ea typeface="Arial" pitchFamily="34" charset="-122"/>
                <a:cs typeface="Arial" pitchFamily="34" charset="-120"/>
              </a:rPr>
              <a:t>总结与展望</a:t>
            </a:r>
            <a:endParaRPr lang="en-US" sz="2200" dirty="0"/>
          </a:p>
        </p:txBody>
      </p:sp>
      <p:sp>
        <p:nvSpPr>
          <p:cNvPr id="4" name="Text 2"/>
          <p:cNvSpPr/>
          <p:nvPr/>
        </p:nvSpPr>
        <p:spPr>
          <a:xfrm>
            <a:off x="425150" y="920502"/>
            <a:ext cx="8445654" cy="209550"/>
          </a:xfrm>
          <a:prstGeom prst="rect">
            <a:avLst/>
          </a:prstGeom>
          <a:noFill/>
          <a:ln/>
        </p:spPr>
        <p:txBody>
          <a:bodyPr wrap="square" lIns="0" tIns="0" rIns="0" bIns="0" rtlCol="0" anchor="t"/>
          <a:lstStyle/>
          <a:p>
            <a:pPr algn="ctr" indent="0" marL="0">
              <a:spcBef>
                <a:spcPts val="1200"/>
              </a:spcBef>
              <a:spcAft>
                <a:spcPts val="1200"/>
              </a:spcAft>
              <a:buNone/>
            </a:pPr>
            <a:r>
              <a:rPr lang="en-US" sz="1200" dirty="0">
                <a:solidFill>
                  <a:srgbClr val="B165FB"/>
                </a:solidFill>
                <a:latin typeface="Arial" pitchFamily="34" charset="0"/>
                <a:ea typeface="Arial" pitchFamily="34" charset="-122"/>
                <a:cs typeface="Arial" pitchFamily="34" charset="-120"/>
              </a:rPr>
              <a:t>mHC: 为 Transformer 架构演进指明方向</a:t>
            </a:r>
            <a:endParaRPr lang="en-US" sz="1200" dirty="0"/>
          </a:p>
        </p:txBody>
      </p:sp>
      <p:sp>
        <p:nvSpPr>
          <p:cNvPr id="5" name="Text 3"/>
          <p:cNvSpPr/>
          <p:nvPr/>
        </p:nvSpPr>
        <p:spPr>
          <a:xfrm>
            <a:off x="507950" y="1282452"/>
            <a:ext cx="1974800" cy="1534418"/>
          </a:xfrm>
          <a:prstGeom prst="roundRect">
            <a:avLst>
              <a:gd name="adj" fmla="val 4966"/>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6" name="Text 4"/>
          <p:cNvSpPr/>
          <p:nvPr/>
        </p:nvSpPr>
        <p:spPr>
          <a:xfrm>
            <a:off x="653366" y="1672828"/>
            <a:ext cx="1683969" cy="333375"/>
          </a:xfrm>
          <a:prstGeom prst="rect">
            <a:avLst/>
          </a:prstGeom>
          <a:noFill/>
          <a:ln/>
        </p:spPr>
        <p:txBody>
          <a:bodyPr wrap="square" lIns="0" tIns="0" rIns="0" bIns="0" rtlCol="0" anchor="t"/>
          <a:lstStyle/>
          <a:p>
            <a:pPr algn="ctr" indent="0" marL="0">
              <a:spcBef>
                <a:spcPts val="2000"/>
              </a:spcBef>
              <a:spcAft>
                <a:spcPts val="400"/>
              </a:spcAft>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653366" y="2120503"/>
            <a:ext cx="1683969" cy="445591"/>
          </a:xfrm>
          <a:prstGeom prst="rect">
            <a:avLst/>
          </a:prstGeom>
          <a:noFill/>
          <a:ln/>
        </p:spPr>
        <p:txBody>
          <a:bodyPr wrap="square" lIns="0" tIns="0" rIns="0" bIns="0" rtlCol="0" anchor="t"/>
          <a:lstStyle/>
          <a:p>
            <a:pPr algn="ctr" indent="0" marL="0">
              <a:lnSpc>
                <a:spcPts val="1170"/>
              </a:lnSpc>
              <a:spcBef>
                <a:spcPts val="900"/>
              </a:spcBef>
              <a:spcAft>
                <a:spcPts val="900"/>
              </a:spcAft>
              <a:buNone/>
            </a:pPr>
            <a:r>
              <a:rPr lang="en-US" sz="900" b="1" dirty="0">
                <a:solidFill>
                  <a:srgbClr val="CCCCCC"/>
                </a:solidFill>
                <a:latin typeface="Arial" pitchFamily="34" charset="0"/>
                <a:ea typeface="Arial" pitchFamily="34" charset="-122"/>
                <a:cs typeface="Arial" pitchFamily="34" charset="-120"/>
              </a:rPr>
              <a:t>十年接力</a:t>
            </a:r>
            <a:pPr algn="ctr" indent="0" marL="0">
              <a:lnSpc>
                <a:spcPts val="1170"/>
              </a:lnSpc>
              <a:spcBef>
                <a:spcPts val="900"/>
              </a:spcBef>
              <a:spcAft>
                <a:spcPts val="900"/>
              </a:spcAft>
              <a:buNone/>
            </a:pP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从 ResNet 到 mHC</a:t>
            </a: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残差连接的改进</a:t>
            </a:r>
            <a:endParaRPr lang="en-US" sz="900" dirty="0"/>
          </a:p>
        </p:txBody>
      </p:sp>
      <p:sp>
        <p:nvSpPr>
          <p:cNvPr id="8" name="Text 6"/>
          <p:cNvSpPr/>
          <p:nvPr/>
        </p:nvSpPr>
        <p:spPr>
          <a:xfrm>
            <a:off x="2609701" y="1282452"/>
            <a:ext cx="1974800" cy="1534418"/>
          </a:xfrm>
          <a:prstGeom prst="roundRect">
            <a:avLst>
              <a:gd name="adj" fmla="val 4966"/>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9" name="Text 7"/>
          <p:cNvSpPr/>
          <p:nvPr/>
        </p:nvSpPr>
        <p:spPr>
          <a:xfrm>
            <a:off x="2755117" y="1672828"/>
            <a:ext cx="1683969" cy="333375"/>
          </a:xfrm>
          <a:prstGeom prst="rect">
            <a:avLst/>
          </a:prstGeom>
          <a:noFill/>
          <a:ln/>
        </p:spPr>
        <p:txBody>
          <a:bodyPr wrap="square" lIns="0" tIns="0" rIns="0" bIns="0" rtlCol="0" anchor="t"/>
          <a:lstStyle/>
          <a:p>
            <a:pPr algn="ctr" indent="0" marL="0">
              <a:spcBef>
                <a:spcPts val="2000"/>
              </a:spcBef>
              <a:spcAft>
                <a:spcPts val="400"/>
              </a:spcAft>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0" name="Text 8"/>
          <p:cNvSpPr/>
          <p:nvPr/>
        </p:nvSpPr>
        <p:spPr>
          <a:xfrm>
            <a:off x="2755117" y="2120503"/>
            <a:ext cx="1683969" cy="445591"/>
          </a:xfrm>
          <a:prstGeom prst="rect">
            <a:avLst/>
          </a:prstGeom>
          <a:noFill/>
          <a:ln/>
        </p:spPr>
        <p:txBody>
          <a:bodyPr wrap="square" lIns="0" tIns="0" rIns="0" bIns="0" rtlCol="0" anchor="t"/>
          <a:lstStyle/>
          <a:p>
            <a:pPr algn="ctr" indent="0" marL="0">
              <a:lnSpc>
                <a:spcPts val="1170"/>
              </a:lnSpc>
              <a:spcBef>
                <a:spcPts val="900"/>
              </a:spcBef>
              <a:spcAft>
                <a:spcPts val="900"/>
              </a:spcAft>
              <a:buNone/>
            </a:pPr>
            <a:r>
              <a:rPr lang="en-US" sz="900" b="1" dirty="0">
                <a:solidFill>
                  <a:srgbClr val="CCCCCC"/>
                </a:solidFill>
                <a:latin typeface="Arial" pitchFamily="34" charset="0"/>
                <a:ea typeface="Arial" pitchFamily="34" charset="-122"/>
                <a:cs typeface="Arial" pitchFamily="34" charset="-120"/>
              </a:rPr>
              <a:t>数学优雅</a:t>
            </a:r>
            <a:pPr algn="ctr" indent="0" marL="0">
              <a:lnSpc>
                <a:spcPts val="1170"/>
              </a:lnSpc>
              <a:spcBef>
                <a:spcPts val="900"/>
              </a:spcBef>
              <a:spcAft>
                <a:spcPts val="900"/>
              </a:spcAft>
              <a:buNone/>
            </a:pP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双随机矩阵约束</a:t>
            </a: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原则性解决方案</a:t>
            </a:r>
            <a:endParaRPr lang="en-US" sz="900" dirty="0"/>
          </a:p>
        </p:txBody>
      </p:sp>
      <p:sp>
        <p:nvSpPr>
          <p:cNvPr id="11" name="Text 9"/>
          <p:cNvSpPr/>
          <p:nvPr/>
        </p:nvSpPr>
        <p:spPr>
          <a:xfrm>
            <a:off x="4711452" y="1282452"/>
            <a:ext cx="1974800" cy="1534418"/>
          </a:xfrm>
          <a:prstGeom prst="roundRect">
            <a:avLst>
              <a:gd name="adj" fmla="val 4966"/>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12" name="Text 10"/>
          <p:cNvSpPr/>
          <p:nvPr/>
        </p:nvSpPr>
        <p:spPr>
          <a:xfrm>
            <a:off x="4856867" y="1672828"/>
            <a:ext cx="1683969" cy="333375"/>
          </a:xfrm>
          <a:prstGeom prst="rect">
            <a:avLst/>
          </a:prstGeom>
          <a:noFill/>
          <a:ln/>
        </p:spPr>
        <p:txBody>
          <a:bodyPr wrap="square" lIns="0" tIns="0" rIns="0" bIns="0" rtlCol="0" anchor="t"/>
          <a:lstStyle/>
          <a:p>
            <a:pPr algn="ctr" indent="0" marL="0">
              <a:spcBef>
                <a:spcPts val="2000"/>
              </a:spcBef>
              <a:spcAft>
                <a:spcPts val="400"/>
              </a:spcAft>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3" name="Text 11"/>
          <p:cNvSpPr/>
          <p:nvPr/>
        </p:nvSpPr>
        <p:spPr>
          <a:xfrm>
            <a:off x="4856867" y="2120503"/>
            <a:ext cx="1683969" cy="445591"/>
          </a:xfrm>
          <a:prstGeom prst="rect">
            <a:avLst/>
          </a:prstGeom>
          <a:noFill/>
          <a:ln/>
        </p:spPr>
        <p:txBody>
          <a:bodyPr wrap="square" lIns="0" tIns="0" rIns="0" bIns="0" rtlCol="0" anchor="t"/>
          <a:lstStyle/>
          <a:p>
            <a:pPr algn="ctr" indent="0" marL="0">
              <a:lnSpc>
                <a:spcPts val="1170"/>
              </a:lnSpc>
              <a:spcBef>
                <a:spcPts val="900"/>
              </a:spcBef>
              <a:spcAft>
                <a:spcPts val="900"/>
              </a:spcAft>
              <a:buNone/>
            </a:pPr>
            <a:r>
              <a:rPr lang="en-US" sz="900" b="1" dirty="0">
                <a:solidFill>
                  <a:srgbClr val="CCCCCC"/>
                </a:solidFill>
                <a:latin typeface="Arial" pitchFamily="34" charset="0"/>
                <a:ea typeface="Arial" pitchFamily="34" charset="-122"/>
                <a:cs typeface="Arial" pitchFamily="34" charset="-120"/>
              </a:rPr>
              <a:t>工程硬核</a:t>
            </a:r>
            <a:pPr algn="ctr" indent="0" marL="0">
              <a:lnSpc>
                <a:spcPts val="1170"/>
              </a:lnSpc>
              <a:spcBef>
                <a:spcPts val="900"/>
              </a:spcBef>
              <a:spcAft>
                <a:spcPts val="900"/>
              </a:spcAft>
              <a:buNone/>
            </a:pP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底层优化能力</a:t>
            </a: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Frontier Lab 标志</a:t>
            </a:r>
            <a:endParaRPr lang="en-US" sz="900" dirty="0"/>
          </a:p>
        </p:txBody>
      </p:sp>
      <p:sp>
        <p:nvSpPr>
          <p:cNvPr id="14" name="Text 12"/>
          <p:cNvSpPr/>
          <p:nvPr/>
        </p:nvSpPr>
        <p:spPr>
          <a:xfrm>
            <a:off x="6813203" y="1282452"/>
            <a:ext cx="1974800" cy="1534418"/>
          </a:xfrm>
          <a:prstGeom prst="roundRect">
            <a:avLst>
              <a:gd name="adj" fmla="val 4966"/>
            </a:avLst>
          </a:prstGeom>
          <a:solidFill>
            <a:srgbClr val="FFFFFF">
              <a:alpha val="5000"/>
            </a:srgbClr>
          </a:solidFill>
          <a:ln w="9525">
            <a:solidFill>
              <a:srgbClr val="444444"/>
            </a:solidFill>
          </a:ln>
        </p:spPr>
        <p:txBody>
          <a:bodyPr wrap="square" rtlCol="0" anchor="ctr"/>
          <a:lstStyle/>
          <a:p>
            <a:pPr indent="0" marL="0">
              <a:buNone/>
            </a:pPr>
            <a:endParaRPr lang="en-US" dirty="0"/>
          </a:p>
        </p:txBody>
      </p:sp>
      <p:sp>
        <p:nvSpPr>
          <p:cNvPr id="15" name="Text 13"/>
          <p:cNvSpPr/>
          <p:nvPr/>
        </p:nvSpPr>
        <p:spPr>
          <a:xfrm>
            <a:off x="6958618" y="1672828"/>
            <a:ext cx="1683969" cy="333375"/>
          </a:xfrm>
          <a:prstGeom prst="rect">
            <a:avLst/>
          </a:prstGeom>
          <a:noFill/>
          <a:ln/>
        </p:spPr>
        <p:txBody>
          <a:bodyPr wrap="square" lIns="0" tIns="0" rIns="0" bIns="0" rtlCol="0" anchor="t"/>
          <a:lstStyle/>
          <a:p>
            <a:pPr algn="ctr" indent="0" marL="0">
              <a:spcBef>
                <a:spcPts val="2000"/>
              </a:spcBef>
              <a:spcAft>
                <a:spcPts val="400"/>
              </a:spcAft>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6" name="Text 14"/>
          <p:cNvSpPr/>
          <p:nvPr/>
        </p:nvSpPr>
        <p:spPr>
          <a:xfrm>
            <a:off x="6958618" y="2120503"/>
            <a:ext cx="1683969" cy="445591"/>
          </a:xfrm>
          <a:prstGeom prst="rect">
            <a:avLst/>
          </a:prstGeom>
          <a:noFill/>
          <a:ln/>
        </p:spPr>
        <p:txBody>
          <a:bodyPr wrap="square" lIns="0" tIns="0" rIns="0" bIns="0" rtlCol="0" anchor="t"/>
          <a:lstStyle/>
          <a:p>
            <a:pPr algn="ctr" indent="0" marL="0">
              <a:lnSpc>
                <a:spcPts val="1170"/>
              </a:lnSpc>
              <a:spcBef>
                <a:spcPts val="900"/>
              </a:spcBef>
              <a:spcAft>
                <a:spcPts val="900"/>
              </a:spcAft>
              <a:buNone/>
            </a:pPr>
            <a:r>
              <a:rPr lang="en-US" sz="900" b="1" dirty="0">
                <a:solidFill>
                  <a:srgbClr val="CCCCCC"/>
                </a:solidFill>
                <a:latin typeface="Arial" pitchFamily="34" charset="0"/>
                <a:ea typeface="Arial" pitchFamily="34" charset="-122"/>
                <a:cs typeface="Arial" pitchFamily="34" charset="-120"/>
              </a:rPr>
              <a:t>独立验证</a:t>
            </a:r>
            <a:pPr algn="ctr" indent="0" marL="0">
              <a:lnSpc>
                <a:spcPts val="1170"/>
              </a:lnSpc>
              <a:spcBef>
                <a:spcPts val="900"/>
              </a:spcBef>
              <a:spcAft>
                <a:spcPts val="900"/>
              </a:spcAft>
              <a:buNone/>
            </a:pP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复现结果震撼</a:t>
            </a:r>
            <a:endParaRPr lang="en-US" sz="900" dirty="0"/>
          </a:p>
          <a:p>
            <a:pPr algn="ctr" indent="0" marL="0">
              <a:lnSpc>
                <a:spcPts val="1170"/>
              </a:lnSpc>
              <a:spcBef>
                <a:spcPts val="900"/>
              </a:spcBef>
              <a:spcAft>
                <a:spcPts val="900"/>
              </a:spcAft>
              <a:buNone/>
            </a:pPr>
            <a:r>
              <a:rPr lang="en-US" sz="900" dirty="0">
                <a:solidFill>
                  <a:srgbClr val="CCCCCC"/>
                </a:solidFill>
                <a:latin typeface="Arial" pitchFamily="34" charset="0"/>
                <a:ea typeface="Arial" pitchFamily="34" charset="-122"/>
                <a:cs typeface="Arial" pitchFamily="34" charset="-120"/>
              </a:rPr>
              <a:t>10924× 放大</a:t>
            </a:r>
            <a:endParaRPr lang="en-US" sz="900" dirty="0"/>
          </a:p>
        </p:txBody>
      </p:sp>
      <p:sp>
        <p:nvSpPr>
          <p:cNvPr id="17" name="Text 15"/>
          <p:cNvSpPr/>
          <p:nvPr/>
        </p:nvSpPr>
        <p:spPr>
          <a:xfrm>
            <a:off x="1155502" y="2943820"/>
            <a:ext cx="6984950" cy="728663"/>
          </a:xfrm>
          <a:prstGeom prst="roundRect">
            <a:avLst>
              <a:gd name="adj" fmla="val 10458"/>
            </a:avLst>
          </a:prstGeom>
          <a:solidFill>
            <a:srgbClr val="40695B"/>
          </a:solidFill>
          <a:ln/>
        </p:spPr>
        <p:txBody>
          <a:bodyPr wrap="square" rtlCol="0" anchor="ctr"/>
          <a:lstStyle/>
          <a:p>
            <a:pPr indent="0" marL="0">
              <a:buNone/>
            </a:pPr>
            <a:endParaRPr lang="en-US" dirty="0"/>
          </a:p>
        </p:txBody>
      </p:sp>
      <p:sp>
        <p:nvSpPr>
          <p:cNvPr id="18" name="Text 16"/>
          <p:cNvSpPr/>
          <p:nvPr/>
        </p:nvSpPr>
        <p:spPr>
          <a:xfrm>
            <a:off x="1279962" y="3210371"/>
            <a:ext cx="6736029" cy="195560"/>
          </a:xfrm>
          <a:prstGeom prst="rect">
            <a:avLst/>
          </a:prstGeom>
          <a:noFill/>
          <a:ln/>
        </p:spPr>
        <p:txBody>
          <a:bodyPr wrap="square" lIns="0" tIns="0" rIns="0" bIns="0" rtlCol="0" anchor="t"/>
          <a:lstStyle/>
          <a:p>
            <a:pPr algn="ctr" indent="0" marL="0">
              <a:lnSpc>
                <a:spcPts val="1540"/>
              </a:lnSpc>
              <a:spcBef>
                <a:spcPts val="1100"/>
              </a:spcBef>
              <a:spcAft>
                <a:spcPts val="1100"/>
              </a:spcAft>
              <a:buNone/>
            </a:pPr>
            <a:r>
              <a:rPr lang="en-US" sz="1100" i="1" dirty="0">
                <a:solidFill>
                  <a:srgbClr val="FFFFFF"/>
                </a:solidFill>
                <a:latin typeface="Arial" pitchFamily="34" charset="0"/>
                <a:ea typeface="Arial" pitchFamily="34" charset="-122"/>
                <a:cs typeface="Arial" pitchFamily="34" charset="-120"/>
              </a:rPr>
              <a:t>「接棒何恺明残差连接，稳固 AI 的'地基'。mHC 为基础模型的拓扑架构演进指明了方向。」</a:t>
            </a:r>
            <a:endParaRPr lang="en-US" sz="1100" dirty="0"/>
          </a:p>
        </p:txBody>
      </p:sp>
      <p:sp>
        <p:nvSpPr>
          <p:cNvPr id="19" name="Text 17"/>
          <p:cNvSpPr/>
          <p:nvPr/>
        </p:nvSpPr>
        <p:spPr>
          <a:xfrm>
            <a:off x="425150" y="3799433"/>
            <a:ext cx="8445654" cy="161925"/>
          </a:xfrm>
          <a:prstGeom prst="rect">
            <a:avLst/>
          </a:prstGeom>
          <a:noFill/>
          <a:ln/>
        </p:spPr>
        <p:txBody>
          <a:bodyPr wrap="square" lIns="0" tIns="0" rIns="0" bIns="0" rtlCol="0" anchor="t"/>
          <a:lstStyle/>
          <a:p>
            <a:pPr algn="ctr" indent="0" marL="0">
              <a:spcBef>
                <a:spcPts val="300"/>
              </a:spcBef>
              <a:spcAft>
                <a:spcPts val="300"/>
              </a:spcAft>
              <a:buNone/>
            </a:pPr>
            <a:r>
              <a:rPr lang="en-US" sz="900" dirty="0">
                <a:solidFill>
                  <a:srgbClr val="888888"/>
                </a:solidFill>
                <a:latin typeface="Arial" pitchFamily="34" charset="0"/>
                <a:ea typeface="Arial" pitchFamily="34" charset="-122"/>
                <a:cs typeface="Arial" pitchFamily="34" charset="-120"/>
              </a:rPr>
              <a:t>论文: </a:t>
            </a:r>
            <a:pPr algn="ctr" indent="0" marL="0">
              <a:spcBef>
                <a:spcPts val="300"/>
              </a:spcBef>
              <a:spcAft>
                <a:spcPts val="300"/>
              </a:spcAft>
              <a:buNone/>
            </a:pPr>
            <a:r>
              <a:rPr lang="en-US" sz="900" dirty="0">
                <a:solidFill>
                  <a:srgbClr val="B165FB"/>
                </a:solidFill>
                <a:latin typeface="Arial" pitchFamily="34" charset="0"/>
                <a:ea typeface="Arial" pitchFamily="34" charset="-122"/>
                <a:cs typeface="Arial" pitchFamily="34" charset="-120"/>
              </a:rPr>
              <a:t>arxiv.org/pdf/2512.24880</a:t>
            </a:r>
            <a:endParaRPr lang="en-US" sz="900" dirty="0"/>
          </a:p>
        </p:txBody>
      </p:sp>
      <p:sp>
        <p:nvSpPr>
          <p:cNvPr id="20" name="Text 18"/>
          <p:cNvSpPr/>
          <p:nvPr/>
        </p:nvSpPr>
        <p:spPr>
          <a:xfrm>
            <a:off x="3904357" y="4062859"/>
            <a:ext cx="1487239" cy="244376"/>
          </a:xfrm>
          <a:prstGeom prst="roundRect">
            <a:avLst>
              <a:gd name="adj" fmla="val 20788"/>
            </a:avLst>
          </a:prstGeom>
          <a:solidFill>
            <a:srgbClr val="B165FB"/>
          </a:solidFill>
          <a:ln/>
        </p:spPr>
        <p:txBody>
          <a:bodyPr wrap="square" rtlCol="0" anchor="ctr"/>
          <a:lstStyle/>
          <a:p>
            <a:pPr indent="0" marL="0">
              <a:buNone/>
            </a:pPr>
            <a:endParaRPr lang="en-US" dirty="0"/>
          </a:p>
        </p:txBody>
      </p:sp>
      <p:sp>
        <p:nvSpPr>
          <p:cNvPr id="21" name="Text 19"/>
          <p:cNvSpPr/>
          <p:nvPr/>
        </p:nvSpPr>
        <p:spPr>
          <a:xfrm>
            <a:off x="4044933" y="4113609"/>
            <a:ext cx="1206088" cy="142875"/>
          </a:xfrm>
          <a:prstGeom prst="rect">
            <a:avLst/>
          </a:prstGeom>
          <a:noFill/>
          <a:ln/>
        </p:spPr>
        <p:txBody>
          <a:bodyPr wrap="square" lIns="0" tIns="0" rIns="0" bIns="0" rtlCol="0" anchor="t"/>
          <a:lstStyle/>
          <a:p>
            <a:pPr algn="ctr" indent="0" marL="0">
              <a:buNone/>
            </a:pPr>
            <a:r>
              <a:rPr lang="en-US" sz="1000" dirty="0">
                <a:solidFill>
                  <a:srgbClr val="FFFFFF"/>
                </a:solidFill>
                <a:latin typeface="Arial" pitchFamily="34" charset="0"/>
                <a:ea typeface="Arial" pitchFamily="34" charset="-122"/>
                <a:cs typeface="Arial" pitchFamily="34" charset="-120"/>
              </a:rPr>
              <a:t>DeepSeek-AI ×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DeepSeek mHC: 流形约束超连接</dc:title>
  <dc:subject>PptxGenJS Presentation</dc:subject>
  <dc:creator>Generated with Claude Code</dc:creator>
  <cp:lastModifiedBy>Generated with Claude Code</cp:lastModifiedBy>
  <cp:revision>1</cp:revision>
  <dcterms:created xsi:type="dcterms:W3CDTF">2026-02-09T00:45:00Z</dcterms:created>
  <dcterms:modified xsi:type="dcterms:W3CDTF">2026-02-09T00:45:00Z</dcterms:modified>
</cp:coreProperties>
</file>